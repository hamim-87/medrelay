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MedRelay finds clinical follow-up obligations in notes, tracks them against real evidence of completion, and warns early about the ones likely to be missed. It matches the 'Real-Time AI for Critical Decisions' theme: streaming events in, risk and alerts out. Everything was built and executed on an IBM LinuxONE VM.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facts make follow-up tracking hard: obligations are in free text, they depend on each other, and documentation lags behind what actually happened. Naive tools treat 'no record' as 'failed'. In our injected test, 716 of 716 tasks that were done but undocumented were flagged overdue by the naive rule; MedRelay confirmed none and flagged them as unverified. Simulated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Extract, track, warn. The point judges should remember: the LLM only proposes evidence-grounded records; deterministic rules decide the state; absence of evidence is 'unverified', never 'failed'.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notes and the event stream enter the LinuxONE VM. The extractor proposes validated obligations; the event processor ingests events idempotently and keeps SQLite as the record of truth. The evidence graph derives states with deterministic rules; the risk model forecasts failure probability; the alert engine produces grounded text. Priority combines risk, urgency and unresolved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are synthetic or simulated, plus one real de-identified no-show dataset used as a secondary proof of concept. Key engineering decisions: strict event-time cutoffs, dense snapshot training, thresholds chosen on validation only, and patient-grouped bootstrap intervals. We state clearly that there are no human-reviewed gold labels.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was actually run on LinuxONE: the full pipeline on an s390x big-endian VM under z/VM, a native Python environment, llama.cpp compiled for the z vector facility, Granite GGUF models converted to big-endian, and a direct zDNN matrix-multiply test on the NNPA. We are explicit that tree models do not use NNPA. Throughput numbers come from a 2 vCPU VM and varied between runs.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measured results. The strongest finding is behavioural: the evidence-aware engine does not call undocumented work failed, and the graph model warns earlier (72 h median lead) with fewer false alerts than a deadline-only rule. We also show where we are not better: a simple 24-hour reminder matches the graph model on false alerts and has higher recall, and over the whole window a deadline-only rule matches the ML models. The graph model's advantage is lead time and early-window ranking.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story: a discharge note produces four obligations. The review task passes its deadline, so it first becomes 'censored', then 'overdue' once the tracker confirms it is still open. When the delayed acknowledgement is documented, the engine reconciles the state to completed, with the evidence id in the audit trail. Real output of the executed notebook; the events are scripted.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what we measured. Right: what we only anticipate, clearly separated. The social value is fewer missed follow-ups with fewer false alarms; the honest next step is validation on de-identified real records with clinician-reviewed labels.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achievements: no false failures from missing documentation, earlier warnings with fewer false alerts, and an end-to-end system on LinuxONE. Close on the limits: synthetic data, weak labels, simulated outcomes. The repository has the notebook, tests and instructions to reproduce everything.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2000" cy="6858000"/>
          </a:xfrm>
          <a:prstGeom prst="rect">
            <a:avLst/>
          </a:prstGeom>
          <a:gradFill rotWithShape="1">
            <a:gsLst>
              <a:gs pos="0">
                <a:srgbClr val="060B17"/>
              </a:gs>
              <a:gs pos="100000">
                <a:srgbClr val="0B2250"/>
              </a:gs>
            </a:gsLst>
            <a:lin scaled="0" ang="18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3000" y="635000"/>
            <a:ext cx="4572000" cy="4572000"/>
          </a:xfrm>
          <a:prstGeom prst="ellipse">
            <a:avLst/>
          </a:prstGeom>
          <a:noFill/>
          <a:ln w="10160">
            <a:solidFill>
              <a:srgbClr val="33B1FF">
                <a:alpha val="1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55000" y="1397000"/>
            <a:ext cx="3048000" cy="3048000"/>
          </a:xfrm>
          <a:prstGeom prst="ellipse">
            <a:avLst/>
          </a:prstGeom>
          <a:noFill/>
          <a:ln w="10160">
            <a:solidFill>
              <a:srgbClr val="4589FF">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8890000" y="1524000"/>
            <a:ext cx="1270000" cy="1016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160000" y="1397000"/>
            <a:ext cx="1016000" cy="1143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9652000" y="2540000"/>
            <a:ext cx="508000" cy="1270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652000" y="3810000"/>
            <a:ext cx="1270000" cy="381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922000" y="3048000"/>
            <a:ext cx="889000" cy="1143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160000" y="2540000"/>
            <a:ext cx="1651000" cy="508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8763000" y="3810000"/>
            <a:ext cx="889000" cy="1270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63000" y="5080000"/>
            <a:ext cx="1524000" cy="381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287000" y="5461000"/>
            <a:ext cx="1143000" cy="254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22000" y="4191000"/>
            <a:ext cx="508000" cy="1524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7747000" y="1524000"/>
            <a:ext cx="1143000" cy="1651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747000" y="3175000"/>
            <a:ext cx="1905000" cy="635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8128000" y="1143000"/>
            <a:ext cx="762000" cy="381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1176000" y="762000"/>
            <a:ext cx="635000" cy="635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430000" y="3048000"/>
            <a:ext cx="381000" cy="2667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0287000" y="4191000"/>
            <a:ext cx="635000" cy="1270000"/>
          </a:xfrm>
          <a:prstGeom prst="line">
            <a:avLst/>
          </a:prstGeom>
          <a:ln w="13970">
            <a:solidFill>
              <a:srgbClr val="33B1FF">
                <a:alpha val="38000"/>
              </a:srgbClr>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750300" y="1384300"/>
            <a:ext cx="279400" cy="279400"/>
          </a:xfrm>
          <a:prstGeom prst="ellipse">
            <a:avLst/>
          </a:prstGeom>
          <a:solidFill>
            <a:srgbClr val="33B1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820150" y="1454150"/>
            <a:ext cx="139700" cy="139700"/>
          </a:xfrm>
          <a:prstGeom prst="ellipse">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20300" y="2400300"/>
            <a:ext cx="279400" cy="279400"/>
          </a:xfrm>
          <a:prstGeom prst="ellipse">
            <a:avLst/>
          </a:prstGeom>
          <a:solidFill>
            <a:srgbClr val="0F62FE">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90150" y="2470150"/>
            <a:ext cx="139700" cy="13970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036300" y="1257300"/>
            <a:ext cx="279400" cy="279400"/>
          </a:xfrm>
          <a:prstGeom prst="ellipse">
            <a:avLst/>
          </a:prstGeom>
          <a:solidFill>
            <a:srgbClr val="42BE6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106150" y="1327150"/>
            <a:ext cx="139700" cy="139700"/>
          </a:xfrm>
          <a:prstGeom prst="ellipse">
            <a:avLst/>
          </a:prstGeom>
          <a:solidFill>
            <a:srgbClr val="42BE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12300" y="3670300"/>
            <a:ext cx="279400" cy="279400"/>
          </a:xfrm>
          <a:prstGeom prst="ellipse">
            <a:avLst/>
          </a:prstGeom>
          <a:solidFill>
            <a:srgbClr val="4589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82150" y="3740150"/>
            <a:ext cx="139700" cy="139700"/>
          </a:xfrm>
          <a:prstGeom prst="ellipse">
            <a:avLst/>
          </a:prstGeom>
          <a:solidFill>
            <a:srgbClr val="458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782300" y="4051300"/>
            <a:ext cx="279400" cy="279400"/>
          </a:xfrm>
          <a:prstGeom prst="ellipse">
            <a:avLst/>
          </a:prstGeom>
          <a:solidFill>
            <a:srgbClr val="33B1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852150" y="4121150"/>
            <a:ext cx="139700" cy="139700"/>
          </a:xfrm>
          <a:prstGeom prst="ellipse">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671300" y="2908300"/>
            <a:ext cx="279400" cy="279400"/>
          </a:xfrm>
          <a:prstGeom prst="ellipse">
            <a:avLst/>
          </a:prstGeom>
          <a:solidFill>
            <a:srgbClr val="F1C21B">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741150" y="2978150"/>
            <a:ext cx="139700" cy="139700"/>
          </a:xfrm>
          <a:prstGeom prst="ellipse">
            <a:avLst/>
          </a:prstGeom>
          <a:solidFill>
            <a:srgbClr val="F1C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623300" y="4940300"/>
            <a:ext cx="279400" cy="279400"/>
          </a:xfrm>
          <a:prstGeom prst="ellipse">
            <a:avLst/>
          </a:prstGeom>
          <a:solidFill>
            <a:srgbClr val="0F62FE">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693150" y="5010150"/>
            <a:ext cx="139700" cy="13970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47300" y="5321300"/>
            <a:ext cx="279400" cy="279400"/>
          </a:xfrm>
          <a:prstGeom prst="ellipse">
            <a:avLst/>
          </a:prstGeom>
          <a:solidFill>
            <a:srgbClr val="33B1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17150" y="5391150"/>
            <a:ext cx="139700" cy="139700"/>
          </a:xfrm>
          <a:prstGeom prst="ellipse">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290300" y="5575300"/>
            <a:ext cx="279400" cy="279400"/>
          </a:xfrm>
          <a:prstGeom prst="ellipse">
            <a:avLst/>
          </a:prstGeom>
          <a:solidFill>
            <a:srgbClr val="42BE65">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360150" y="5645150"/>
            <a:ext cx="139700" cy="139700"/>
          </a:xfrm>
          <a:prstGeom prst="ellipse">
            <a:avLst/>
          </a:prstGeom>
          <a:solidFill>
            <a:srgbClr val="42BE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607300" y="3035300"/>
            <a:ext cx="279400" cy="279400"/>
          </a:xfrm>
          <a:prstGeom prst="ellipse">
            <a:avLst/>
          </a:prstGeom>
          <a:solidFill>
            <a:srgbClr val="4589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677150" y="3105150"/>
            <a:ext cx="139700" cy="139700"/>
          </a:xfrm>
          <a:prstGeom prst="ellipse">
            <a:avLst/>
          </a:prstGeom>
          <a:solidFill>
            <a:srgbClr val="458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988300" y="1003300"/>
            <a:ext cx="279400" cy="279400"/>
          </a:xfrm>
          <a:prstGeom prst="ellipse">
            <a:avLst/>
          </a:prstGeom>
          <a:solidFill>
            <a:srgbClr val="0F62FE">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058150" y="1073150"/>
            <a:ext cx="139700" cy="13970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671300" y="622300"/>
            <a:ext cx="279400" cy="279400"/>
          </a:xfrm>
          <a:prstGeom prst="ellipse">
            <a:avLst/>
          </a:prstGeom>
          <a:solidFill>
            <a:srgbClr val="33B1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741150" y="692150"/>
            <a:ext cx="139700" cy="139700"/>
          </a:xfrm>
          <a:prstGeom prst="ellipse">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62000" y="660400"/>
            <a:ext cx="50800" cy="2032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647700"/>
            <a:ext cx="6375400" cy="254000"/>
          </a:xfrm>
          <a:prstGeom prst="rect">
            <a:avLst/>
          </a:prstGeom>
          <a:noFill/>
        </p:spPr>
        <p:txBody>
          <a:bodyPr wrap="square" lIns="0" rIns="0" tIns="0" bIns="0" anchor="t">
            <a:spAutoFit/>
          </a:bodyPr>
          <a:lstStyle/>
          <a:p>
            <a:pPr algn="l">
              <a:lnSpc>
                <a:spcPts val="1707"/>
              </a:lnSpc>
            </a:pPr>
            <a:r>
              <a:rPr sz="1400" b="1">
                <a:solidFill>
                  <a:srgbClr val="33B1FF"/>
                </a:solidFill>
                <a:latin typeface="Arial"/>
              </a:rPr>
              <a:t>IBM Z DATATHON 2026</a:t>
            </a:r>
          </a:p>
        </p:txBody>
      </p:sp>
      <p:sp>
        <p:nvSpPr>
          <p:cNvPr id="47" name="TextBox 46"/>
          <p:cNvSpPr txBox="1"/>
          <p:nvPr/>
        </p:nvSpPr>
        <p:spPr>
          <a:xfrm>
            <a:off x="914400" y="914400"/>
            <a:ext cx="6629400" cy="228600"/>
          </a:xfrm>
          <a:prstGeom prst="rect">
            <a:avLst/>
          </a:prstGeom>
          <a:noFill/>
        </p:spPr>
        <p:txBody>
          <a:bodyPr wrap="square" lIns="0" rIns="0" tIns="0" bIns="0" anchor="t">
            <a:spAutoFit/>
          </a:bodyPr>
          <a:lstStyle/>
          <a:p>
            <a:pPr algn="l">
              <a:lnSpc>
                <a:spcPts val="1342"/>
              </a:lnSpc>
            </a:pPr>
            <a:r>
              <a:rPr sz="1100" b="0">
                <a:solidFill>
                  <a:srgbClr val="B4C2DE"/>
                </a:solidFill>
                <a:latin typeface="Arial"/>
              </a:rPr>
              <a:t>Theme: Real-Time AI for Critical Decisions  |  Detect. Decide. Respond.</a:t>
            </a:r>
          </a:p>
        </p:txBody>
      </p:sp>
      <p:sp>
        <p:nvSpPr>
          <p:cNvPr id="48" name="TextBox 47"/>
          <p:cNvSpPr txBox="1"/>
          <p:nvPr/>
        </p:nvSpPr>
        <p:spPr>
          <a:xfrm>
            <a:off x="762000" y="1625600"/>
            <a:ext cx="7137400" cy="1270000"/>
          </a:xfrm>
          <a:prstGeom prst="rect">
            <a:avLst/>
          </a:prstGeom>
          <a:noFill/>
        </p:spPr>
        <p:txBody>
          <a:bodyPr wrap="square" lIns="0" rIns="0" tIns="0" bIns="0" anchor="t">
            <a:spAutoFit/>
          </a:bodyPr>
          <a:lstStyle/>
          <a:p>
            <a:pPr algn="l">
              <a:lnSpc>
                <a:spcPts val="9240"/>
              </a:lnSpc>
            </a:pPr>
            <a:r>
              <a:rPr sz="8800" b="1">
                <a:solidFill>
                  <a:srgbClr val="FFFFFF"/>
                </a:solidFill>
                <a:latin typeface="Arial"/>
              </a:rPr>
              <a:t>MedRelay</a:t>
            </a:r>
          </a:p>
        </p:txBody>
      </p:sp>
      <p:sp>
        <p:nvSpPr>
          <p:cNvPr id="49" name="TextBox 48"/>
          <p:cNvSpPr txBox="1"/>
          <p:nvPr/>
        </p:nvSpPr>
        <p:spPr>
          <a:xfrm>
            <a:off x="762000" y="3022600"/>
            <a:ext cx="6883400" cy="1066800"/>
          </a:xfrm>
          <a:prstGeom prst="rect">
            <a:avLst/>
          </a:prstGeom>
          <a:noFill/>
        </p:spPr>
        <p:txBody>
          <a:bodyPr wrap="square" lIns="0" rIns="0" tIns="0" bIns="0" anchor="t">
            <a:spAutoFit/>
          </a:bodyPr>
          <a:lstStyle/>
          <a:p>
            <a:pPr algn="l">
              <a:lnSpc>
                <a:spcPts val="3000"/>
              </a:lnSpc>
            </a:pPr>
            <a:r>
              <a:rPr sz="2500" b="1">
                <a:solidFill>
                  <a:srgbClr val="DCE8FF"/>
                </a:solidFill>
                <a:latin typeface="Arial"/>
              </a:rPr>
              <a:t>Catching the clinical follow-ups that fall through the cracks, as events unfold.</a:t>
            </a:r>
          </a:p>
        </p:txBody>
      </p:sp>
      <p:sp>
        <p:nvSpPr>
          <p:cNvPr id="50" name="TextBox 49"/>
          <p:cNvSpPr txBox="1"/>
          <p:nvPr/>
        </p:nvSpPr>
        <p:spPr>
          <a:xfrm>
            <a:off x="762000" y="4216400"/>
            <a:ext cx="6629400" cy="609600"/>
          </a:xfrm>
          <a:prstGeom prst="rect">
            <a:avLst/>
          </a:prstGeom>
          <a:noFill/>
        </p:spPr>
        <p:txBody>
          <a:bodyPr wrap="square" lIns="0" rIns="0" tIns="0" bIns="0" anchor="t">
            <a:spAutoFit/>
          </a:bodyPr>
          <a:lstStyle/>
          <a:p>
            <a:pPr algn="l">
              <a:lnSpc>
                <a:spcPts val="1820"/>
              </a:lnSpc>
            </a:pPr>
            <a:r>
              <a:rPr sz="1400" b="0">
                <a:solidFill>
                  <a:srgbClr val="B4C2DE"/>
                </a:solidFill>
                <a:latin typeface="Arial"/>
              </a:rPr>
              <a:t>Evidence-aware tracking of follow-up obligations: a local LLM, a temporal evidence graph and calibrated ML, running end to end on IBM LinuxONE.</a:t>
            </a:r>
          </a:p>
        </p:txBody>
      </p:sp>
      <p:sp>
        <p:nvSpPr>
          <p:cNvPr id="51" name="Rounded Rectangle 50"/>
          <p:cNvSpPr/>
          <p:nvPr/>
        </p:nvSpPr>
        <p:spPr>
          <a:xfrm>
            <a:off x="762000" y="4927600"/>
            <a:ext cx="1524000" cy="279400"/>
          </a:xfrm>
          <a:prstGeom prst="roundRect">
            <a:avLst>
              <a:gd name="adj" fmla="val 50000"/>
            </a:avLst>
          </a:prstGeom>
          <a:solidFill>
            <a:srgbClr val="33B1FF">
              <a:alpha val="14000"/>
            </a:srgbClr>
          </a:solidFill>
          <a:ln w="10160">
            <a:solidFill>
              <a:srgbClr val="33B1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2000" y="4984750"/>
            <a:ext cx="1549400" cy="165100"/>
          </a:xfrm>
          <a:prstGeom prst="rect">
            <a:avLst/>
          </a:prstGeom>
          <a:noFill/>
        </p:spPr>
        <p:txBody>
          <a:bodyPr wrap="square" lIns="0" rIns="0" tIns="0" bIns="0" anchor="t">
            <a:spAutoFit/>
          </a:bodyPr>
          <a:lstStyle/>
          <a:p>
            <a:pPr algn="ctr">
              <a:lnSpc>
                <a:spcPts val="1220"/>
              </a:lnSpc>
            </a:pPr>
            <a:r>
              <a:rPr sz="1000" b="1">
                <a:solidFill>
                  <a:srgbClr val="33B1FF"/>
                </a:solidFill>
                <a:latin typeface="Arial"/>
              </a:rPr>
              <a:t>s390x big-endian</a:t>
            </a:r>
          </a:p>
        </p:txBody>
      </p:sp>
      <p:sp>
        <p:nvSpPr>
          <p:cNvPr id="53" name="Rounded Rectangle 52"/>
          <p:cNvSpPr/>
          <p:nvPr/>
        </p:nvSpPr>
        <p:spPr>
          <a:xfrm>
            <a:off x="2387600" y="4927600"/>
            <a:ext cx="1270000" cy="279400"/>
          </a:xfrm>
          <a:prstGeom prst="roundRect">
            <a:avLst>
              <a:gd name="adj" fmla="val 50000"/>
            </a:avLst>
          </a:prstGeom>
          <a:solidFill>
            <a:srgbClr val="33B1FF">
              <a:alpha val="14000"/>
            </a:srgbClr>
          </a:solidFill>
          <a:ln w="10160">
            <a:solidFill>
              <a:srgbClr val="33B1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387600" y="4984750"/>
            <a:ext cx="1295400" cy="165100"/>
          </a:xfrm>
          <a:prstGeom prst="rect">
            <a:avLst/>
          </a:prstGeom>
          <a:noFill/>
        </p:spPr>
        <p:txBody>
          <a:bodyPr wrap="square" lIns="0" rIns="0" tIns="0" bIns="0" anchor="t">
            <a:spAutoFit/>
          </a:bodyPr>
          <a:lstStyle/>
          <a:p>
            <a:pPr algn="ctr">
              <a:lnSpc>
                <a:spcPts val="1220"/>
              </a:lnSpc>
            </a:pPr>
            <a:r>
              <a:rPr sz="1000" b="1">
                <a:solidFill>
                  <a:srgbClr val="33B1FF"/>
                </a:solidFill>
                <a:latin typeface="Arial"/>
              </a:rPr>
              <a:t>z/VM 7.3</a:t>
            </a:r>
          </a:p>
        </p:txBody>
      </p:sp>
      <p:sp>
        <p:nvSpPr>
          <p:cNvPr id="55" name="Rounded Rectangle 54"/>
          <p:cNvSpPr/>
          <p:nvPr/>
        </p:nvSpPr>
        <p:spPr>
          <a:xfrm>
            <a:off x="3759200" y="4927600"/>
            <a:ext cx="1524000" cy="279400"/>
          </a:xfrm>
          <a:prstGeom prst="roundRect">
            <a:avLst>
              <a:gd name="adj" fmla="val 50000"/>
            </a:avLst>
          </a:prstGeom>
          <a:solidFill>
            <a:srgbClr val="42BE65">
              <a:alpha val="14000"/>
            </a:srgbClr>
          </a:solidFill>
          <a:ln w="10160">
            <a:solidFill>
              <a:srgbClr val="42BE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759200" y="4984750"/>
            <a:ext cx="1549400" cy="165100"/>
          </a:xfrm>
          <a:prstGeom prst="rect">
            <a:avLst/>
          </a:prstGeom>
          <a:noFill/>
        </p:spPr>
        <p:txBody>
          <a:bodyPr wrap="square" lIns="0" rIns="0" tIns="0" bIns="0" anchor="t">
            <a:spAutoFit/>
          </a:bodyPr>
          <a:lstStyle/>
          <a:p>
            <a:pPr algn="ctr">
              <a:lnSpc>
                <a:spcPts val="1220"/>
              </a:lnSpc>
            </a:pPr>
            <a:r>
              <a:rPr sz="1000" b="1">
                <a:solidFill>
                  <a:srgbClr val="42BE65"/>
                </a:solidFill>
                <a:latin typeface="Arial"/>
              </a:rPr>
              <a:t>NNPA verified</a:t>
            </a:r>
          </a:p>
        </p:txBody>
      </p:sp>
      <p:sp>
        <p:nvSpPr>
          <p:cNvPr id="57" name="Rounded Rectangle 56"/>
          <p:cNvSpPr/>
          <p:nvPr/>
        </p:nvSpPr>
        <p:spPr>
          <a:xfrm>
            <a:off x="5384800" y="4927600"/>
            <a:ext cx="1524000" cy="279400"/>
          </a:xfrm>
          <a:prstGeom prst="roundRect">
            <a:avLst>
              <a:gd name="adj" fmla="val 50000"/>
            </a:avLst>
          </a:prstGeom>
          <a:solidFill>
            <a:srgbClr val="4589FF">
              <a:alpha val="14000"/>
            </a:srgbClr>
          </a:solidFill>
          <a:ln w="10160">
            <a:solidFill>
              <a:srgbClr val="4589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84800" y="4984750"/>
            <a:ext cx="1549400" cy="165100"/>
          </a:xfrm>
          <a:prstGeom prst="rect">
            <a:avLst/>
          </a:prstGeom>
          <a:noFill/>
        </p:spPr>
        <p:txBody>
          <a:bodyPr wrap="square" lIns="0" rIns="0" tIns="0" bIns="0" anchor="t">
            <a:spAutoFit/>
          </a:bodyPr>
          <a:lstStyle/>
          <a:p>
            <a:pPr algn="ctr">
              <a:lnSpc>
                <a:spcPts val="1220"/>
              </a:lnSpc>
            </a:pPr>
            <a:r>
              <a:rPr sz="1000" b="1">
                <a:solidFill>
                  <a:srgbClr val="4589FF"/>
                </a:solidFill>
                <a:latin typeface="Arial"/>
              </a:rPr>
              <a:t>Granite on-box</a:t>
            </a:r>
          </a:p>
        </p:txBody>
      </p:sp>
      <p:sp>
        <p:nvSpPr>
          <p:cNvPr id="59" name="TextBox 58"/>
          <p:cNvSpPr txBox="1"/>
          <p:nvPr/>
        </p:nvSpPr>
        <p:spPr>
          <a:xfrm>
            <a:off x="762000" y="5435600"/>
            <a:ext cx="7137400" cy="254000"/>
          </a:xfrm>
          <a:prstGeom prst="rect">
            <a:avLst/>
          </a:prstGeom>
          <a:noFill/>
        </p:spPr>
        <p:txBody>
          <a:bodyPr wrap="square" lIns="0" rIns="0" tIns="0" bIns="0" anchor="t">
            <a:spAutoFit/>
          </a:bodyPr>
          <a:lstStyle/>
          <a:p>
            <a:pPr algn="l">
              <a:lnSpc>
                <a:spcPts val="1952"/>
              </a:lnSpc>
            </a:pPr>
            <a:r>
              <a:rPr sz="1600" b="1">
                <a:solidFill>
                  <a:srgbClr val="B4C2DE"/>
                </a:solidFill>
                <a:latin typeface="Arial"/>
              </a:rPr>
              <a:t>Team </a:t>
            </a:r>
            <a:r>
              <a:rPr sz="1600" b="1">
                <a:solidFill>
                  <a:srgbClr val="FFFFFF"/>
                </a:solidFill>
                <a:latin typeface="Arial"/>
              </a:rPr>
              <a:t>4ier</a:t>
            </a:r>
          </a:p>
        </p:txBody>
      </p:sp>
      <p:sp>
        <p:nvSpPr>
          <p:cNvPr id="60" name="TextBox 59"/>
          <p:cNvSpPr txBox="1"/>
          <p:nvPr/>
        </p:nvSpPr>
        <p:spPr>
          <a:xfrm>
            <a:off x="762000" y="5740400"/>
            <a:ext cx="8915400" cy="228600"/>
          </a:xfrm>
          <a:prstGeom prst="rect">
            <a:avLst/>
          </a:prstGeom>
          <a:noFill/>
        </p:spPr>
        <p:txBody>
          <a:bodyPr wrap="square" lIns="0" rIns="0" tIns="0" bIns="0" anchor="t">
            <a:spAutoFit/>
          </a:bodyPr>
          <a:lstStyle/>
          <a:p>
            <a:pPr algn="l">
              <a:lnSpc>
                <a:spcPts val="1403"/>
              </a:lnSpc>
            </a:pPr>
            <a:r>
              <a:rPr sz="1150" b="0">
                <a:solidFill>
                  <a:srgbClr val="B4C2DE"/>
                </a:solidFill>
                <a:latin typeface="Arial"/>
              </a:rPr>
              <a:t>Imdadul Hasan Hamim (Leader)  |  Dibbo Chowdhury  |  Md Junaid Ahmmad  |  Siam Ahamed  |  Al Shahriar Alif</a:t>
            </a:r>
          </a:p>
        </p:txBody>
      </p:sp>
      <p:sp>
        <p:nvSpPr>
          <p:cNvPr id="61" name="TextBox 60"/>
          <p:cNvSpPr txBox="1"/>
          <p:nvPr/>
        </p:nvSpPr>
        <p:spPr>
          <a:xfrm>
            <a:off x="762000" y="6045200"/>
            <a:ext cx="7137400" cy="203200"/>
          </a:xfrm>
          <a:prstGeom prst="rect">
            <a:avLst/>
          </a:prstGeom>
          <a:noFill/>
        </p:spPr>
        <p:txBody>
          <a:bodyPr wrap="square" lIns="0" rIns="0" tIns="0" bIns="0" anchor="t">
            <a:spAutoFit/>
          </a:bodyPr>
          <a:lstStyle/>
          <a:p>
            <a:pPr algn="l">
              <a:lnSpc>
                <a:spcPts val="1464"/>
              </a:lnSpc>
            </a:pPr>
            <a:r>
              <a:rPr sz="1200" b="0">
                <a:solidFill>
                  <a:srgbClr val="33B1FF"/>
                </a:solidFill>
                <a:latin typeface="Arial"/>
              </a:rPr>
              <a:t>github.com/hamim-87/MedRelay</a:t>
            </a:r>
          </a:p>
        </p:txBody>
      </p:sp>
      <p:sp>
        <p:nvSpPr>
          <p:cNvPr id="62" name="TextBox 61"/>
          <p:cNvSpPr txBox="1"/>
          <p:nvPr/>
        </p:nvSpPr>
        <p:spPr>
          <a:xfrm>
            <a:off x="762000" y="6299200"/>
            <a:ext cx="8915400" cy="177800"/>
          </a:xfrm>
          <a:prstGeom prst="rect">
            <a:avLst/>
          </a:prstGeom>
          <a:noFill/>
        </p:spPr>
        <p:txBody>
          <a:bodyPr wrap="square" lIns="0" rIns="0" tIns="0" bIns="0" anchor="t">
            <a:spAutoFit/>
          </a:bodyPr>
          <a:lstStyle/>
          <a:p>
            <a:pPr algn="l">
              <a:lnSpc>
                <a:spcPts val="1220"/>
              </a:lnSpc>
            </a:pPr>
            <a:r>
              <a:rPr sz="1000" b="0">
                <a:solidFill>
                  <a:srgbClr val="7C8FB5"/>
                </a:solidFill>
                <a:latin typeface="Arial"/>
              </a:rPr>
              <a:t>Prototype on synthetic data. Alerts are decision support for qualified human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2000" cy="6858000"/>
          </a:xfrm>
          <a:prstGeom prst="rect">
            <a:avLst/>
          </a:prstGeom>
          <a:gradFill rotWithShape="1">
            <a:gsLst>
              <a:gs pos="0">
                <a:srgbClr val="060B17"/>
              </a:gs>
              <a:gs pos="100000">
                <a:srgbClr val="0E1C3A"/>
              </a:gs>
            </a:gsLst>
            <a:lin scaled="0" ang="18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71000" y="76200"/>
            <a:ext cx="2540000" cy="2540000"/>
          </a:xfrm>
          <a:prstGeom prst="ellipse">
            <a:avLst/>
          </a:prstGeom>
          <a:solidFill>
            <a:srgbClr val="0F62FE">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33000" y="457200"/>
            <a:ext cx="1397000" cy="1397000"/>
          </a:xfrm>
          <a:prstGeom prst="ellipse">
            <a:avLst/>
          </a:prstGeom>
          <a:solidFill>
            <a:srgbClr val="33B1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393700"/>
            <a:ext cx="50800" cy="1651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368300"/>
            <a:ext cx="6375400" cy="228600"/>
          </a:xfrm>
          <a:prstGeom prst="rect">
            <a:avLst/>
          </a:prstGeom>
          <a:noFill/>
        </p:spPr>
        <p:txBody>
          <a:bodyPr wrap="square" lIns="0" rIns="0" tIns="0" bIns="0" anchor="t">
            <a:spAutoFit/>
          </a:bodyPr>
          <a:lstStyle/>
          <a:p>
            <a:pPr algn="l">
              <a:lnSpc>
                <a:spcPts val="1403"/>
              </a:lnSpc>
            </a:pPr>
            <a:r>
              <a:rPr sz="1150" b="1">
                <a:solidFill>
                  <a:srgbClr val="33B1FF"/>
                </a:solidFill>
                <a:latin typeface="Arial"/>
              </a:rPr>
              <a:t>THE PROBLEM</a:t>
            </a:r>
          </a:p>
        </p:txBody>
      </p:sp>
      <p:sp>
        <p:nvSpPr>
          <p:cNvPr id="7" name="TextBox 6"/>
          <p:cNvSpPr txBox="1"/>
          <p:nvPr/>
        </p:nvSpPr>
        <p:spPr>
          <a:xfrm>
            <a:off x="508000" y="660400"/>
            <a:ext cx="11201400" cy="939800"/>
          </a:xfrm>
          <a:prstGeom prst="rect">
            <a:avLst/>
          </a:prstGeom>
          <a:noFill/>
        </p:spPr>
        <p:txBody>
          <a:bodyPr wrap="square" lIns="0" rIns="0" tIns="0" bIns="0" anchor="t">
            <a:spAutoFit/>
          </a:bodyPr>
          <a:lstStyle/>
          <a:p>
            <a:pPr algn="l">
              <a:lnSpc>
                <a:spcPts val="3247"/>
              </a:lnSpc>
            </a:pPr>
            <a:r>
              <a:rPr sz="2800" b="1">
                <a:solidFill>
                  <a:srgbClr val="FFFFFF"/>
                </a:solidFill>
                <a:latin typeface="Arial"/>
              </a:rPr>
              <a:t>Follow-ups fall through the cracks, and “no record” is not “failed”</a:t>
            </a:r>
          </a:p>
        </p:txBody>
      </p:sp>
      <p:cxnSp>
        <p:nvCxnSpPr>
          <p:cNvPr id="8" name="Connector 7"/>
          <p:cNvCxnSpPr/>
          <p:nvPr/>
        </p:nvCxnSpPr>
        <p:spPr>
          <a:xfrm>
            <a:off x="508000" y="6451600"/>
            <a:ext cx="11176000" cy="0"/>
          </a:xfrm>
          <a:prstGeom prst="line">
            <a:avLst/>
          </a:prstGeom>
          <a:ln w="8890">
            <a:solidFill>
              <a:srgbClr val="2A4A86">
                <a:alpha val="70000"/>
              </a:srgbClr>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6527800"/>
            <a:ext cx="6375400" cy="177800"/>
          </a:xfrm>
          <a:prstGeom prst="rect">
            <a:avLst/>
          </a:prstGeom>
          <a:noFill/>
        </p:spPr>
        <p:txBody>
          <a:bodyPr wrap="square" lIns="0" rIns="0" tIns="0" bIns="0" anchor="t">
            <a:spAutoFit/>
          </a:bodyPr>
          <a:lstStyle/>
          <a:p>
            <a:pPr algn="l">
              <a:lnSpc>
                <a:spcPts val="1037"/>
              </a:lnSpc>
            </a:pPr>
            <a:r>
              <a:rPr sz="850" b="0">
                <a:solidFill>
                  <a:srgbClr val="7C8FB5"/>
                </a:solidFill>
                <a:latin typeface="Arial"/>
              </a:rPr>
              <a:t>MedRelay  |  IBM Z Datathon 2026  |  synthetic data only, decision support for qualified human review</a:t>
            </a:r>
          </a:p>
        </p:txBody>
      </p:sp>
      <p:sp>
        <p:nvSpPr>
          <p:cNvPr id="10" name="TextBox 9"/>
          <p:cNvSpPr txBox="1"/>
          <p:nvPr/>
        </p:nvSpPr>
        <p:spPr>
          <a:xfrm>
            <a:off x="10668000" y="6527800"/>
            <a:ext cx="1041400" cy="177800"/>
          </a:xfrm>
          <a:prstGeom prst="rect">
            <a:avLst/>
          </a:prstGeom>
          <a:noFill/>
        </p:spPr>
        <p:txBody>
          <a:bodyPr wrap="square" lIns="0" rIns="0" tIns="0" bIns="0" anchor="t">
            <a:spAutoFit/>
          </a:bodyPr>
          <a:lstStyle/>
          <a:p>
            <a:pPr algn="r">
              <a:lnSpc>
                <a:spcPts val="1098"/>
              </a:lnSpc>
            </a:pPr>
            <a:r>
              <a:rPr sz="900" b="0">
                <a:solidFill>
                  <a:srgbClr val="7C8FB5"/>
                </a:solidFill>
                <a:latin typeface="Arial"/>
              </a:rPr>
              <a:t>2 / 10</a:t>
            </a:r>
          </a:p>
        </p:txBody>
      </p:sp>
      <p:sp>
        <p:nvSpPr>
          <p:cNvPr id="11" name="Rounded Rectangle 10"/>
          <p:cNvSpPr/>
          <p:nvPr/>
        </p:nvSpPr>
        <p:spPr>
          <a:xfrm>
            <a:off x="508000" y="1549400"/>
            <a:ext cx="3556000" cy="2235200"/>
          </a:xfrm>
          <a:prstGeom prst="roundRect">
            <a:avLst>
              <a:gd name="adj" fmla="val 5113"/>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1549400"/>
            <a:ext cx="558800" cy="38100"/>
          </a:xfrm>
          <a:prstGeom prst="roundRect">
            <a:avLst>
              <a:gd name="adj" fmla="val 50000"/>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1200" y="1778000"/>
            <a:ext cx="330200" cy="330200"/>
          </a:xfrm>
          <a:prstGeom prst="ellipse">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1200" y="1844675"/>
            <a:ext cx="355600" cy="203200"/>
          </a:xfrm>
          <a:prstGeom prst="rect">
            <a:avLst/>
          </a:prstGeom>
          <a:noFill/>
        </p:spPr>
        <p:txBody>
          <a:bodyPr wrap="square" lIns="0" rIns="0" tIns="0" bIns="0" anchor="t">
            <a:spAutoFit/>
          </a:bodyPr>
          <a:lstStyle/>
          <a:p>
            <a:pPr algn="ctr">
              <a:lnSpc>
                <a:spcPts val="1586"/>
              </a:lnSpc>
            </a:pPr>
            <a:r>
              <a:rPr sz="1300" b="1">
                <a:solidFill>
                  <a:srgbClr val="060B17"/>
                </a:solidFill>
                <a:latin typeface="Arial"/>
              </a:rPr>
              <a:t>1</a:t>
            </a:r>
          </a:p>
        </p:txBody>
      </p:sp>
      <p:sp>
        <p:nvSpPr>
          <p:cNvPr id="15" name="TextBox 14"/>
          <p:cNvSpPr txBox="1"/>
          <p:nvPr/>
        </p:nvSpPr>
        <p:spPr>
          <a:xfrm>
            <a:off x="1168400" y="1803400"/>
            <a:ext cx="2755900" cy="304800"/>
          </a:xfrm>
          <a:prstGeom prst="rect">
            <a:avLst/>
          </a:prstGeom>
          <a:noFill/>
        </p:spPr>
        <p:txBody>
          <a:bodyPr wrap="square" lIns="0" rIns="0" tIns="0" bIns="0" anchor="t">
            <a:spAutoFit/>
          </a:bodyPr>
          <a:lstStyle/>
          <a:p>
            <a:pPr algn="l">
              <a:lnSpc>
                <a:spcPts val="2013"/>
              </a:lnSpc>
            </a:pPr>
            <a:r>
              <a:rPr sz="1650" b="1">
                <a:solidFill>
                  <a:srgbClr val="FFFFFF"/>
                </a:solidFill>
                <a:latin typeface="Arial"/>
              </a:rPr>
              <a:t>Hidden in free text</a:t>
            </a:r>
          </a:p>
        </p:txBody>
      </p:sp>
      <p:sp>
        <p:nvSpPr>
          <p:cNvPr id="16" name="TextBox 15"/>
          <p:cNvSpPr txBox="1"/>
          <p:nvPr/>
        </p:nvSpPr>
        <p:spPr>
          <a:xfrm>
            <a:off x="711200" y="2286000"/>
            <a:ext cx="3225800" cy="1447800"/>
          </a:xfrm>
          <a:prstGeom prst="rect">
            <a:avLst/>
          </a:prstGeom>
          <a:noFill/>
        </p:spPr>
        <p:txBody>
          <a:bodyPr wrap="square" lIns="0" rIns="0" tIns="0" bIns="0" anchor="t">
            <a:spAutoFit/>
          </a:bodyPr>
          <a:lstStyle/>
          <a:p>
            <a:pPr algn="l">
              <a:lnSpc>
                <a:spcPts val="1820"/>
              </a:lnSpc>
            </a:pPr>
            <a:r>
              <a:rPr sz="1400" b="0">
                <a:solidFill>
                  <a:srgbClr val="B4C2DE"/>
                </a:solidFill>
                <a:latin typeface="Arial"/>
              </a:rPr>
              <a:t>“Repeat the CBC in 48 hours. The physician must review the result. Arrange a visit in 2 weeks.” Obligations live in notes, not in structured fields.</a:t>
            </a:r>
          </a:p>
        </p:txBody>
      </p:sp>
      <p:sp>
        <p:nvSpPr>
          <p:cNvPr id="17" name="Rounded Rectangle 16"/>
          <p:cNvSpPr/>
          <p:nvPr/>
        </p:nvSpPr>
        <p:spPr>
          <a:xfrm>
            <a:off x="4318000" y="1549400"/>
            <a:ext cx="3556000" cy="2235200"/>
          </a:xfrm>
          <a:prstGeom prst="roundRect">
            <a:avLst>
              <a:gd name="adj" fmla="val 5113"/>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95800" y="1549400"/>
            <a:ext cx="558800" cy="38100"/>
          </a:xfrm>
          <a:prstGeom prst="roundRect">
            <a:avLst>
              <a:gd name="adj" fmla="val 50000"/>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21200" y="1778000"/>
            <a:ext cx="330200" cy="330200"/>
          </a:xfrm>
          <a:prstGeom prst="ellipse">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1200" y="1844675"/>
            <a:ext cx="355600" cy="203200"/>
          </a:xfrm>
          <a:prstGeom prst="rect">
            <a:avLst/>
          </a:prstGeom>
          <a:noFill/>
        </p:spPr>
        <p:txBody>
          <a:bodyPr wrap="square" lIns="0" rIns="0" tIns="0" bIns="0" anchor="t">
            <a:spAutoFit/>
          </a:bodyPr>
          <a:lstStyle/>
          <a:p>
            <a:pPr algn="ctr">
              <a:lnSpc>
                <a:spcPts val="1586"/>
              </a:lnSpc>
            </a:pPr>
            <a:r>
              <a:rPr sz="1300" b="1">
                <a:solidFill>
                  <a:srgbClr val="060B17"/>
                </a:solidFill>
                <a:latin typeface="Arial"/>
              </a:rPr>
              <a:t>2</a:t>
            </a:r>
          </a:p>
        </p:txBody>
      </p:sp>
      <p:sp>
        <p:nvSpPr>
          <p:cNvPr id="21" name="TextBox 20"/>
          <p:cNvSpPr txBox="1"/>
          <p:nvPr/>
        </p:nvSpPr>
        <p:spPr>
          <a:xfrm>
            <a:off x="4978400" y="1803400"/>
            <a:ext cx="2755900" cy="304800"/>
          </a:xfrm>
          <a:prstGeom prst="rect">
            <a:avLst/>
          </a:prstGeom>
          <a:noFill/>
        </p:spPr>
        <p:txBody>
          <a:bodyPr wrap="square" lIns="0" rIns="0" tIns="0" bIns="0" anchor="t">
            <a:spAutoFit/>
          </a:bodyPr>
          <a:lstStyle/>
          <a:p>
            <a:pPr algn="l">
              <a:lnSpc>
                <a:spcPts val="2013"/>
              </a:lnSpc>
            </a:pPr>
            <a:r>
              <a:rPr sz="1650" b="1">
                <a:solidFill>
                  <a:srgbClr val="FFFFFF"/>
                </a:solidFill>
                <a:latin typeface="Arial"/>
              </a:rPr>
              <a:t>Chained and fragile</a:t>
            </a:r>
          </a:p>
        </p:txBody>
      </p:sp>
      <p:sp>
        <p:nvSpPr>
          <p:cNvPr id="22" name="TextBox 21"/>
          <p:cNvSpPr txBox="1"/>
          <p:nvPr/>
        </p:nvSpPr>
        <p:spPr>
          <a:xfrm>
            <a:off x="4521200" y="2286000"/>
            <a:ext cx="3225800" cy="1447800"/>
          </a:xfrm>
          <a:prstGeom prst="rect">
            <a:avLst/>
          </a:prstGeom>
          <a:noFill/>
        </p:spPr>
        <p:txBody>
          <a:bodyPr wrap="square" lIns="0" rIns="0" tIns="0" bIns="0" anchor="t">
            <a:spAutoFit/>
          </a:bodyPr>
          <a:lstStyle/>
          <a:p>
            <a:pPr algn="l">
              <a:lnSpc>
                <a:spcPts val="1820"/>
              </a:lnSpc>
            </a:pPr>
            <a:r>
              <a:rPr sz="1400" b="0">
                <a:solidFill>
                  <a:srgbClr val="B4C2DE"/>
                </a:solidFill>
                <a:latin typeface="Arial"/>
              </a:rPr>
              <a:t>A result must be reviewed before the patient is told. One missed step silently blocks every task after it.</a:t>
            </a:r>
          </a:p>
        </p:txBody>
      </p:sp>
      <p:sp>
        <p:nvSpPr>
          <p:cNvPr id="23" name="Rounded Rectangle 22"/>
          <p:cNvSpPr/>
          <p:nvPr/>
        </p:nvSpPr>
        <p:spPr>
          <a:xfrm>
            <a:off x="8128000" y="1549400"/>
            <a:ext cx="3556000" cy="2235200"/>
          </a:xfrm>
          <a:prstGeom prst="roundRect">
            <a:avLst>
              <a:gd name="adj" fmla="val 5113"/>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05800" y="1549400"/>
            <a:ext cx="558800" cy="38100"/>
          </a:xfrm>
          <a:prstGeom prst="roundRect">
            <a:avLst>
              <a:gd name="adj" fmla="val 50000"/>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31200" y="1778000"/>
            <a:ext cx="330200" cy="330200"/>
          </a:xfrm>
          <a:prstGeom prst="ellipse">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1200" y="1844675"/>
            <a:ext cx="355600" cy="203200"/>
          </a:xfrm>
          <a:prstGeom prst="rect">
            <a:avLst/>
          </a:prstGeom>
          <a:noFill/>
        </p:spPr>
        <p:txBody>
          <a:bodyPr wrap="square" lIns="0" rIns="0" tIns="0" bIns="0" anchor="t">
            <a:spAutoFit/>
          </a:bodyPr>
          <a:lstStyle/>
          <a:p>
            <a:pPr algn="ctr">
              <a:lnSpc>
                <a:spcPts val="1586"/>
              </a:lnSpc>
            </a:pPr>
            <a:r>
              <a:rPr sz="1300" b="1">
                <a:solidFill>
                  <a:srgbClr val="060B17"/>
                </a:solidFill>
                <a:latin typeface="Arial"/>
              </a:rPr>
              <a:t>3</a:t>
            </a:r>
          </a:p>
        </p:txBody>
      </p:sp>
      <p:sp>
        <p:nvSpPr>
          <p:cNvPr id="27" name="TextBox 26"/>
          <p:cNvSpPr txBox="1"/>
          <p:nvPr/>
        </p:nvSpPr>
        <p:spPr>
          <a:xfrm>
            <a:off x="8788400" y="1803400"/>
            <a:ext cx="2755900" cy="304800"/>
          </a:xfrm>
          <a:prstGeom prst="rect">
            <a:avLst/>
          </a:prstGeom>
          <a:noFill/>
        </p:spPr>
        <p:txBody>
          <a:bodyPr wrap="square" lIns="0" rIns="0" tIns="0" bIns="0" anchor="t">
            <a:spAutoFit/>
          </a:bodyPr>
          <a:lstStyle/>
          <a:p>
            <a:pPr algn="l">
              <a:lnSpc>
                <a:spcPts val="2013"/>
              </a:lnSpc>
            </a:pPr>
            <a:r>
              <a:rPr sz="1650" b="1">
                <a:solidFill>
                  <a:srgbClr val="FFFFFF"/>
                </a:solidFill>
                <a:latin typeface="Arial"/>
              </a:rPr>
              <a:t>Documentation lags reality</a:t>
            </a:r>
          </a:p>
        </p:txBody>
      </p:sp>
      <p:sp>
        <p:nvSpPr>
          <p:cNvPr id="28" name="TextBox 27"/>
          <p:cNvSpPr txBox="1"/>
          <p:nvPr/>
        </p:nvSpPr>
        <p:spPr>
          <a:xfrm>
            <a:off x="8331200" y="2286000"/>
            <a:ext cx="3225800" cy="1447800"/>
          </a:xfrm>
          <a:prstGeom prst="rect">
            <a:avLst/>
          </a:prstGeom>
          <a:noFill/>
        </p:spPr>
        <p:txBody>
          <a:bodyPr wrap="square" lIns="0" rIns="0" tIns="0" bIns="0" anchor="t">
            <a:spAutoFit/>
          </a:bodyPr>
          <a:lstStyle/>
          <a:p>
            <a:pPr algn="l">
              <a:lnSpc>
                <a:spcPts val="1820"/>
              </a:lnSpc>
            </a:pPr>
            <a:r>
              <a:rPr sz="1400" b="0">
                <a:solidFill>
                  <a:srgbClr val="B4C2DE"/>
                </a:solidFill>
                <a:latin typeface="Arial"/>
              </a:rPr>
              <a:t>Tasks get done but are recorded late, or never. Tools that read “no record” as “failed” bury staff in false alarms.</a:t>
            </a:r>
          </a:p>
        </p:txBody>
      </p:sp>
      <p:sp>
        <p:nvSpPr>
          <p:cNvPr id="29" name="Rounded Rectangle 28"/>
          <p:cNvSpPr/>
          <p:nvPr/>
        </p:nvSpPr>
        <p:spPr>
          <a:xfrm>
            <a:off x="508000" y="3962400"/>
            <a:ext cx="11176000" cy="1828800"/>
          </a:xfrm>
          <a:prstGeom prst="roundRect">
            <a:avLst>
              <a:gd name="adj" fmla="val 6250"/>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85800" y="3962400"/>
            <a:ext cx="558800" cy="38100"/>
          </a:xfrm>
          <a:prstGeom prst="roundRect">
            <a:avLst>
              <a:gd name="adj" fmla="val 50000"/>
            </a:avLst>
          </a:prstGeom>
          <a:solidFill>
            <a:srgbClr val="FA4D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6600" y="4140200"/>
            <a:ext cx="5105400" cy="228600"/>
          </a:xfrm>
          <a:prstGeom prst="rect">
            <a:avLst/>
          </a:prstGeom>
          <a:noFill/>
        </p:spPr>
        <p:txBody>
          <a:bodyPr wrap="square" lIns="0" rIns="0" tIns="0" bIns="0" anchor="t">
            <a:spAutoFit/>
          </a:bodyPr>
          <a:lstStyle/>
          <a:p>
            <a:pPr algn="l">
              <a:lnSpc>
                <a:spcPts val="1281"/>
              </a:lnSpc>
            </a:pPr>
            <a:r>
              <a:rPr sz="1050" b="1">
                <a:solidFill>
                  <a:srgbClr val="B4C2DE"/>
                </a:solidFill>
                <a:latin typeface="Arial"/>
              </a:rPr>
              <a:t>MEASURED IN OUR SIMULATED TEST REPLAY</a:t>
            </a:r>
          </a:p>
        </p:txBody>
      </p:sp>
      <p:sp>
        <p:nvSpPr>
          <p:cNvPr id="32" name="TextBox 31"/>
          <p:cNvSpPr txBox="1"/>
          <p:nvPr/>
        </p:nvSpPr>
        <p:spPr>
          <a:xfrm>
            <a:off x="736600" y="4394200"/>
            <a:ext cx="2819400" cy="736600"/>
          </a:xfrm>
          <a:prstGeom prst="rect">
            <a:avLst/>
          </a:prstGeom>
          <a:noFill/>
        </p:spPr>
        <p:txBody>
          <a:bodyPr wrap="square" lIns="0" rIns="0" tIns="0" bIns="0" anchor="t">
            <a:spAutoFit/>
          </a:bodyPr>
          <a:lstStyle/>
          <a:p>
            <a:pPr algn="l">
              <a:lnSpc>
                <a:spcPts val="4600"/>
              </a:lnSpc>
            </a:pPr>
            <a:r>
              <a:rPr sz="4600" b="1">
                <a:solidFill>
                  <a:srgbClr val="FA4D56"/>
                </a:solidFill>
                <a:latin typeface="Arial"/>
              </a:rPr>
              <a:t>716 / 716</a:t>
            </a:r>
          </a:p>
        </p:txBody>
      </p:sp>
      <p:sp>
        <p:nvSpPr>
          <p:cNvPr id="33" name="TextBox 32"/>
          <p:cNvSpPr txBox="1"/>
          <p:nvPr/>
        </p:nvSpPr>
        <p:spPr>
          <a:xfrm>
            <a:off x="736600" y="5130800"/>
            <a:ext cx="2882900" cy="558800"/>
          </a:xfrm>
          <a:prstGeom prst="rect">
            <a:avLst/>
          </a:prstGeom>
          <a:noFill/>
        </p:spPr>
        <p:txBody>
          <a:bodyPr wrap="square" lIns="0" rIns="0" tIns="0" bIns="0" anchor="t">
            <a:spAutoFit/>
          </a:bodyPr>
          <a:lstStyle/>
          <a:p>
            <a:pPr algn="l">
              <a:lnSpc>
                <a:spcPts val="1342"/>
              </a:lnSpc>
            </a:pPr>
            <a:r>
              <a:rPr sz="1100" b="0">
                <a:solidFill>
                  <a:srgbClr val="B4C2DE"/>
                </a:solidFill>
                <a:latin typeface="Arial"/>
              </a:rPr>
              <a:t>done-but-undocumented tasks flagged overdue by a naive “no record = failed” rule</a:t>
            </a:r>
          </a:p>
        </p:txBody>
      </p:sp>
      <p:sp>
        <p:nvSpPr>
          <p:cNvPr id="34" name="TextBox 33"/>
          <p:cNvSpPr txBox="1"/>
          <p:nvPr/>
        </p:nvSpPr>
        <p:spPr>
          <a:xfrm>
            <a:off x="3810000" y="4394200"/>
            <a:ext cx="2819400" cy="736600"/>
          </a:xfrm>
          <a:prstGeom prst="rect">
            <a:avLst/>
          </a:prstGeom>
          <a:noFill/>
        </p:spPr>
        <p:txBody>
          <a:bodyPr wrap="square" lIns="0" rIns="0" tIns="0" bIns="0" anchor="t">
            <a:spAutoFit/>
          </a:bodyPr>
          <a:lstStyle/>
          <a:p>
            <a:pPr algn="l">
              <a:lnSpc>
                <a:spcPts val="4600"/>
              </a:lnSpc>
            </a:pPr>
            <a:r>
              <a:rPr sz="4600" b="1">
                <a:solidFill>
                  <a:srgbClr val="33B1FF"/>
                </a:solidFill>
                <a:latin typeface="Arial"/>
              </a:rPr>
              <a:t>0 / 716</a:t>
            </a:r>
          </a:p>
        </p:txBody>
      </p:sp>
      <p:sp>
        <p:nvSpPr>
          <p:cNvPr id="35" name="TextBox 34"/>
          <p:cNvSpPr txBox="1"/>
          <p:nvPr/>
        </p:nvSpPr>
        <p:spPr>
          <a:xfrm>
            <a:off x="3810000" y="5130800"/>
            <a:ext cx="2755900" cy="558800"/>
          </a:xfrm>
          <a:prstGeom prst="rect">
            <a:avLst/>
          </a:prstGeom>
          <a:noFill/>
        </p:spPr>
        <p:txBody>
          <a:bodyPr wrap="square" lIns="0" rIns="0" tIns="0" bIns="0" anchor="t">
            <a:spAutoFit/>
          </a:bodyPr>
          <a:lstStyle/>
          <a:p>
            <a:pPr algn="l">
              <a:lnSpc>
                <a:spcPts val="1342"/>
              </a:lnSpc>
            </a:pPr>
            <a:r>
              <a:rPr sz="1100" b="0">
                <a:solidFill>
                  <a:srgbClr val="B4C2DE"/>
                </a:solidFill>
                <a:latin typeface="Arial"/>
              </a:rPr>
              <a:t>confirmed overdue by MedRelay (flagged unverified instead)</a:t>
            </a:r>
          </a:p>
        </p:txBody>
      </p:sp>
      <p:cxnSp>
        <p:nvCxnSpPr>
          <p:cNvPr id="36" name="Connector 35"/>
          <p:cNvCxnSpPr/>
          <p:nvPr/>
        </p:nvCxnSpPr>
        <p:spPr>
          <a:xfrm>
            <a:off x="6807200" y="4241800"/>
            <a:ext cx="0" cy="1371600"/>
          </a:xfrm>
          <a:prstGeom prst="line">
            <a:avLst/>
          </a:prstGeom>
          <a:ln w="10160">
            <a:solidFill>
              <a:srgbClr val="2A4A86">
                <a:alpha val="80000"/>
              </a:srgbClr>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035800" y="4140200"/>
            <a:ext cx="4597400" cy="228600"/>
          </a:xfrm>
          <a:prstGeom prst="rect">
            <a:avLst/>
          </a:prstGeom>
          <a:noFill/>
        </p:spPr>
        <p:txBody>
          <a:bodyPr wrap="square" lIns="0" rIns="0" tIns="0" bIns="0" anchor="t">
            <a:spAutoFit/>
          </a:bodyPr>
          <a:lstStyle/>
          <a:p>
            <a:pPr algn="l">
              <a:lnSpc>
                <a:spcPts val="1281"/>
              </a:lnSpc>
            </a:pPr>
            <a:r>
              <a:rPr sz="1050" b="1">
                <a:solidFill>
                  <a:srgbClr val="B4C2DE"/>
                </a:solidFill>
                <a:latin typeface="Arial"/>
              </a:rPr>
              <a:t>WHO IS AFFECTED</a:t>
            </a:r>
          </a:p>
        </p:txBody>
      </p:sp>
      <p:sp>
        <p:nvSpPr>
          <p:cNvPr id="38" name="TextBox 37"/>
          <p:cNvSpPr txBox="1"/>
          <p:nvPr/>
        </p:nvSpPr>
        <p:spPr>
          <a:xfrm>
            <a:off x="7035800" y="4419600"/>
            <a:ext cx="4546600" cy="1270000"/>
          </a:xfrm>
          <a:prstGeom prst="rect">
            <a:avLst/>
          </a:prstGeom>
          <a:noFill/>
        </p:spPr>
        <p:txBody>
          <a:bodyPr wrap="square" lIns="0" rIns="0" tIns="0" bIns="0" anchor="t">
            <a:spAutoFit/>
          </a:bodyPr>
          <a:lstStyle/>
          <a:p>
            <a:pPr algn="l">
              <a:lnSpc>
                <a:spcPts val="1562"/>
              </a:lnSpc>
              <a:spcAft>
                <a:spcPts val="400"/>
              </a:spcAft>
            </a:pPr>
            <a:r>
              <a:rPr sz="1250" b="1">
                <a:solidFill>
                  <a:srgbClr val="FFFFFF"/>
                </a:solidFill>
                <a:latin typeface="Arial"/>
              </a:rPr>
              <a:t>Patients</a:t>
            </a:r>
            <a:r>
              <a:rPr sz="1250" b="0">
                <a:solidFill>
                  <a:srgbClr val="B4C2DE"/>
                </a:solidFill>
                <a:latin typeface="Arial"/>
              </a:rPr>
              <a:t> awaiting results, referrals and repeat tests</a:t>
            </a:r>
          </a:p>
          <a:p>
            <a:pPr algn="l">
              <a:lnSpc>
                <a:spcPts val="1562"/>
              </a:lnSpc>
              <a:spcAft>
                <a:spcPts val="400"/>
              </a:spcAft>
            </a:pPr>
            <a:r>
              <a:rPr sz="1250" b="1">
                <a:solidFill>
                  <a:srgbClr val="FFFFFF"/>
                </a:solidFill>
                <a:latin typeface="Arial"/>
              </a:rPr>
              <a:t>Clinicians and care coordinators</a:t>
            </a:r>
            <a:r>
              <a:rPr sz="1250" b="0">
                <a:solidFill>
                  <a:srgbClr val="B4C2DE"/>
                </a:solidFill>
                <a:latin typeface="Arial"/>
              </a:rPr>
              <a:t> drowning in alerts they cannot trust</a:t>
            </a:r>
          </a:p>
          <a:p>
            <a:pPr algn="l">
              <a:lnSpc>
                <a:spcPts val="1562"/>
              </a:lnSpc>
            </a:pPr>
            <a:r>
              <a:rPr sz="1250" b="1">
                <a:solidFill>
                  <a:srgbClr val="FFFFFF"/>
                </a:solidFill>
                <a:latin typeface="Arial"/>
              </a:rPr>
              <a:t>Patient-safety teams</a:t>
            </a:r>
            <a:r>
              <a:rPr sz="1250" b="0">
                <a:solidFill>
                  <a:srgbClr val="B4C2DE"/>
                </a:solidFill>
                <a:latin typeface="Arial"/>
              </a:rPr>
              <a:t> who need an audit trail, not a guess</a:t>
            </a:r>
          </a:p>
        </p:txBody>
      </p:sp>
      <p:sp>
        <p:nvSpPr>
          <p:cNvPr id="39" name="TextBox 38"/>
          <p:cNvSpPr txBox="1"/>
          <p:nvPr/>
        </p:nvSpPr>
        <p:spPr>
          <a:xfrm>
            <a:off x="508000" y="5918200"/>
            <a:ext cx="11201400" cy="381000"/>
          </a:xfrm>
          <a:prstGeom prst="rect">
            <a:avLst/>
          </a:prstGeom>
          <a:noFill/>
        </p:spPr>
        <p:txBody>
          <a:bodyPr wrap="square" lIns="0" rIns="0" tIns="0" bIns="0" anchor="t">
            <a:spAutoFit/>
          </a:bodyPr>
          <a:lstStyle/>
          <a:p>
            <a:pPr algn="l">
              <a:lnSpc>
                <a:spcPts val="1312"/>
              </a:lnSpc>
            </a:pPr>
            <a:r>
              <a:rPr sz="1050" b="0">
                <a:solidFill>
                  <a:srgbClr val="7C8FB5"/>
                </a:solidFill>
                <a:latin typeface="Arial"/>
              </a:rPr>
              <a:t>Why it matters: a missed result or referral can delay diagnosis, and a flood of false alarms makes real ones easier to miss. Outcomes above are simulated from explicit event timelines; no real patient data was used for follow-up outcomes.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2000" cy="6858000"/>
          </a:xfrm>
          <a:prstGeom prst="rect">
            <a:avLst/>
          </a:prstGeom>
          <a:gradFill rotWithShape="1">
            <a:gsLst>
              <a:gs pos="0">
                <a:srgbClr val="060B17"/>
              </a:gs>
              <a:gs pos="100000">
                <a:srgbClr val="0E1C3A"/>
              </a:gs>
            </a:gsLst>
            <a:lin scaled="0" ang="18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71000" y="76200"/>
            <a:ext cx="2540000" cy="2540000"/>
          </a:xfrm>
          <a:prstGeom prst="ellipse">
            <a:avLst/>
          </a:prstGeom>
          <a:solidFill>
            <a:srgbClr val="0F62FE">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33000" y="457200"/>
            <a:ext cx="1397000" cy="1397000"/>
          </a:xfrm>
          <a:prstGeom prst="ellipse">
            <a:avLst/>
          </a:prstGeom>
          <a:solidFill>
            <a:srgbClr val="33B1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393700"/>
            <a:ext cx="50800" cy="1651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368300"/>
            <a:ext cx="6375400" cy="228600"/>
          </a:xfrm>
          <a:prstGeom prst="rect">
            <a:avLst/>
          </a:prstGeom>
          <a:noFill/>
        </p:spPr>
        <p:txBody>
          <a:bodyPr wrap="square" lIns="0" rIns="0" tIns="0" bIns="0" anchor="t">
            <a:spAutoFit/>
          </a:bodyPr>
          <a:lstStyle/>
          <a:p>
            <a:pPr algn="l">
              <a:lnSpc>
                <a:spcPts val="1403"/>
              </a:lnSpc>
            </a:pPr>
            <a:r>
              <a:rPr sz="1150" b="1">
                <a:solidFill>
                  <a:srgbClr val="33B1FF"/>
                </a:solidFill>
                <a:latin typeface="Arial"/>
              </a:rPr>
              <a:t>OUR SOLUTION</a:t>
            </a:r>
          </a:p>
        </p:txBody>
      </p:sp>
      <p:sp>
        <p:nvSpPr>
          <p:cNvPr id="7" name="TextBox 6"/>
          <p:cNvSpPr txBox="1"/>
          <p:nvPr/>
        </p:nvSpPr>
        <p:spPr>
          <a:xfrm>
            <a:off x="508000" y="660400"/>
            <a:ext cx="11201400" cy="939800"/>
          </a:xfrm>
          <a:prstGeom prst="rect">
            <a:avLst/>
          </a:prstGeom>
          <a:noFill/>
        </p:spPr>
        <p:txBody>
          <a:bodyPr wrap="square" lIns="0" rIns="0" tIns="0" bIns="0" anchor="t">
            <a:spAutoFit/>
          </a:bodyPr>
          <a:lstStyle/>
          <a:p>
            <a:pPr algn="l">
              <a:lnSpc>
                <a:spcPts val="3247"/>
              </a:lnSpc>
            </a:pPr>
            <a:r>
              <a:rPr sz="2800" b="1">
                <a:solidFill>
                  <a:srgbClr val="FFFFFF"/>
                </a:solidFill>
                <a:latin typeface="Arial"/>
              </a:rPr>
              <a:t>A live, evidence-checked tracker for every follow-up</a:t>
            </a:r>
          </a:p>
        </p:txBody>
      </p:sp>
      <p:cxnSp>
        <p:nvCxnSpPr>
          <p:cNvPr id="8" name="Connector 7"/>
          <p:cNvCxnSpPr/>
          <p:nvPr/>
        </p:nvCxnSpPr>
        <p:spPr>
          <a:xfrm>
            <a:off x="508000" y="6451600"/>
            <a:ext cx="11176000" cy="0"/>
          </a:xfrm>
          <a:prstGeom prst="line">
            <a:avLst/>
          </a:prstGeom>
          <a:ln w="8890">
            <a:solidFill>
              <a:srgbClr val="2A4A86">
                <a:alpha val="70000"/>
              </a:srgbClr>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6527800"/>
            <a:ext cx="6375400" cy="177800"/>
          </a:xfrm>
          <a:prstGeom prst="rect">
            <a:avLst/>
          </a:prstGeom>
          <a:noFill/>
        </p:spPr>
        <p:txBody>
          <a:bodyPr wrap="square" lIns="0" rIns="0" tIns="0" bIns="0" anchor="t">
            <a:spAutoFit/>
          </a:bodyPr>
          <a:lstStyle/>
          <a:p>
            <a:pPr algn="l">
              <a:lnSpc>
                <a:spcPts val="1037"/>
              </a:lnSpc>
            </a:pPr>
            <a:r>
              <a:rPr sz="850" b="0">
                <a:solidFill>
                  <a:srgbClr val="7C8FB5"/>
                </a:solidFill>
                <a:latin typeface="Arial"/>
              </a:rPr>
              <a:t>MedRelay  |  IBM Z Datathon 2026  |  synthetic data only, decision support for qualified human review</a:t>
            </a:r>
          </a:p>
        </p:txBody>
      </p:sp>
      <p:sp>
        <p:nvSpPr>
          <p:cNvPr id="10" name="TextBox 9"/>
          <p:cNvSpPr txBox="1"/>
          <p:nvPr/>
        </p:nvSpPr>
        <p:spPr>
          <a:xfrm>
            <a:off x="10668000" y="6527800"/>
            <a:ext cx="1041400" cy="177800"/>
          </a:xfrm>
          <a:prstGeom prst="rect">
            <a:avLst/>
          </a:prstGeom>
          <a:noFill/>
        </p:spPr>
        <p:txBody>
          <a:bodyPr wrap="square" lIns="0" rIns="0" tIns="0" bIns="0" anchor="t">
            <a:spAutoFit/>
          </a:bodyPr>
          <a:lstStyle/>
          <a:p>
            <a:pPr algn="r">
              <a:lnSpc>
                <a:spcPts val="1098"/>
              </a:lnSpc>
            </a:pPr>
            <a:r>
              <a:rPr sz="900" b="0">
                <a:solidFill>
                  <a:srgbClr val="7C8FB5"/>
                </a:solidFill>
                <a:latin typeface="Arial"/>
              </a:rPr>
              <a:t>3 / 10</a:t>
            </a:r>
          </a:p>
        </p:txBody>
      </p:sp>
      <p:sp>
        <p:nvSpPr>
          <p:cNvPr id="11" name="Rounded Rectangle 10"/>
          <p:cNvSpPr/>
          <p:nvPr/>
        </p:nvSpPr>
        <p:spPr>
          <a:xfrm>
            <a:off x="508000" y="1574800"/>
            <a:ext cx="3556000" cy="2717800"/>
          </a:xfrm>
          <a:prstGeom prst="roundRect">
            <a:avLst>
              <a:gd name="adj" fmla="val 4205"/>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1574800"/>
            <a:ext cx="558800" cy="38100"/>
          </a:xfrm>
          <a:prstGeom prst="roundRect">
            <a:avLst>
              <a:gd name="adj" fmla="val 50000"/>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1200" y="1778000"/>
            <a:ext cx="2565400" cy="203200"/>
          </a:xfrm>
          <a:prstGeom prst="rect">
            <a:avLst/>
          </a:prstGeom>
          <a:noFill/>
        </p:spPr>
        <p:txBody>
          <a:bodyPr wrap="square" lIns="0" rIns="0" tIns="0" bIns="0" anchor="t">
            <a:spAutoFit/>
          </a:bodyPr>
          <a:lstStyle/>
          <a:p>
            <a:pPr algn="l">
              <a:lnSpc>
                <a:spcPts val="1403"/>
              </a:lnSpc>
            </a:pPr>
            <a:r>
              <a:rPr sz="1150" b="1">
                <a:solidFill>
                  <a:srgbClr val="33B1FF"/>
                </a:solidFill>
                <a:latin typeface="Arial"/>
              </a:rPr>
              <a:t>STEP 1  |  EXTRACT</a:t>
            </a:r>
          </a:p>
        </p:txBody>
      </p:sp>
      <p:sp>
        <p:nvSpPr>
          <p:cNvPr id="14" name="TextBox 13"/>
          <p:cNvSpPr txBox="1"/>
          <p:nvPr/>
        </p:nvSpPr>
        <p:spPr>
          <a:xfrm>
            <a:off x="711200" y="2057400"/>
            <a:ext cx="3200400" cy="584200"/>
          </a:xfrm>
          <a:prstGeom prst="rect">
            <a:avLst/>
          </a:prstGeom>
          <a:noFill/>
        </p:spPr>
        <p:txBody>
          <a:bodyPr wrap="square" lIns="0" rIns="0" tIns="0" bIns="0" anchor="t">
            <a:spAutoFit/>
          </a:bodyPr>
          <a:lstStyle/>
          <a:p>
            <a:pPr algn="l">
              <a:lnSpc>
                <a:spcPts val="2012"/>
              </a:lnSpc>
            </a:pPr>
            <a:r>
              <a:rPr sz="1750" b="1">
                <a:solidFill>
                  <a:srgbClr val="FFFFFF"/>
                </a:solidFill>
                <a:latin typeface="Arial"/>
              </a:rPr>
              <a:t>Notes become structured obligations</a:t>
            </a:r>
          </a:p>
        </p:txBody>
      </p:sp>
      <p:sp>
        <p:nvSpPr>
          <p:cNvPr id="15" name="TextBox 14"/>
          <p:cNvSpPr txBox="1"/>
          <p:nvPr/>
        </p:nvSpPr>
        <p:spPr>
          <a:xfrm>
            <a:off x="711200" y="2717800"/>
            <a:ext cx="3225800" cy="1524000"/>
          </a:xfrm>
          <a:prstGeom prst="rect">
            <a:avLst/>
          </a:prstGeom>
          <a:noFill/>
        </p:spPr>
        <p:txBody>
          <a:bodyPr wrap="square" lIns="0" rIns="0" tIns="0" bIns="0" anchor="t">
            <a:spAutoFit/>
          </a:bodyPr>
          <a:lstStyle/>
          <a:p>
            <a:pPr algn="l">
              <a:lnSpc>
                <a:spcPts val="1755"/>
              </a:lnSpc>
            </a:pPr>
            <a:r>
              <a:rPr sz="1350" b="0">
                <a:solidFill>
                  <a:srgbClr val="B4C2DE"/>
                </a:solidFill>
                <a:latin typeface="Arial"/>
              </a:rPr>
              <a:t>A local LLM plus rules propose tasks, deadlines, roles and dependencies. Every field must cite its source text, or it is rejected.</a:t>
            </a:r>
          </a:p>
        </p:txBody>
      </p:sp>
      <p:cxnSp>
        <p:nvCxnSpPr>
          <p:cNvPr id="16" name="Connector 15"/>
          <p:cNvCxnSpPr/>
          <p:nvPr/>
        </p:nvCxnSpPr>
        <p:spPr>
          <a:xfrm>
            <a:off x="4089400" y="2933700"/>
            <a:ext cx="203200" cy="0"/>
          </a:xfrm>
          <a:prstGeom prst="line">
            <a:avLst/>
          </a:prstGeom>
          <a:ln w="2794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18000" y="1574800"/>
            <a:ext cx="3556000" cy="2717800"/>
          </a:xfrm>
          <a:prstGeom prst="roundRect">
            <a:avLst>
              <a:gd name="adj" fmla="val 4205"/>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95800" y="1574800"/>
            <a:ext cx="558800" cy="38100"/>
          </a:xfrm>
          <a:prstGeom prst="roundRect">
            <a:avLst>
              <a:gd name="adj" fmla="val 50000"/>
            </a:avLst>
          </a:prstGeom>
          <a:solidFill>
            <a:srgbClr val="458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1200" y="1778000"/>
            <a:ext cx="2565400" cy="203200"/>
          </a:xfrm>
          <a:prstGeom prst="rect">
            <a:avLst/>
          </a:prstGeom>
          <a:noFill/>
        </p:spPr>
        <p:txBody>
          <a:bodyPr wrap="square" lIns="0" rIns="0" tIns="0" bIns="0" anchor="t">
            <a:spAutoFit/>
          </a:bodyPr>
          <a:lstStyle/>
          <a:p>
            <a:pPr algn="l">
              <a:lnSpc>
                <a:spcPts val="1403"/>
              </a:lnSpc>
            </a:pPr>
            <a:r>
              <a:rPr sz="1150" b="1">
                <a:solidFill>
                  <a:srgbClr val="4589FF"/>
                </a:solidFill>
                <a:latin typeface="Arial"/>
              </a:rPr>
              <a:t>STEP 2  |  TRACK</a:t>
            </a:r>
          </a:p>
        </p:txBody>
      </p:sp>
      <p:sp>
        <p:nvSpPr>
          <p:cNvPr id="20" name="TextBox 19"/>
          <p:cNvSpPr txBox="1"/>
          <p:nvPr/>
        </p:nvSpPr>
        <p:spPr>
          <a:xfrm>
            <a:off x="4521200" y="2057400"/>
            <a:ext cx="3200400" cy="584200"/>
          </a:xfrm>
          <a:prstGeom prst="rect">
            <a:avLst/>
          </a:prstGeom>
          <a:noFill/>
        </p:spPr>
        <p:txBody>
          <a:bodyPr wrap="square" lIns="0" rIns="0" tIns="0" bIns="0" anchor="t">
            <a:spAutoFit/>
          </a:bodyPr>
          <a:lstStyle/>
          <a:p>
            <a:pPr algn="l">
              <a:lnSpc>
                <a:spcPts val="2012"/>
              </a:lnSpc>
            </a:pPr>
            <a:r>
              <a:rPr sz="1750" b="1">
                <a:solidFill>
                  <a:srgbClr val="FFFFFF"/>
                </a:solidFill>
                <a:latin typeface="Arial"/>
              </a:rPr>
              <a:t>Events become verified states</a:t>
            </a:r>
          </a:p>
        </p:txBody>
      </p:sp>
      <p:sp>
        <p:nvSpPr>
          <p:cNvPr id="21" name="TextBox 20"/>
          <p:cNvSpPr txBox="1"/>
          <p:nvPr/>
        </p:nvSpPr>
        <p:spPr>
          <a:xfrm>
            <a:off x="4521200" y="2717800"/>
            <a:ext cx="3225800" cy="1524000"/>
          </a:xfrm>
          <a:prstGeom prst="rect">
            <a:avLst/>
          </a:prstGeom>
          <a:noFill/>
        </p:spPr>
        <p:txBody>
          <a:bodyPr wrap="square" lIns="0" rIns="0" tIns="0" bIns="0" anchor="t">
            <a:spAutoFit/>
          </a:bodyPr>
          <a:lstStyle/>
          <a:p>
            <a:pPr algn="l">
              <a:lnSpc>
                <a:spcPts val="1755"/>
              </a:lnSpc>
            </a:pPr>
            <a:r>
              <a:rPr sz="1350" b="0">
                <a:solidFill>
                  <a:srgbClr val="B4C2DE"/>
                </a:solidFill>
                <a:latin typeface="Arial"/>
              </a:rPr>
              <a:t>A temporal evidence graph links tasks, dependencies and events. Deterministic rules decide: pending, completed, overdue, unverified, contradictory.</a:t>
            </a:r>
          </a:p>
        </p:txBody>
      </p:sp>
      <p:cxnSp>
        <p:nvCxnSpPr>
          <p:cNvPr id="22" name="Connector 21"/>
          <p:cNvCxnSpPr/>
          <p:nvPr/>
        </p:nvCxnSpPr>
        <p:spPr>
          <a:xfrm>
            <a:off x="7899400" y="2933700"/>
            <a:ext cx="203200" cy="0"/>
          </a:xfrm>
          <a:prstGeom prst="line">
            <a:avLst/>
          </a:prstGeom>
          <a:ln w="2794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128000" y="1574800"/>
            <a:ext cx="3556000" cy="2717800"/>
          </a:xfrm>
          <a:prstGeom prst="roundRect">
            <a:avLst>
              <a:gd name="adj" fmla="val 4205"/>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05800" y="1574800"/>
            <a:ext cx="558800" cy="38100"/>
          </a:xfrm>
          <a:prstGeom prst="roundRect">
            <a:avLst>
              <a:gd name="adj" fmla="val 50000"/>
            </a:avLst>
          </a:prstGeom>
          <a:solidFill>
            <a:srgbClr val="42BE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1200" y="1778000"/>
            <a:ext cx="2565400" cy="203200"/>
          </a:xfrm>
          <a:prstGeom prst="rect">
            <a:avLst/>
          </a:prstGeom>
          <a:noFill/>
        </p:spPr>
        <p:txBody>
          <a:bodyPr wrap="square" lIns="0" rIns="0" tIns="0" bIns="0" anchor="t">
            <a:spAutoFit/>
          </a:bodyPr>
          <a:lstStyle/>
          <a:p>
            <a:pPr algn="l">
              <a:lnSpc>
                <a:spcPts val="1403"/>
              </a:lnSpc>
            </a:pPr>
            <a:r>
              <a:rPr sz="1150" b="1">
                <a:solidFill>
                  <a:srgbClr val="42BE65"/>
                </a:solidFill>
                <a:latin typeface="Arial"/>
              </a:rPr>
              <a:t>STEP 3  |  WARN</a:t>
            </a:r>
          </a:p>
        </p:txBody>
      </p:sp>
      <p:sp>
        <p:nvSpPr>
          <p:cNvPr id="26" name="TextBox 25"/>
          <p:cNvSpPr txBox="1"/>
          <p:nvPr/>
        </p:nvSpPr>
        <p:spPr>
          <a:xfrm>
            <a:off x="8331200" y="2057400"/>
            <a:ext cx="3200400" cy="584200"/>
          </a:xfrm>
          <a:prstGeom prst="rect">
            <a:avLst/>
          </a:prstGeom>
          <a:noFill/>
        </p:spPr>
        <p:txBody>
          <a:bodyPr wrap="square" lIns="0" rIns="0" tIns="0" bIns="0" anchor="t">
            <a:spAutoFit/>
          </a:bodyPr>
          <a:lstStyle/>
          <a:p>
            <a:pPr algn="l">
              <a:lnSpc>
                <a:spcPts val="2012"/>
              </a:lnSpc>
            </a:pPr>
            <a:r>
              <a:rPr sz="1750" b="1">
                <a:solidFill>
                  <a:srgbClr val="FFFFFF"/>
                </a:solidFill>
                <a:latin typeface="Arial"/>
              </a:rPr>
              <a:t>Forecasts become explained alerts</a:t>
            </a:r>
          </a:p>
        </p:txBody>
      </p:sp>
      <p:sp>
        <p:nvSpPr>
          <p:cNvPr id="27" name="TextBox 26"/>
          <p:cNvSpPr txBox="1"/>
          <p:nvPr/>
        </p:nvSpPr>
        <p:spPr>
          <a:xfrm>
            <a:off x="8331200" y="2717800"/>
            <a:ext cx="3225800" cy="1524000"/>
          </a:xfrm>
          <a:prstGeom prst="rect">
            <a:avLst/>
          </a:prstGeom>
          <a:noFill/>
        </p:spPr>
        <p:txBody>
          <a:bodyPr wrap="square" lIns="0" rIns="0" tIns="0" bIns="0" anchor="t">
            <a:spAutoFit/>
          </a:bodyPr>
          <a:lstStyle/>
          <a:p>
            <a:pPr algn="l">
              <a:lnSpc>
                <a:spcPts val="1755"/>
              </a:lnSpc>
            </a:pPr>
            <a:r>
              <a:rPr sz="1350" b="0">
                <a:solidFill>
                  <a:srgbClr val="B4C2DE"/>
                </a:solidFill>
                <a:latin typeface="Arial"/>
              </a:rPr>
              <a:t>Calibrated ML predicts which tasks will miss their deadline. Alerts say why, state their uncertainty, and go to a human.</a:t>
            </a:r>
          </a:p>
        </p:txBody>
      </p:sp>
      <p:sp>
        <p:nvSpPr>
          <p:cNvPr id="28" name="TextBox 27"/>
          <p:cNvSpPr txBox="1"/>
          <p:nvPr/>
        </p:nvSpPr>
        <p:spPr>
          <a:xfrm>
            <a:off x="508000" y="4521200"/>
            <a:ext cx="7645400" cy="203200"/>
          </a:xfrm>
          <a:prstGeom prst="rect">
            <a:avLst/>
          </a:prstGeom>
          <a:noFill/>
        </p:spPr>
        <p:txBody>
          <a:bodyPr wrap="square" lIns="0" rIns="0" tIns="0" bIns="0" anchor="t">
            <a:spAutoFit/>
          </a:bodyPr>
          <a:lstStyle/>
          <a:p>
            <a:pPr algn="l">
              <a:lnSpc>
                <a:spcPts val="1281"/>
              </a:lnSpc>
            </a:pPr>
            <a:r>
              <a:rPr sz="1050" b="1">
                <a:solidFill>
                  <a:srgbClr val="B4C2DE"/>
                </a:solidFill>
                <a:latin typeface="Arial"/>
              </a:rPr>
              <a:t>WHAT MAKES IT DIFFERENT</a:t>
            </a:r>
          </a:p>
        </p:txBody>
      </p:sp>
      <p:sp>
        <p:nvSpPr>
          <p:cNvPr id="29" name="Rounded Rectangle 28"/>
          <p:cNvSpPr/>
          <p:nvPr/>
        </p:nvSpPr>
        <p:spPr>
          <a:xfrm>
            <a:off x="508000" y="4775200"/>
            <a:ext cx="3556000" cy="787400"/>
          </a:xfrm>
          <a:prstGeom prst="roundRect">
            <a:avLst>
              <a:gd name="adj" fmla="val 12903"/>
            </a:avLst>
          </a:prstGeom>
          <a:solidFill>
            <a:srgbClr val="0F62FE">
              <a:alpha val="16000"/>
            </a:srgbClr>
          </a:solidFill>
          <a:ln w="10160">
            <a:solidFill>
              <a:srgbClr val="4589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876800"/>
            <a:ext cx="3263900" cy="254000"/>
          </a:xfrm>
          <a:prstGeom prst="rect">
            <a:avLst/>
          </a:prstGeom>
          <a:noFill/>
        </p:spPr>
        <p:txBody>
          <a:bodyPr wrap="square" lIns="0" rIns="0" tIns="0" bIns="0" anchor="t">
            <a:spAutoFit/>
          </a:bodyPr>
          <a:lstStyle/>
          <a:p>
            <a:pPr algn="l">
              <a:lnSpc>
                <a:spcPts val="1647"/>
              </a:lnSpc>
            </a:pPr>
            <a:r>
              <a:rPr sz="1350" b="1">
                <a:solidFill>
                  <a:srgbClr val="FFFFFF"/>
                </a:solidFill>
                <a:latin typeface="Arial"/>
              </a:rPr>
              <a:t>The LLM never sets a state</a:t>
            </a:r>
          </a:p>
        </p:txBody>
      </p:sp>
      <p:sp>
        <p:nvSpPr>
          <p:cNvPr id="31" name="TextBox 30"/>
          <p:cNvSpPr txBox="1"/>
          <p:nvPr/>
        </p:nvSpPr>
        <p:spPr>
          <a:xfrm>
            <a:off x="685800" y="5156200"/>
            <a:ext cx="3263900" cy="355600"/>
          </a:xfrm>
          <a:prstGeom prst="rect">
            <a:avLst/>
          </a:prstGeom>
          <a:noFill/>
        </p:spPr>
        <p:txBody>
          <a:bodyPr wrap="square" lIns="0" rIns="0" tIns="0" bIns="0" anchor="t">
            <a:spAutoFit/>
          </a:bodyPr>
          <a:lstStyle/>
          <a:p>
            <a:pPr algn="l">
              <a:lnSpc>
                <a:spcPts val="1320"/>
              </a:lnSpc>
            </a:pPr>
            <a:r>
              <a:rPr sz="1100" b="0">
                <a:solidFill>
                  <a:srgbClr val="B4C2DE"/>
                </a:solidFill>
                <a:latin typeface="Arial"/>
              </a:rPr>
              <a:t>It only proposes; rules decide.</a:t>
            </a:r>
          </a:p>
        </p:txBody>
      </p:sp>
      <p:sp>
        <p:nvSpPr>
          <p:cNvPr id="32" name="Rounded Rectangle 31"/>
          <p:cNvSpPr/>
          <p:nvPr/>
        </p:nvSpPr>
        <p:spPr>
          <a:xfrm>
            <a:off x="4318000" y="4775200"/>
            <a:ext cx="3556000" cy="787400"/>
          </a:xfrm>
          <a:prstGeom prst="roundRect">
            <a:avLst>
              <a:gd name="adj" fmla="val 12903"/>
            </a:avLst>
          </a:prstGeom>
          <a:solidFill>
            <a:srgbClr val="0F62FE">
              <a:alpha val="16000"/>
            </a:srgbClr>
          </a:solidFill>
          <a:ln w="10160">
            <a:solidFill>
              <a:srgbClr val="4589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95800" y="4876800"/>
            <a:ext cx="3263900" cy="254000"/>
          </a:xfrm>
          <a:prstGeom prst="rect">
            <a:avLst/>
          </a:prstGeom>
          <a:noFill/>
        </p:spPr>
        <p:txBody>
          <a:bodyPr wrap="square" lIns="0" rIns="0" tIns="0" bIns="0" anchor="t">
            <a:spAutoFit/>
          </a:bodyPr>
          <a:lstStyle/>
          <a:p>
            <a:pPr algn="l">
              <a:lnSpc>
                <a:spcPts val="1647"/>
              </a:lnSpc>
            </a:pPr>
            <a:r>
              <a:rPr sz="1350" b="1">
                <a:solidFill>
                  <a:srgbClr val="FFFFFF"/>
                </a:solidFill>
                <a:latin typeface="Arial"/>
              </a:rPr>
              <a:t>No evidence is not failure</a:t>
            </a:r>
          </a:p>
        </p:txBody>
      </p:sp>
      <p:sp>
        <p:nvSpPr>
          <p:cNvPr id="34" name="TextBox 33"/>
          <p:cNvSpPr txBox="1"/>
          <p:nvPr/>
        </p:nvSpPr>
        <p:spPr>
          <a:xfrm>
            <a:off x="4495800" y="5156200"/>
            <a:ext cx="3263900" cy="355600"/>
          </a:xfrm>
          <a:prstGeom prst="rect">
            <a:avLst/>
          </a:prstGeom>
          <a:noFill/>
        </p:spPr>
        <p:txBody>
          <a:bodyPr wrap="square" lIns="0" rIns="0" tIns="0" bIns="0" anchor="t">
            <a:spAutoFit/>
          </a:bodyPr>
          <a:lstStyle/>
          <a:p>
            <a:pPr algn="l">
              <a:lnSpc>
                <a:spcPts val="1320"/>
              </a:lnSpc>
            </a:pPr>
            <a:r>
              <a:rPr sz="1100" b="0">
                <a:solidFill>
                  <a:srgbClr val="B4C2DE"/>
                </a:solidFill>
                <a:latin typeface="Arial"/>
              </a:rPr>
              <a:t>Unverified and censored tasks stay visible, never “failed”.</a:t>
            </a:r>
          </a:p>
        </p:txBody>
      </p:sp>
      <p:sp>
        <p:nvSpPr>
          <p:cNvPr id="35" name="Rounded Rectangle 34"/>
          <p:cNvSpPr/>
          <p:nvPr/>
        </p:nvSpPr>
        <p:spPr>
          <a:xfrm>
            <a:off x="8128000" y="4775200"/>
            <a:ext cx="3556000" cy="787400"/>
          </a:xfrm>
          <a:prstGeom prst="roundRect">
            <a:avLst>
              <a:gd name="adj" fmla="val 12903"/>
            </a:avLst>
          </a:prstGeom>
          <a:solidFill>
            <a:srgbClr val="0F62FE">
              <a:alpha val="16000"/>
            </a:srgbClr>
          </a:solidFill>
          <a:ln w="10160">
            <a:solidFill>
              <a:srgbClr val="4589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05800" y="4876800"/>
            <a:ext cx="3263900" cy="254000"/>
          </a:xfrm>
          <a:prstGeom prst="rect">
            <a:avLst/>
          </a:prstGeom>
          <a:noFill/>
        </p:spPr>
        <p:txBody>
          <a:bodyPr wrap="square" lIns="0" rIns="0" tIns="0" bIns="0" anchor="t">
            <a:spAutoFit/>
          </a:bodyPr>
          <a:lstStyle/>
          <a:p>
            <a:pPr algn="l">
              <a:lnSpc>
                <a:spcPts val="1647"/>
              </a:lnSpc>
            </a:pPr>
            <a:r>
              <a:rPr sz="1350" b="1">
                <a:solidFill>
                  <a:srgbClr val="FFFFFF"/>
                </a:solidFill>
                <a:latin typeface="Arial"/>
              </a:rPr>
              <a:t>Dependency and time aware</a:t>
            </a:r>
          </a:p>
        </p:txBody>
      </p:sp>
      <p:sp>
        <p:nvSpPr>
          <p:cNvPr id="37" name="TextBox 36"/>
          <p:cNvSpPr txBox="1"/>
          <p:nvPr/>
        </p:nvSpPr>
        <p:spPr>
          <a:xfrm>
            <a:off x="8305800" y="5156200"/>
            <a:ext cx="3263900" cy="355600"/>
          </a:xfrm>
          <a:prstGeom prst="rect">
            <a:avLst/>
          </a:prstGeom>
          <a:noFill/>
        </p:spPr>
        <p:txBody>
          <a:bodyPr wrap="square" lIns="0" rIns="0" tIns="0" bIns="0" anchor="t">
            <a:spAutoFit/>
          </a:bodyPr>
          <a:lstStyle/>
          <a:p>
            <a:pPr algn="l">
              <a:lnSpc>
                <a:spcPts val="1320"/>
              </a:lnSpc>
            </a:pPr>
            <a:r>
              <a:rPr sz="1100" b="0">
                <a:solidFill>
                  <a:srgbClr val="B4C2DE"/>
                </a:solidFill>
                <a:latin typeface="Arial"/>
              </a:rPr>
              <a:t>A blocked review is flagged before the deadline.</a:t>
            </a:r>
          </a:p>
        </p:txBody>
      </p:sp>
      <p:sp>
        <p:nvSpPr>
          <p:cNvPr id="38" name="TextBox 37"/>
          <p:cNvSpPr txBox="1"/>
          <p:nvPr/>
        </p:nvSpPr>
        <p:spPr>
          <a:xfrm>
            <a:off x="508000" y="5740400"/>
            <a:ext cx="11201400" cy="508000"/>
          </a:xfrm>
          <a:prstGeom prst="rect">
            <a:avLst/>
          </a:prstGeom>
          <a:noFill/>
        </p:spPr>
        <p:txBody>
          <a:bodyPr wrap="square" lIns="0" rIns="0" tIns="0" bIns="0" anchor="t">
            <a:spAutoFit/>
          </a:bodyPr>
          <a:lstStyle/>
          <a:p>
            <a:pPr algn="l">
              <a:lnSpc>
                <a:spcPts val="1625"/>
              </a:lnSpc>
            </a:pPr>
            <a:r>
              <a:rPr sz="1250" b="1">
                <a:solidFill>
                  <a:srgbClr val="FFFFFF"/>
                </a:solidFill>
                <a:latin typeface="Arial"/>
              </a:rPr>
              <a:t>Benefit for users: </a:t>
            </a:r>
            <a:r>
              <a:rPr sz="1250" b="0">
                <a:solidFill>
                  <a:srgbClr val="B4C2DE"/>
                </a:solidFill>
                <a:latin typeface="Arial"/>
              </a:rPr>
              <a:t>earlier warnings (median lead 72 h in our test), fewer false alarms, a full audit trail for every state change, and notes that never leave the server.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2000" cy="6858000"/>
          </a:xfrm>
          <a:prstGeom prst="rect">
            <a:avLst/>
          </a:prstGeom>
          <a:gradFill rotWithShape="1">
            <a:gsLst>
              <a:gs pos="0">
                <a:srgbClr val="060B17"/>
              </a:gs>
              <a:gs pos="100000">
                <a:srgbClr val="0E1C3A"/>
              </a:gs>
            </a:gsLst>
            <a:lin scaled="0" ang="18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71000" y="76200"/>
            <a:ext cx="2540000" cy="2540000"/>
          </a:xfrm>
          <a:prstGeom prst="ellipse">
            <a:avLst/>
          </a:prstGeom>
          <a:solidFill>
            <a:srgbClr val="0F62FE">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33000" y="457200"/>
            <a:ext cx="1397000" cy="1397000"/>
          </a:xfrm>
          <a:prstGeom prst="ellipse">
            <a:avLst/>
          </a:prstGeom>
          <a:solidFill>
            <a:srgbClr val="33B1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393700"/>
            <a:ext cx="50800" cy="1651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368300"/>
            <a:ext cx="6375400" cy="228600"/>
          </a:xfrm>
          <a:prstGeom prst="rect">
            <a:avLst/>
          </a:prstGeom>
          <a:noFill/>
        </p:spPr>
        <p:txBody>
          <a:bodyPr wrap="square" lIns="0" rIns="0" tIns="0" bIns="0" anchor="t">
            <a:spAutoFit/>
          </a:bodyPr>
          <a:lstStyle/>
          <a:p>
            <a:pPr algn="l">
              <a:lnSpc>
                <a:spcPts val="1403"/>
              </a:lnSpc>
            </a:pPr>
            <a:r>
              <a:rPr sz="1150" b="1">
                <a:solidFill>
                  <a:srgbClr val="33B1FF"/>
                </a:solidFill>
                <a:latin typeface="Arial"/>
              </a:rPr>
              <a:t>SYSTEM ARCHITECTURE</a:t>
            </a:r>
          </a:p>
        </p:txBody>
      </p:sp>
      <p:sp>
        <p:nvSpPr>
          <p:cNvPr id="7" name="TextBox 6"/>
          <p:cNvSpPr txBox="1"/>
          <p:nvPr/>
        </p:nvSpPr>
        <p:spPr>
          <a:xfrm>
            <a:off x="508000" y="660400"/>
            <a:ext cx="11201400" cy="939800"/>
          </a:xfrm>
          <a:prstGeom prst="rect">
            <a:avLst/>
          </a:prstGeom>
          <a:noFill/>
        </p:spPr>
        <p:txBody>
          <a:bodyPr wrap="square" lIns="0" rIns="0" tIns="0" bIns="0" anchor="t">
            <a:spAutoFit/>
          </a:bodyPr>
          <a:lstStyle/>
          <a:p>
            <a:pPr algn="l">
              <a:lnSpc>
                <a:spcPts val="3247"/>
              </a:lnSpc>
            </a:pPr>
            <a:r>
              <a:rPr sz="2800" b="1">
                <a:solidFill>
                  <a:srgbClr val="FFFFFF"/>
                </a:solidFill>
                <a:latin typeface="Arial"/>
              </a:rPr>
              <a:t>Everything runs inside one LinuxONE VM</a:t>
            </a:r>
          </a:p>
        </p:txBody>
      </p:sp>
      <p:cxnSp>
        <p:nvCxnSpPr>
          <p:cNvPr id="8" name="Connector 7"/>
          <p:cNvCxnSpPr/>
          <p:nvPr/>
        </p:nvCxnSpPr>
        <p:spPr>
          <a:xfrm>
            <a:off x="508000" y="6451600"/>
            <a:ext cx="11176000" cy="0"/>
          </a:xfrm>
          <a:prstGeom prst="line">
            <a:avLst/>
          </a:prstGeom>
          <a:ln w="8890">
            <a:solidFill>
              <a:srgbClr val="2A4A86">
                <a:alpha val="70000"/>
              </a:srgbClr>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6527800"/>
            <a:ext cx="6375400" cy="177800"/>
          </a:xfrm>
          <a:prstGeom prst="rect">
            <a:avLst/>
          </a:prstGeom>
          <a:noFill/>
        </p:spPr>
        <p:txBody>
          <a:bodyPr wrap="square" lIns="0" rIns="0" tIns="0" bIns="0" anchor="t">
            <a:spAutoFit/>
          </a:bodyPr>
          <a:lstStyle/>
          <a:p>
            <a:pPr algn="l">
              <a:lnSpc>
                <a:spcPts val="1037"/>
              </a:lnSpc>
            </a:pPr>
            <a:r>
              <a:rPr sz="850" b="0">
                <a:solidFill>
                  <a:srgbClr val="7C8FB5"/>
                </a:solidFill>
                <a:latin typeface="Arial"/>
              </a:rPr>
              <a:t>MedRelay  |  IBM Z Datathon 2026  |  synthetic data only, decision support for qualified human review</a:t>
            </a:r>
          </a:p>
        </p:txBody>
      </p:sp>
      <p:sp>
        <p:nvSpPr>
          <p:cNvPr id="10" name="TextBox 9"/>
          <p:cNvSpPr txBox="1"/>
          <p:nvPr/>
        </p:nvSpPr>
        <p:spPr>
          <a:xfrm>
            <a:off x="10668000" y="6527800"/>
            <a:ext cx="1041400" cy="177800"/>
          </a:xfrm>
          <a:prstGeom prst="rect">
            <a:avLst/>
          </a:prstGeom>
          <a:noFill/>
        </p:spPr>
        <p:txBody>
          <a:bodyPr wrap="square" lIns="0" rIns="0" tIns="0" bIns="0" anchor="t">
            <a:spAutoFit/>
          </a:bodyPr>
          <a:lstStyle/>
          <a:p>
            <a:pPr algn="r">
              <a:lnSpc>
                <a:spcPts val="1098"/>
              </a:lnSpc>
            </a:pPr>
            <a:r>
              <a:rPr sz="900" b="0">
                <a:solidFill>
                  <a:srgbClr val="7C8FB5"/>
                </a:solidFill>
                <a:latin typeface="Arial"/>
              </a:rPr>
              <a:t>4 / 10</a:t>
            </a:r>
          </a:p>
        </p:txBody>
      </p:sp>
      <p:sp>
        <p:nvSpPr>
          <p:cNvPr id="11" name="Rounded Rectangle 10"/>
          <p:cNvSpPr/>
          <p:nvPr/>
        </p:nvSpPr>
        <p:spPr>
          <a:xfrm>
            <a:off x="2235200" y="1473200"/>
            <a:ext cx="8128000" cy="4521200"/>
          </a:xfrm>
          <a:prstGeom prst="roundRect">
            <a:avLst>
              <a:gd name="adj" fmla="val 3932"/>
            </a:avLst>
          </a:prstGeom>
          <a:solidFill>
            <a:srgbClr val="0A1630">
              <a:alpha val="90000"/>
            </a:srgbClr>
          </a:solidFill>
          <a:ln w="20320">
            <a:solidFill>
              <a:srgbClr val="33B1FF">
                <a:alpha val="9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8400" y="1346200"/>
            <a:ext cx="4191000" cy="254000"/>
          </a:xfrm>
          <a:prstGeom prst="roundRect">
            <a:avLst>
              <a:gd name="adj" fmla="val 50000"/>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38400" y="1384300"/>
            <a:ext cx="4216400" cy="203200"/>
          </a:xfrm>
          <a:prstGeom prst="rect">
            <a:avLst/>
          </a:prstGeom>
          <a:noFill/>
        </p:spPr>
        <p:txBody>
          <a:bodyPr wrap="square" lIns="0" rIns="0" tIns="0" bIns="0" anchor="t">
            <a:spAutoFit/>
          </a:bodyPr>
          <a:lstStyle/>
          <a:p>
            <a:pPr algn="ctr">
              <a:lnSpc>
                <a:spcPts val="1244"/>
              </a:lnSpc>
            </a:pPr>
            <a:r>
              <a:rPr sz="1019" b="1">
                <a:solidFill>
                  <a:srgbClr val="060B17"/>
                </a:solidFill>
                <a:latin typeface="Arial"/>
              </a:rPr>
              <a:t>IBM LinuxONE VM  |  s390x  |  z/VM 7.3  |  2 vCPU</a:t>
            </a:r>
          </a:p>
        </p:txBody>
      </p:sp>
      <p:sp>
        <p:nvSpPr>
          <p:cNvPr id="14" name="TextBox 13"/>
          <p:cNvSpPr txBox="1"/>
          <p:nvPr/>
        </p:nvSpPr>
        <p:spPr>
          <a:xfrm>
            <a:off x="381000" y="1625600"/>
            <a:ext cx="1676400" cy="177800"/>
          </a:xfrm>
          <a:prstGeom prst="rect">
            <a:avLst/>
          </a:prstGeom>
          <a:noFill/>
        </p:spPr>
        <p:txBody>
          <a:bodyPr wrap="square" lIns="0" rIns="0" tIns="0" bIns="0" anchor="t">
            <a:spAutoFit/>
          </a:bodyPr>
          <a:lstStyle/>
          <a:p>
            <a:pPr algn="l">
              <a:lnSpc>
                <a:spcPts val="1159"/>
              </a:lnSpc>
            </a:pPr>
            <a:r>
              <a:rPr sz="950" b="1">
                <a:solidFill>
                  <a:srgbClr val="B4C2DE"/>
                </a:solidFill>
                <a:latin typeface="Arial"/>
              </a:rPr>
              <a:t>INPUTS</a:t>
            </a:r>
          </a:p>
        </p:txBody>
      </p:sp>
      <p:sp>
        <p:nvSpPr>
          <p:cNvPr id="15" name="Rounded Rectangle 14"/>
          <p:cNvSpPr/>
          <p:nvPr/>
        </p:nvSpPr>
        <p:spPr>
          <a:xfrm>
            <a:off x="381000" y="1905000"/>
            <a:ext cx="1625600" cy="1422400"/>
          </a:xfrm>
          <a:prstGeom prst="roundRect">
            <a:avLst>
              <a:gd name="adj" fmla="val 7142"/>
            </a:avLst>
          </a:prstGeom>
          <a:solidFill>
            <a:srgbClr val="14294F"/>
          </a:solidFill>
          <a:ln w="13970">
            <a:solidFill>
              <a:srgbClr val="4589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1000" y="2006600"/>
            <a:ext cx="44450" cy="1219200"/>
          </a:xfrm>
          <a:prstGeom prst="rect">
            <a:avLst/>
          </a:prstGeom>
          <a:solidFill>
            <a:srgbClr val="458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700" y="1993900"/>
            <a:ext cx="1447800" cy="406400"/>
          </a:xfrm>
          <a:prstGeom prst="rect">
            <a:avLst/>
          </a:prstGeom>
          <a:noFill/>
        </p:spPr>
        <p:txBody>
          <a:bodyPr wrap="square" lIns="0" rIns="0" tIns="0" bIns="0" anchor="t">
            <a:spAutoFit/>
          </a:bodyPr>
          <a:lstStyle/>
          <a:p>
            <a:pPr algn="l">
              <a:lnSpc>
                <a:spcPts val="1344"/>
              </a:lnSpc>
            </a:pPr>
            <a:r>
              <a:rPr sz="1200" b="1">
                <a:solidFill>
                  <a:srgbClr val="FFFFFF"/>
                </a:solidFill>
                <a:latin typeface="Arial"/>
              </a:rPr>
              <a:t>Clinical notes</a:t>
            </a:r>
          </a:p>
        </p:txBody>
      </p:sp>
      <p:sp>
        <p:nvSpPr>
          <p:cNvPr id="18" name="TextBox 17"/>
          <p:cNvSpPr txBox="1"/>
          <p:nvPr/>
        </p:nvSpPr>
        <p:spPr>
          <a:xfrm>
            <a:off x="520700" y="2413000"/>
            <a:ext cx="14478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synthetic discharge and visit notes</a:t>
            </a:r>
          </a:p>
        </p:txBody>
      </p:sp>
      <p:sp>
        <p:nvSpPr>
          <p:cNvPr id="19" name="Rounded Rectangle 18"/>
          <p:cNvSpPr/>
          <p:nvPr/>
        </p:nvSpPr>
        <p:spPr>
          <a:xfrm>
            <a:off x="381000" y="3886200"/>
            <a:ext cx="1625600" cy="1422400"/>
          </a:xfrm>
          <a:prstGeom prst="roundRect">
            <a:avLst>
              <a:gd name="adj" fmla="val 7142"/>
            </a:avLst>
          </a:prstGeom>
          <a:solidFill>
            <a:srgbClr val="14294F"/>
          </a:solidFill>
          <a:ln w="13970">
            <a:solidFill>
              <a:srgbClr val="4589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81000" y="3987800"/>
            <a:ext cx="44450" cy="1219200"/>
          </a:xfrm>
          <a:prstGeom prst="rect">
            <a:avLst/>
          </a:prstGeom>
          <a:solidFill>
            <a:srgbClr val="458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0700" y="3975100"/>
            <a:ext cx="1447800" cy="406400"/>
          </a:xfrm>
          <a:prstGeom prst="rect">
            <a:avLst/>
          </a:prstGeom>
          <a:noFill/>
        </p:spPr>
        <p:txBody>
          <a:bodyPr wrap="square" lIns="0" rIns="0" tIns="0" bIns="0" anchor="t">
            <a:spAutoFit/>
          </a:bodyPr>
          <a:lstStyle/>
          <a:p>
            <a:pPr algn="l">
              <a:lnSpc>
                <a:spcPts val="1344"/>
              </a:lnSpc>
            </a:pPr>
            <a:r>
              <a:rPr sz="1200" b="1">
                <a:solidFill>
                  <a:srgbClr val="FFFFFF"/>
                </a:solidFill>
                <a:latin typeface="Arial"/>
              </a:rPr>
              <a:t>Event stream</a:t>
            </a:r>
          </a:p>
        </p:txBody>
      </p:sp>
      <p:sp>
        <p:nvSpPr>
          <p:cNvPr id="22" name="TextBox 21"/>
          <p:cNvSpPr txBox="1"/>
          <p:nvPr/>
        </p:nvSpPr>
        <p:spPr>
          <a:xfrm>
            <a:off x="520700" y="4394200"/>
            <a:ext cx="14478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results, acknowledgements, visits; late, duplicate, out-of-order</a:t>
            </a:r>
          </a:p>
        </p:txBody>
      </p:sp>
      <p:sp>
        <p:nvSpPr>
          <p:cNvPr id="23" name="Rounded Rectangle 22"/>
          <p:cNvSpPr/>
          <p:nvPr/>
        </p:nvSpPr>
        <p:spPr>
          <a:xfrm>
            <a:off x="2413000" y="1905000"/>
            <a:ext cx="1625600" cy="1422400"/>
          </a:xfrm>
          <a:prstGeom prst="roundRect">
            <a:avLst>
              <a:gd name="adj" fmla="val 7142"/>
            </a:avLst>
          </a:prstGeom>
          <a:solidFill>
            <a:srgbClr val="14294F"/>
          </a:solidFill>
          <a:ln w="1397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413000" y="2006600"/>
            <a:ext cx="44450" cy="12192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52700" y="1993900"/>
            <a:ext cx="1447800" cy="406400"/>
          </a:xfrm>
          <a:prstGeom prst="rect">
            <a:avLst/>
          </a:prstGeom>
          <a:noFill/>
        </p:spPr>
        <p:txBody>
          <a:bodyPr wrap="square" lIns="0" rIns="0" tIns="0" bIns="0" anchor="t">
            <a:spAutoFit/>
          </a:bodyPr>
          <a:lstStyle/>
          <a:p>
            <a:pPr algn="l">
              <a:lnSpc>
                <a:spcPts val="1344"/>
              </a:lnSpc>
            </a:pPr>
            <a:r>
              <a:rPr sz="1200" b="1">
                <a:solidFill>
                  <a:srgbClr val="FFFFFF"/>
                </a:solidFill>
                <a:latin typeface="Arial"/>
              </a:rPr>
              <a:t>Extractor</a:t>
            </a:r>
          </a:p>
        </p:txBody>
      </p:sp>
      <p:sp>
        <p:nvSpPr>
          <p:cNvPr id="26" name="TextBox 25"/>
          <p:cNvSpPr txBox="1"/>
          <p:nvPr/>
        </p:nvSpPr>
        <p:spPr>
          <a:xfrm>
            <a:off x="2552700" y="2413000"/>
            <a:ext cx="14478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rules + Granite 4.0 350M (llama.cpp, VXE); Pydantic validator</a:t>
            </a:r>
          </a:p>
        </p:txBody>
      </p:sp>
      <p:sp>
        <p:nvSpPr>
          <p:cNvPr id="27" name="TextBox 26"/>
          <p:cNvSpPr txBox="1"/>
          <p:nvPr/>
        </p:nvSpPr>
        <p:spPr>
          <a:xfrm>
            <a:off x="2552700" y="3136900"/>
            <a:ext cx="1473200" cy="152400"/>
          </a:xfrm>
          <a:prstGeom prst="rect">
            <a:avLst/>
          </a:prstGeom>
          <a:noFill/>
        </p:spPr>
        <p:txBody>
          <a:bodyPr wrap="square" lIns="0" rIns="0" tIns="0" bIns="0" anchor="t">
            <a:spAutoFit/>
          </a:bodyPr>
          <a:lstStyle/>
          <a:p>
            <a:pPr algn="l">
              <a:lnSpc>
                <a:spcPts val="976"/>
              </a:lnSpc>
            </a:pPr>
            <a:r>
              <a:rPr sz="800" b="0">
                <a:solidFill>
                  <a:srgbClr val="7C8FB5"/>
                </a:solidFill>
                <a:latin typeface="Courier New"/>
              </a:rPr>
              <a:t>clinical_extractor</a:t>
            </a:r>
          </a:p>
        </p:txBody>
      </p:sp>
      <p:sp>
        <p:nvSpPr>
          <p:cNvPr id="28" name="Rounded Rectangle 27"/>
          <p:cNvSpPr/>
          <p:nvPr/>
        </p:nvSpPr>
        <p:spPr>
          <a:xfrm>
            <a:off x="4445000" y="1905000"/>
            <a:ext cx="1625600" cy="1422400"/>
          </a:xfrm>
          <a:prstGeom prst="roundRect">
            <a:avLst>
              <a:gd name="adj" fmla="val 7142"/>
            </a:avLst>
          </a:prstGeom>
          <a:solidFill>
            <a:srgbClr val="14294F"/>
          </a:solidFill>
          <a:ln w="1397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45000" y="2006600"/>
            <a:ext cx="44450" cy="12192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84700" y="1993900"/>
            <a:ext cx="1447800" cy="406400"/>
          </a:xfrm>
          <a:prstGeom prst="rect">
            <a:avLst/>
          </a:prstGeom>
          <a:noFill/>
        </p:spPr>
        <p:txBody>
          <a:bodyPr wrap="square" lIns="0" rIns="0" tIns="0" bIns="0" anchor="t">
            <a:spAutoFit/>
          </a:bodyPr>
          <a:lstStyle/>
          <a:p>
            <a:pPr algn="l">
              <a:lnSpc>
                <a:spcPts val="1344"/>
              </a:lnSpc>
            </a:pPr>
            <a:r>
              <a:rPr sz="1200" b="1">
                <a:solidFill>
                  <a:srgbClr val="FFFFFF"/>
                </a:solidFill>
                <a:latin typeface="Arial"/>
              </a:rPr>
              <a:t>Evidence graph</a:t>
            </a:r>
          </a:p>
        </p:txBody>
      </p:sp>
      <p:sp>
        <p:nvSpPr>
          <p:cNvPr id="31" name="TextBox 30"/>
          <p:cNvSpPr txBox="1"/>
          <p:nvPr/>
        </p:nvSpPr>
        <p:spPr>
          <a:xfrm>
            <a:off x="4584700" y="2413000"/>
            <a:ext cx="14478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tasks, dependencies, events; state rules R1 to R7</a:t>
            </a:r>
          </a:p>
        </p:txBody>
      </p:sp>
      <p:sp>
        <p:nvSpPr>
          <p:cNvPr id="32" name="TextBox 31"/>
          <p:cNvSpPr txBox="1"/>
          <p:nvPr/>
        </p:nvSpPr>
        <p:spPr>
          <a:xfrm>
            <a:off x="4584700" y="3136900"/>
            <a:ext cx="1473200" cy="152400"/>
          </a:xfrm>
          <a:prstGeom prst="rect">
            <a:avLst/>
          </a:prstGeom>
          <a:noFill/>
        </p:spPr>
        <p:txBody>
          <a:bodyPr wrap="square" lIns="0" rIns="0" tIns="0" bIns="0" anchor="t">
            <a:spAutoFit/>
          </a:bodyPr>
          <a:lstStyle/>
          <a:p>
            <a:pPr algn="l">
              <a:lnSpc>
                <a:spcPts val="976"/>
              </a:lnSpc>
            </a:pPr>
            <a:r>
              <a:rPr sz="800" b="0">
                <a:solidFill>
                  <a:srgbClr val="7C8FB5"/>
                </a:solidFill>
                <a:latin typeface="Courier New"/>
              </a:rPr>
              <a:t>evidence_graph</a:t>
            </a:r>
          </a:p>
        </p:txBody>
      </p:sp>
      <p:sp>
        <p:nvSpPr>
          <p:cNvPr id="33" name="Rounded Rectangle 32"/>
          <p:cNvSpPr/>
          <p:nvPr/>
        </p:nvSpPr>
        <p:spPr>
          <a:xfrm>
            <a:off x="6477000" y="1905000"/>
            <a:ext cx="1625600" cy="1422400"/>
          </a:xfrm>
          <a:prstGeom prst="roundRect">
            <a:avLst>
              <a:gd name="adj" fmla="val 7142"/>
            </a:avLst>
          </a:prstGeom>
          <a:solidFill>
            <a:srgbClr val="14294F"/>
          </a:solidFill>
          <a:ln w="1397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77000" y="2006600"/>
            <a:ext cx="44450" cy="12192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16700" y="1993900"/>
            <a:ext cx="1447800" cy="406400"/>
          </a:xfrm>
          <a:prstGeom prst="rect">
            <a:avLst/>
          </a:prstGeom>
          <a:noFill/>
        </p:spPr>
        <p:txBody>
          <a:bodyPr wrap="square" lIns="0" rIns="0" tIns="0" bIns="0" anchor="t">
            <a:spAutoFit/>
          </a:bodyPr>
          <a:lstStyle/>
          <a:p>
            <a:pPr algn="l">
              <a:lnSpc>
                <a:spcPts val="1344"/>
              </a:lnSpc>
            </a:pPr>
            <a:r>
              <a:rPr sz="1200" b="1">
                <a:solidFill>
                  <a:srgbClr val="FFFFFF"/>
                </a:solidFill>
                <a:latin typeface="Arial"/>
              </a:rPr>
              <a:t>Risk model</a:t>
            </a:r>
          </a:p>
        </p:txBody>
      </p:sp>
      <p:sp>
        <p:nvSpPr>
          <p:cNvPr id="36" name="TextBox 35"/>
          <p:cNvSpPr txBox="1"/>
          <p:nvPr/>
        </p:nvSpPr>
        <p:spPr>
          <a:xfrm>
            <a:off x="6616700" y="2413000"/>
            <a:ext cx="14478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49 features, random forest, calibrated probability</a:t>
            </a:r>
          </a:p>
        </p:txBody>
      </p:sp>
      <p:sp>
        <p:nvSpPr>
          <p:cNvPr id="37" name="TextBox 36"/>
          <p:cNvSpPr txBox="1"/>
          <p:nvPr/>
        </p:nvSpPr>
        <p:spPr>
          <a:xfrm>
            <a:off x="6616700" y="3136900"/>
            <a:ext cx="1473200" cy="152400"/>
          </a:xfrm>
          <a:prstGeom prst="rect">
            <a:avLst/>
          </a:prstGeom>
          <a:noFill/>
        </p:spPr>
        <p:txBody>
          <a:bodyPr wrap="square" lIns="0" rIns="0" tIns="0" bIns="0" anchor="t">
            <a:spAutoFit/>
          </a:bodyPr>
          <a:lstStyle/>
          <a:p>
            <a:pPr algn="l">
              <a:lnSpc>
                <a:spcPts val="976"/>
              </a:lnSpc>
            </a:pPr>
            <a:r>
              <a:rPr sz="800" b="0">
                <a:solidFill>
                  <a:srgbClr val="7C8FB5"/>
                </a:solidFill>
                <a:latin typeface="Courier New"/>
              </a:rPr>
              <a:t>risk_predictor</a:t>
            </a:r>
          </a:p>
        </p:txBody>
      </p:sp>
      <p:sp>
        <p:nvSpPr>
          <p:cNvPr id="38" name="Rounded Rectangle 37"/>
          <p:cNvSpPr/>
          <p:nvPr/>
        </p:nvSpPr>
        <p:spPr>
          <a:xfrm>
            <a:off x="8509000" y="1905000"/>
            <a:ext cx="1625600" cy="1422400"/>
          </a:xfrm>
          <a:prstGeom prst="roundRect">
            <a:avLst>
              <a:gd name="adj" fmla="val 7142"/>
            </a:avLst>
          </a:prstGeom>
          <a:solidFill>
            <a:srgbClr val="14294F"/>
          </a:solidFill>
          <a:ln w="1397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509000" y="2006600"/>
            <a:ext cx="44450" cy="12192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48700" y="1993900"/>
            <a:ext cx="1447800" cy="406400"/>
          </a:xfrm>
          <a:prstGeom prst="rect">
            <a:avLst/>
          </a:prstGeom>
          <a:noFill/>
        </p:spPr>
        <p:txBody>
          <a:bodyPr wrap="square" lIns="0" rIns="0" tIns="0" bIns="0" anchor="t">
            <a:spAutoFit/>
          </a:bodyPr>
          <a:lstStyle/>
          <a:p>
            <a:pPr algn="l">
              <a:lnSpc>
                <a:spcPts val="1344"/>
              </a:lnSpc>
            </a:pPr>
            <a:r>
              <a:rPr sz="1200" b="1">
                <a:solidFill>
                  <a:srgbClr val="FFFFFF"/>
                </a:solidFill>
                <a:latin typeface="Arial"/>
              </a:rPr>
              <a:t>Alert engine</a:t>
            </a:r>
          </a:p>
        </p:txBody>
      </p:sp>
      <p:sp>
        <p:nvSpPr>
          <p:cNvPr id="41" name="TextBox 40"/>
          <p:cNvSpPr txBox="1"/>
          <p:nvPr/>
        </p:nvSpPr>
        <p:spPr>
          <a:xfrm>
            <a:off x="8648700" y="2413000"/>
            <a:ext cx="14478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grounded text, stated uncertainty, priority</a:t>
            </a:r>
          </a:p>
        </p:txBody>
      </p:sp>
      <p:sp>
        <p:nvSpPr>
          <p:cNvPr id="42" name="TextBox 41"/>
          <p:cNvSpPr txBox="1"/>
          <p:nvPr/>
        </p:nvSpPr>
        <p:spPr>
          <a:xfrm>
            <a:off x="8648700" y="3136900"/>
            <a:ext cx="1473200" cy="152400"/>
          </a:xfrm>
          <a:prstGeom prst="rect">
            <a:avLst/>
          </a:prstGeom>
          <a:noFill/>
        </p:spPr>
        <p:txBody>
          <a:bodyPr wrap="square" lIns="0" rIns="0" tIns="0" bIns="0" anchor="t">
            <a:spAutoFit/>
          </a:bodyPr>
          <a:lstStyle/>
          <a:p>
            <a:pPr algn="l">
              <a:lnSpc>
                <a:spcPts val="976"/>
              </a:lnSpc>
            </a:pPr>
            <a:r>
              <a:rPr sz="800" b="0">
                <a:solidFill>
                  <a:srgbClr val="7C8FB5"/>
                </a:solidFill>
                <a:latin typeface="Courier New"/>
              </a:rPr>
              <a:t>alert_engine</a:t>
            </a:r>
          </a:p>
        </p:txBody>
      </p:sp>
      <p:sp>
        <p:nvSpPr>
          <p:cNvPr id="43" name="Rounded Rectangle 42"/>
          <p:cNvSpPr/>
          <p:nvPr/>
        </p:nvSpPr>
        <p:spPr>
          <a:xfrm>
            <a:off x="2413000" y="3886200"/>
            <a:ext cx="1625600" cy="1422400"/>
          </a:xfrm>
          <a:prstGeom prst="roundRect">
            <a:avLst>
              <a:gd name="adj" fmla="val 7142"/>
            </a:avLst>
          </a:prstGeom>
          <a:solidFill>
            <a:srgbClr val="14294F"/>
          </a:solidFill>
          <a:ln w="1397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413000" y="3987800"/>
            <a:ext cx="44450" cy="12192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52700" y="3975100"/>
            <a:ext cx="1447800" cy="406400"/>
          </a:xfrm>
          <a:prstGeom prst="rect">
            <a:avLst/>
          </a:prstGeom>
          <a:noFill/>
        </p:spPr>
        <p:txBody>
          <a:bodyPr wrap="square" lIns="0" rIns="0" tIns="0" bIns="0" anchor="t">
            <a:spAutoFit/>
          </a:bodyPr>
          <a:lstStyle/>
          <a:p>
            <a:pPr algn="l">
              <a:lnSpc>
                <a:spcPts val="1344"/>
              </a:lnSpc>
            </a:pPr>
            <a:r>
              <a:rPr sz="1200" b="1">
                <a:solidFill>
                  <a:srgbClr val="FFFFFF"/>
                </a:solidFill>
                <a:latin typeface="Arial"/>
              </a:rPr>
              <a:t>Event processor</a:t>
            </a:r>
          </a:p>
        </p:txBody>
      </p:sp>
      <p:sp>
        <p:nvSpPr>
          <p:cNvPr id="46" name="TextBox 45"/>
          <p:cNvSpPr txBox="1"/>
          <p:nvPr/>
        </p:nvSpPr>
        <p:spPr>
          <a:xfrm>
            <a:off x="2552700" y="4394200"/>
            <a:ext cx="14478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idempotent, event vs ingest time, timers, micro-batches</a:t>
            </a:r>
          </a:p>
        </p:txBody>
      </p:sp>
      <p:sp>
        <p:nvSpPr>
          <p:cNvPr id="47" name="TextBox 46"/>
          <p:cNvSpPr txBox="1"/>
          <p:nvPr/>
        </p:nvSpPr>
        <p:spPr>
          <a:xfrm>
            <a:off x="2552700" y="5118100"/>
            <a:ext cx="1473200" cy="152400"/>
          </a:xfrm>
          <a:prstGeom prst="rect">
            <a:avLst/>
          </a:prstGeom>
          <a:noFill/>
        </p:spPr>
        <p:txBody>
          <a:bodyPr wrap="square" lIns="0" rIns="0" tIns="0" bIns="0" anchor="t">
            <a:spAutoFit/>
          </a:bodyPr>
          <a:lstStyle/>
          <a:p>
            <a:pPr algn="l">
              <a:lnSpc>
                <a:spcPts val="976"/>
              </a:lnSpc>
            </a:pPr>
            <a:r>
              <a:rPr sz="800" b="0">
                <a:solidFill>
                  <a:srgbClr val="7C8FB5"/>
                </a:solidFill>
                <a:latin typeface="Courier New"/>
              </a:rPr>
              <a:t>event_processor</a:t>
            </a:r>
          </a:p>
        </p:txBody>
      </p:sp>
      <p:sp>
        <p:nvSpPr>
          <p:cNvPr id="48" name="Rounded Rectangle 47"/>
          <p:cNvSpPr/>
          <p:nvPr/>
        </p:nvSpPr>
        <p:spPr>
          <a:xfrm>
            <a:off x="4445000" y="3886200"/>
            <a:ext cx="1625600" cy="1422400"/>
          </a:xfrm>
          <a:prstGeom prst="roundRect">
            <a:avLst>
              <a:gd name="adj" fmla="val 7142"/>
            </a:avLst>
          </a:prstGeom>
          <a:solidFill>
            <a:srgbClr val="14294F"/>
          </a:solidFill>
          <a:ln w="1397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445000" y="3987800"/>
            <a:ext cx="44450" cy="12192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84700" y="3975100"/>
            <a:ext cx="1447800" cy="406400"/>
          </a:xfrm>
          <a:prstGeom prst="rect">
            <a:avLst/>
          </a:prstGeom>
          <a:noFill/>
        </p:spPr>
        <p:txBody>
          <a:bodyPr wrap="square" lIns="0" rIns="0" tIns="0" bIns="0" anchor="t">
            <a:spAutoFit/>
          </a:bodyPr>
          <a:lstStyle/>
          <a:p>
            <a:pPr algn="l">
              <a:lnSpc>
                <a:spcPts val="1344"/>
              </a:lnSpc>
            </a:pPr>
            <a:r>
              <a:rPr sz="1200" b="1">
                <a:solidFill>
                  <a:srgbClr val="FFFFFF"/>
                </a:solidFill>
                <a:latin typeface="Arial"/>
              </a:rPr>
              <a:t>SQLite (WAL)</a:t>
            </a:r>
          </a:p>
        </p:txBody>
      </p:sp>
      <p:sp>
        <p:nvSpPr>
          <p:cNvPr id="51" name="TextBox 50"/>
          <p:cNvSpPr txBox="1"/>
          <p:nvPr/>
        </p:nvSpPr>
        <p:spPr>
          <a:xfrm>
            <a:off x="4584700" y="4394200"/>
            <a:ext cx="14478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events, transitions, alerts; rebuild from log</a:t>
            </a:r>
          </a:p>
        </p:txBody>
      </p:sp>
      <p:sp>
        <p:nvSpPr>
          <p:cNvPr id="52" name="Rounded Rectangle 51"/>
          <p:cNvSpPr/>
          <p:nvPr/>
        </p:nvSpPr>
        <p:spPr>
          <a:xfrm>
            <a:off x="6477000" y="3886200"/>
            <a:ext cx="1625600" cy="1422400"/>
          </a:xfrm>
          <a:prstGeom prst="roundRect">
            <a:avLst>
              <a:gd name="adj" fmla="val 7142"/>
            </a:avLst>
          </a:prstGeom>
          <a:solidFill>
            <a:srgbClr val="14294F"/>
          </a:solidFill>
          <a:ln w="1397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77000" y="3987800"/>
            <a:ext cx="44450" cy="12192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616700" y="3975100"/>
            <a:ext cx="1447800" cy="406400"/>
          </a:xfrm>
          <a:prstGeom prst="rect">
            <a:avLst/>
          </a:prstGeom>
          <a:noFill/>
        </p:spPr>
        <p:txBody>
          <a:bodyPr wrap="square" lIns="0" rIns="0" tIns="0" bIns="0" anchor="t">
            <a:spAutoFit/>
          </a:bodyPr>
          <a:lstStyle/>
          <a:p>
            <a:pPr algn="l">
              <a:lnSpc>
                <a:spcPts val="1344"/>
              </a:lnSpc>
            </a:pPr>
            <a:r>
              <a:rPr sz="1200" b="1">
                <a:solidFill>
                  <a:srgbClr val="FFFFFF"/>
                </a:solidFill>
                <a:latin typeface="Arial"/>
              </a:rPr>
              <a:t>Priority score</a:t>
            </a:r>
          </a:p>
        </p:txBody>
      </p:sp>
      <p:sp>
        <p:nvSpPr>
          <p:cNvPr id="55" name="TextBox 54"/>
          <p:cNvSpPr txBox="1"/>
          <p:nvPr/>
        </p:nvSpPr>
        <p:spPr>
          <a:xfrm>
            <a:off x="6616700" y="4394200"/>
            <a:ext cx="14478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risk x urgency x unresolved dependencies</a:t>
            </a:r>
          </a:p>
        </p:txBody>
      </p:sp>
      <p:sp>
        <p:nvSpPr>
          <p:cNvPr id="56" name="Rounded Rectangle 55"/>
          <p:cNvSpPr/>
          <p:nvPr/>
        </p:nvSpPr>
        <p:spPr>
          <a:xfrm>
            <a:off x="8509000" y="3886200"/>
            <a:ext cx="1625600" cy="1422400"/>
          </a:xfrm>
          <a:prstGeom prst="roundRect">
            <a:avLst>
              <a:gd name="adj" fmla="val 7142"/>
            </a:avLst>
          </a:prstGeom>
          <a:solidFill>
            <a:srgbClr val="14294F"/>
          </a:solidFill>
          <a:ln w="1397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509000" y="3987800"/>
            <a:ext cx="44450" cy="12192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48700" y="3975100"/>
            <a:ext cx="1447800" cy="406400"/>
          </a:xfrm>
          <a:prstGeom prst="rect">
            <a:avLst/>
          </a:prstGeom>
          <a:noFill/>
        </p:spPr>
        <p:txBody>
          <a:bodyPr wrap="square" lIns="0" rIns="0" tIns="0" bIns="0" anchor="t">
            <a:spAutoFit/>
          </a:bodyPr>
          <a:lstStyle/>
          <a:p>
            <a:pPr algn="l">
              <a:lnSpc>
                <a:spcPts val="1344"/>
              </a:lnSpc>
            </a:pPr>
            <a:r>
              <a:rPr sz="1200" b="1">
                <a:solidFill>
                  <a:srgbClr val="FFFFFF"/>
                </a:solidFill>
                <a:latin typeface="Arial"/>
              </a:rPr>
              <a:t>Audit trail</a:t>
            </a:r>
          </a:p>
        </p:txBody>
      </p:sp>
      <p:sp>
        <p:nvSpPr>
          <p:cNvPr id="59" name="TextBox 58"/>
          <p:cNvSpPr txBox="1"/>
          <p:nvPr/>
        </p:nvSpPr>
        <p:spPr>
          <a:xfrm>
            <a:off x="8648700" y="4394200"/>
            <a:ext cx="14478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every state change with rule and evidence</a:t>
            </a:r>
          </a:p>
        </p:txBody>
      </p:sp>
      <p:sp>
        <p:nvSpPr>
          <p:cNvPr id="60" name="TextBox 59"/>
          <p:cNvSpPr txBox="1"/>
          <p:nvPr/>
        </p:nvSpPr>
        <p:spPr>
          <a:xfrm>
            <a:off x="10541000" y="1625600"/>
            <a:ext cx="1295400" cy="177800"/>
          </a:xfrm>
          <a:prstGeom prst="rect">
            <a:avLst/>
          </a:prstGeom>
          <a:noFill/>
        </p:spPr>
        <p:txBody>
          <a:bodyPr wrap="square" lIns="0" rIns="0" tIns="0" bIns="0" anchor="t">
            <a:spAutoFit/>
          </a:bodyPr>
          <a:lstStyle/>
          <a:p>
            <a:pPr algn="l">
              <a:lnSpc>
                <a:spcPts val="1159"/>
              </a:lnSpc>
            </a:pPr>
            <a:r>
              <a:rPr sz="950" b="1">
                <a:solidFill>
                  <a:srgbClr val="B4C2DE"/>
                </a:solidFill>
                <a:latin typeface="Arial"/>
              </a:rPr>
              <a:t>OUTPUTS</a:t>
            </a:r>
          </a:p>
        </p:txBody>
      </p:sp>
      <p:sp>
        <p:nvSpPr>
          <p:cNvPr id="61" name="Rounded Rectangle 60"/>
          <p:cNvSpPr/>
          <p:nvPr/>
        </p:nvSpPr>
        <p:spPr>
          <a:xfrm>
            <a:off x="10541000" y="1905000"/>
            <a:ext cx="1270000" cy="1422400"/>
          </a:xfrm>
          <a:prstGeom prst="roundRect">
            <a:avLst>
              <a:gd name="adj" fmla="val 8000"/>
            </a:avLst>
          </a:prstGeom>
          <a:solidFill>
            <a:srgbClr val="14294F"/>
          </a:solidFill>
          <a:ln w="13970">
            <a:solidFill>
              <a:srgbClr val="42BE65">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541000" y="2006600"/>
            <a:ext cx="44450" cy="1219200"/>
          </a:xfrm>
          <a:prstGeom prst="rect">
            <a:avLst/>
          </a:prstGeom>
          <a:solidFill>
            <a:srgbClr val="42BE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80700" y="1993900"/>
            <a:ext cx="1092200" cy="406400"/>
          </a:xfrm>
          <a:prstGeom prst="rect">
            <a:avLst/>
          </a:prstGeom>
          <a:noFill/>
        </p:spPr>
        <p:txBody>
          <a:bodyPr wrap="square" lIns="0" rIns="0" tIns="0" bIns="0" anchor="t">
            <a:spAutoFit/>
          </a:bodyPr>
          <a:lstStyle/>
          <a:p>
            <a:pPr algn="l">
              <a:lnSpc>
                <a:spcPts val="1288"/>
              </a:lnSpc>
            </a:pPr>
            <a:r>
              <a:rPr sz="1150" b="1">
                <a:solidFill>
                  <a:srgbClr val="FFFFFF"/>
                </a:solidFill>
                <a:latin typeface="Arial"/>
              </a:rPr>
              <a:t>Alert feed</a:t>
            </a:r>
          </a:p>
        </p:txBody>
      </p:sp>
      <p:sp>
        <p:nvSpPr>
          <p:cNvPr id="64" name="TextBox 63"/>
          <p:cNvSpPr txBox="1"/>
          <p:nvPr/>
        </p:nvSpPr>
        <p:spPr>
          <a:xfrm>
            <a:off x="10680700" y="2413000"/>
            <a:ext cx="10922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for human review</a:t>
            </a:r>
          </a:p>
        </p:txBody>
      </p:sp>
      <p:sp>
        <p:nvSpPr>
          <p:cNvPr id="65" name="Rounded Rectangle 64"/>
          <p:cNvSpPr/>
          <p:nvPr/>
        </p:nvSpPr>
        <p:spPr>
          <a:xfrm>
            <a:off x="10541000" y="3886200"/>
            <a:ext cx="1270000" cy="1422400"/>
          </a:xfrm>
          <a:prstGeom prst="roundRect">
            <a:avLst>
              <a:gd name="adj" fmla="val 8000"/>
            </a:avLst>
          </a:prstGeom>
          <a:solidFill>
            <a:srgbClr val="14294F"/>
          </a:solidFill>
          <a:ln w="13970">
            <a:solidFill>
              <a:srgbClr val="42BE65">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541000" y="3987800"/>
            <a:ext cx="44450" cy="1219200"/>
          </a:xfrm>
          <a:prstGeom prst="rect">
            <a:avLst/>
          </a:prstGeom>
          <a:solidFill>
            <a:srgbClr val="42BE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680700" y="3975100"/>
            <a:ext cx="1092200" cy="406400"/>
          </a:xfrm>
          <a:prstGeom prst="rect">
            <a:avLst/>
          </a:prstGeom>
          <a:noFill/>
        </p:spPr>
        <p:txBody>
          <a:bodyPr wrap="square" lIns="0" rIns="0" tIns="0" bIns="0" anchor="t">
            <a:spAutoFit/>
          </a:bodyPr>
          <a:lstStyle/>
          <a:p>
            <a:pPr algn="l">
              <a:lnSpc>
                <a:spcPts val="1288"/>
              </a:lnSpc>
            </a:pPr>
            <a:r>
              <a:rPr sz="1150" b="1">
                <a:solidFill>
                  <a:srgbClr val="FFFFFF"/>
                </a:solidFill>
                <a:latin typeface="Arial"/>
              </a:rPr>
              <a:t>Notebook demo</a:t>
            </a:r>
          </a:p>
        </p:txBody>
      </p:sp>
      <p:sp>
        <p:nvSpPr>
          <p:cNvPr id="68" name="TextBox 67"/>
          <p:cNvSpPr txBox="1"/>
          <p:nvPr/>
        </p:nvSpPr>
        <p:spPr>
          <a:xfrm>
            <a:off x="10680700" y="4394200"/>
            <a:ext cx="1092200" cy="863600"/>
          </a:xfrm>
          <a:prstGeom prst="rect">
            <a:avLst/>
          </a:prstGeom>
          <a:noFill/>
        </p:spPr>
        <p:txBody>
          <a:bodyPr wrap="square" lIns="0" rIns="0" tIns="0" bIns="0" anchor="t">
            <a:spAutoFit/>
          </a:bodyPr>
          <a:lstStyle/>
          <a:p>
            <a:pPr algn="l">
              <a:lnSpc>
                <a:spcPts val="1244"/>
              </a:lnSpc>
            </a:pPr>
            <a:r>
              <a:rPr sz="1019" b="0">
                <a:solidFill>
                  <a:srgbClr val="B4C2DE"/>
                </a:solidFill>
                <a:latin typeface="Arial"/>
              </a:rPr>
              <a:t>live storyboard</a:t>
            </a:r>
          </a:p>
        </p:txBody>
      </p:sp>
      <p:cxnSp>
        <p:nvCxnSpPr>
          <p:cNvPr id="69" name="Connector 68"/>
          <p:cNvCxnSpPr/>
          <p:nvPr/>
        </p:nvCxnSpPr>
        <p:spPr>
          <a:xfrm>
            <a:off x="2006600" y="2413000"/>
            <a:ext cx="4064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038600" y="2413000"/>
            <a:ext cx="4064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070600" y="2413000"/>
            <a:ext cx="4064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102600" y="2413000"/>
            <a:ext cx="4064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134600" y="2413000"/>
            <a:ext cx="4064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2006600" y="4394200"/>
            <a:ext cx="4064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038600" y="4902200"/>
            <a:ext cx="4064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038600" y="4267200"/>
            <a:ext cx="203200" cy="0"/>
          </a:xfrm>
          <a:prstGeom prst="line">
            <a:avLst/>
          </a:prstGeom>
          <a:ln w="22860">
            <a:solidFill>
              <a:srgbClr val="33B1FF"/>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241800" y="2971800"/>
            <a:ext cx="0" cy="1295400"/>
          </a:xfrm>
          <a:prstGeom prst="line">
            <a:avLst/>
          </a:prstGeom>
          <a:ln w="22860">
            <a:solidFill>
              <a:srgbClr val="33B1FF"/>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241800" y="2971800"/>
            <a:ext cx="2032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985000" y="3327400"/>
            <a:ext cx="0" cy="55880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102600" y="4267200"/>
            <a:ext cx="203200" cy="0"/>
          </a:xfrm>
          <a:prstGeom prst="line">
            <a:avLst/>
          </a:prstGeom>
          <a:ln w="22860">
            <a:solidFill>
              <a:srgbClr val="33B1FF"/>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8305800" y="2971800"/>
            <a:ext cx="0" cy="1295400"/>
          </a:xfrm>
          <a:prstGeom prst="line">
            <a:avLst/>
          </a:prstGeom>
          <a:ln w="22860">
            <a:solidFill>
              <a:srgbClr val="33B1FF"/>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8305800" y="2971800"/>
            <a:ext cx="2032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321800" y="3327400"/>
            <a:ext cx="0" cy="55880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134600" y="4394200"/>
            <a:ext cx="4064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381000" y="5486400"/>
            <a:ext cx="1803400" cy="457200"/>
          </a:xfrm>
          <a:prstGeom prst="rect">
            <a:avLst/>
          </a:prstGeom>
          <a:noFill/>
        </p:spPr>
        <p:txBody>
          <a:bodyPr wrap="square" lIns="0" rIns="0" tIns="0" bIns="0" anchor="t">
            <a:spAutoFit/>
          </a:bodyPr>
          <a:lstStyle/>
          <a:p>
            <a:pPr algn="l">
              <a:lnSpc>
                <a:spcPts val="1152"/>
              </a:lnSpc>
            </a:pPr>
            <a:r>
              <a:rPr sz="960" b="1">
                <a:solidFill>
                  <a:srgbClr val="F1C21B"/>
                </a:solidFill>
                <a:latin typeface="Arial"/>
              </a:rPr>
              <a:t>LLM output is validated and grounded; it never sets a state.</a:t>
            </a:r>
          </a:p>
        </p:txBody>
      </p:sp>
      <p:sp>
        <p:nvSpPr>
          <p:cNvPr id="86" name="TextBox 85"/>
          <p:cNvSpPr txBox="1"/>
          <p:nvPr/>
        </p:nvSpPr>
        <p:spPr>
          <a:xfrm>
            <a:off x="508000" y="6096000"/>
            <a:ext cx="11201400" cy="279400"/>
          </a:xfrm>
          <a:prstGeom prst="rect">
            <a:avLst/>
          </a:prstGeom>
          <a:noFill/>
        </p:spPr>
        <p:txBody>
          <a:bodyPr wrap="square" lIns="0" rIns="0" tIns="0" bIns="0" anchor="t">
            <a:spAutoFit/>
          </a:bodyPr>
          <a:lstStyle/>
          <a:p>
            <a:pPr algn="ctr">
              <a:lnSpc>
                <a:spcPts val="1342"/>
              </a:lnSpc>
            </a:pPr>
            <a:r>
              <a:rPr sz="1100" b="0">
                <a:solidFill>
                  <a:srgbClr val="B4C2DE"/>
                </a:solidFill>
                <a:latin typeface="Arial"/>
              </a:rPr>
              <a:t>Every box is code in the repository (src/) and was executed on the VM: clean-kernel run of the notebook, 56 code cells, 0 errors.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2000" cy="6858000"/>
          </a:xfrm>
          <a:prstGeom prst="rect">
            <a:avLst/>
          </a:prstGeom>
          <a:gradFill rotWithShape="1">
            <a:gsLst>
              <a:gs pos="0">
                <a:srgbClr val="060B17"/>
              </a:gs>
              <a:gs pos="100000">
                <a:srgbClr val="0E1C3A"/>
              </a:gs>
            </a:gsLst>
            <a:lin scaled="0" ang="18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71000" y="76200"/>
            <a:ext cx="2540000" cy="2540000"/>
          </a:xfrm>
          <a:prstGeom prst="ellipse">
            <a:avLst/>
          </a:prstGeom>
          <a:solidFill>
            <a:srgbClr val="0F62FE">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33000" y="457200"/>
            <a:ext cx="1397000" cy="1397000"/>
          </a:xfrm>
          <a:prstGeom prst="ellipse">
            <a:avLst/>
          </a:prstGeom>
          <a:solidFill>
            <a:srgbClr val="33B1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393700"/>
            <a:ext cx="50800" cy="1651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368300"/>
            <a:ext cx="6375400" cy="228600"/>
          </a:xfrm>
          <a:prstGeom prst="rect">
            <a:avLst/>
          </a:prstGeom>
          <a:noFill/>
        </p:spPr>
        <p:txBody>
          <a:bodyPr wrap="square" lIns="0" rIns="0" tIns="0" bIns="0" anchor="t">
            <a:spAutoFit/>
          </a:bodyPr>
          <a:lstStyle/>
          <a:p>
            <a:pPr algn="l">
              <a:lnSpc>
                <a:spcPts val="1403"/>
              </a:lnSpc>
            </a:pPr>
            <a:r>
              <a:rPr sz="1150" b="1">
                <a:solidFill>
                  <a:srgbClr val="33B1FF"/>
                </a:solidFill>
                <a:latin typeface="Arial"/>
              </a:rPr>
              <a:t>DATASET &amp; MACHINE LEARNING</a:t>
            </a:r>
          </a:p>
        </p:txBody>
      </p:sp>
      <p:sp>
        <p:nvSpPr>
          <p:cNvPr id="7" name="TextBox 6"/>
          <p:cNvSpPr txBox="1"/>
          <p:nvPr/>
        </p:nvSpPr>
        <p:spPr>
          <a:xfrm>
            <a:off x="508000" y="660400"/>
            <a:ext cx="11201400" cy="939800"/>
          </a:xfrm>
          <a:prstGeom prst="rect">
            <a:avLst/>
          </a:prstGeom>
          <a:noFill/>
        </p:spPr>
        <p:txBody>
          <a:bodyPr wrap="square" lIns="0" rIns="0" tIns="0" bIns="0" anchor="t">
            <a:spAutoFit/>
          </a:bodyPr>
          <a:lstStyle/>
          <a:p>
            <a:pPr algn="l">
              <a:lnSpc>
                <a:spcPts val="3247"/>
              </a:lnSpc>
            </a:pPr>
            <a:r>
              <a:rPr sz="2800" b="1">
                <a:solidFill>
                  <a:srgbClr val="FFFFFF"/>
                </a:solidFill>
                <a:latin typeface="Arial"/>
              </a:rPr>
              <a:t>Leakage-safe by construction, honest about labels</a:t>
            </a:r>
          </a:p>
        </p:txBody>
      </p:sp>
      <p:cxnSp>
        <p:nvCxnSpPr>
          <p:cNvPr id="8" name="Connector 7"/>
          <p:cNvCxnSpPr/>
          <p:nvPr/>
        </p:nvCxnSpPr>
        <p:spPr>
          <a:xfrm>
            <a:off x="508000" y="6451600"/>
            <a:ext cx="11176000" cy="0"/>
          </a:xfrm>
          <a:prstGeom prst="line">
            <a:avLst/>
          </a:prstGeom>
          <a:ln w="8890">
            <a:solidFill>
              <a:srgbClr val="2A4A86">
                <a:alpha val="70000"/>
              </a:srgbClr>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6527800"/>
            <a:ext cx="6375400" cy="177800"/>
          </a:xfrm>
          <a:prstGeom prst="rect">
            <a:avLst/>
          </a:prstGeom>
          <a:noFill/>
        </p:spPr>
        <p:txBody>
          <a:bodyPr wrap="square" lIns="0" rIns="0" tIns="0" bIns="0" anchor="t">
            <a:spAutoFit/>
          </a:bodyPr>
          <a:lstStyle/>
          <a:p>
            <a:pPr algn="l">
              <a:lnSpc>
                <a:spcPts val="1037"/>
              </a:lnSpc>
            </a:pPr>
            <a:r>
              <a:rPr sz="850" b="0">
                <a:solidFill>
                  <a:srgbClr val="7C8FB5"/>
                </a:solidFill>
                <a:latin typeface="Arial"/>
              </a:rPr>
              <a:t>MedRelay  |  IBM Z Datathon 2026  |  synthetic data only, decision support for qualified human review</a:t>
            </a:r>
          </a:p>
        </p:txBody>
      </p:sp>
      <p:sp>
        <p:nvSpPr>
          <p:cNvPr id="10" name="TextBox 9"/>
          <p:cNvSpPr txBox="1"/>
          <p:nvPr/>
        </p:nvSpPr>
        <p:spPr>
          <a:xfrm>
            <a:off x="10668000" y="6527800"/>
            <a:ext cx="1041400" cy="177800"/>
          </a:xfrm>
          <a:prstGeom prst="rect">
            <a:avLst/>
          </a:prstGeom>
          <a:noFill/>
        </p:spPr>
        <p:txBody>
          <a:bodyPr wrap="square" lIns="0" rIns="0" tIns="0" bIns="0" anchor="t">
            <a:spAutoFit/>
          </a:bodyPr>
          <a:lstStyle/>
          <a:p>
            <a:pPr algn="r">
              <a:lnSpc>
                <a:spcPts val="1098"/>
              </a:lnSpc>
            </a:pPr>
            <a:r>
              <a:rPr sz="900" b="0">
                <a:solidFill>
                  <a:srgbClr val="7C8FB5"/>
                </a:solidFill>
                <a:latin typeface="Arial"/>
              </a:rPr>
              <a:t>5 / 10</a:t>
            </a:r>
          </a:p>
        </p:txBody>
      </p:sp>
      <p:sp>
        <p:nvSpPr>
          <p:cNvPr id="11" name="Rounded Rectangle 10"/>
          <p:cNvSpPr/>
          <p:nvPr/>
        </p:nvSpPr>
        <p:spPr>
          <a:xfrm>
            <a:off x="508000" y="1498600"/>
            <a:ext cx="2133600" cy="863600"/>
          </a:xfrm>
          <a:prstGeom prst="roundRect">
            <a:avLst>
              <a:gd name="adj" fmla="val 13235"/>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 y="1574800"/>
            <a:ext cx="1955800" cy="431800"/>
          </a:xfrm>
          <a:prstGeom prst="rect">
            <a:avLst/>
          </a:prstGeom>
          <a:noFill/>
        </p:spPr>
        <p:txBody>
          <a:bodyPr wrap="square" lIns="0" rIns="0" tIns="0" bIns="0" anchor="t">
            <a:spAutoFit/>
          </a:bodyPr>
          <a:lstStyle/>
          <a:p>
            <a:pPr algn="l">
              <a:lnSpc>
                <a:spcPts val="2520"/>
              </a:lnSpc>
            </a:pPr>
            <a:r>
              <a:rPr sz="2400" b="1">
                <a:solidFill>
                  <a:srgbClr val="33B1FF"/>
                </a:solidFill>
                <a:latin typeface="Arial"/>
              </a:rPr>
              <a:t>3,284</a:t>
            </a:r>
          </a:p>
        </p:txBody>
      </p:sp>
      <p:sp>
        <p:nvSpPr>
          <p:cNvPr id="13" name="TextBox 12"/>
          <p:cNvSpPr txBox="1"/>
          <p:nvPr/>
        </p:nvSpPr>
        <p:spPr>
          <a:xfrm>
            <a:off x="635000" y="2006600"/>
            <a:ext cx="1981200" cy="330200"/>
          </a:xfrm>
          <a:prstGeom prst="rect">
            <a:avLst/>
          </a:prstGeom>
          <a:noFill/>
        </p:spPr>
        <p:txBody>
          <a:bodyPr wrap="square" lIns="0" rIns="0" tIns="0" bIns="0" anchor="t">
            <a:spAutoFit/>
          </a:bodyPr>
          <a:lstStyle/>
          <a:p>
            <a:pPr algn="l">
              <a:lnSpc>
                <a:spcPts val="1150"/>
              </a:lnSpc>
            </a:pPr>
            <a:r>
              <a:rPr sz="1000" b="0">
                <a:solidFill>
                  <a:srgbClr val="B4C2DE"/>
                </a:solidFill>
                <a:latin typeface="Arial"/>
              </a:rPr>
              <a:t>patients</a:t>
            </a:r>
          </a:p>
        </p:txBody>
      </p:sp>
      <p:sp>
        <p:nvSpPr>
          <p:cNvPr id="14" name="Rounded Rectangle 13"/>
          <p:cNvSpPr/>
          <p:nvPr/>
        </p:nvSpPr>
        <p:spPr>
          <a:xfrm>
            <a:off x="2768600" y="1498600"/>
            <a:ext cx="2133600" cy="863600"/>
          </a:xfrm>
          <a:prstGeom prst="roundRect">
            <a:avLst>
              <a:gd name="adj" fmla="val 13235"/>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5600" y="1574800"/>
            <a:ext cx="1955800" cy="431800"/>
          </a:xfrm>
          <a:prstGeom prst="rect">
            <a:avLst/>
          </a:prstGeom>
          <a:noFill/>
        </p:spPr>
        <p:txBody>
          <a:bodyPr wrap="square" lIns="0" rIns="0" tIns="0" bIns="0" anchor="t">
            <a:spAutoFit/>
          </a:bodyPr>
          <a:lstStyle/>
          <a:p>
            <a:pPr algn="l">
              <a:lnSpc>
                <a:spcPts val="2520"/>
              </a:lnSpc>
            </a:pPr>
            <a:r>
              <a:rPr sz="2400" b="1">
                <a:solidFill>
                  <a:srgbClr val="33B1FF"/>
                </a:solidFill>
                <a:latin typeface="Arial"/>
              </a:rPr>
              <a:t>24,296</a:t>
            </a:r>
          </a:p>
        </p:txBody>
      </p:sp>
      <p:sp>
        <p:nvSpPr>
          <p:cNvPr id="16" name="TextBox 15"/>
          <p:cNvSpPr txBox="1"/>
          <p:nvPr/>
        </p:nvSpPr>
        <p:spPr>
          <a:xfrm>
            <a:off x="2895600" y="2006600"/>
            <a:ext cx="1981200" cy="330200"/>
          </a:xfrm>
          <a:prstGeom prst="rect">
            <a:avLst/>
          </a:prstGeom>
          <a:noFill/>
        </p:spPr>
        <p:txBody>
          <a:bodyPr wrap="square" lIns="0" rIns="0" tIns="0" bIns="0" anchor="t">
            <a:spAutoFit/>
          </a:bodyPr>
          <a:lstStyle/>
          <a:p>
            <a:pPr algn="l">
              <a:lnSpc>
                <a:spcPts val="1150"/>
              </a:lnSpc>
            </a:pPr>
            <a:r>
              <a:rPr sz="1000" b="0">
                <a:solidFill>
                  <a:srgbClr val="B4C2DE"/>
                </a:solidFill>
                <a:latin typeface="Arial"/>
              </a:rPr>
              <a:t>follow-up obligations</a:t>
            </a:r>
          </a:p>
        </p:txBody>
      </p:sp>
      <p:sp>
        <p:nvSpPr>
          <p:cNvPr id="17" name="Rounded Rectangle 16"/>
          <p:cNvSpPr/>
          <p:nvPr/>
        </p:nvSpPr>
        <p:spPr>
          <a:xfrm>
            <a:off x="5029200" y="1498600"/>
            <a:ext cx="2133600" cy="863600"/>
          </a:xfrm>
          <a:prstGeom prst="roundRect">
            <a:avLst>
              <a:gd name="adj" fmla="val 13235"/>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56200" y="1574800"/>
            <a:ext cx="1955800" cy="431800"/>
          </a:xfrm>
          <a:prstGeom prst="rect">
            <a:avLst/>
          </a:prstGeom>
          <a:noFill/>
        </p:spPr>
        <p:txBody>
          <a:bodyPr wrap="square" lIns="0" rIns="0" tIns="0" bIns="0" anchor="t">
            <a:spAutoFit/>
          </a:bodyPr>
          <a:lstStyle/>
          <a:p>
            <a:pPr algn="l">
              <a:lnSpc>
                <a:spcPts val="2520"/>
              </a:lnSpc>
            </a:pPr>
            <a:r>
              <a:rPr sz="2400" b="1">
                <a:solidFill>
                  <a:srgbClr val="33B1FF"/>
                </a:solidFill>
                <a:latin typeface="Arial"/>
              </a:rPr>
              <a:t>34,441</a:t>
            </a:r>
          </a:p>
        </p:txBody>
      </p:sp>
      <p:sp>
        <p:nvSpPr>
          <p:cNvPr id="19" name="TextBox 18"/>
          <p:cNvSpPr txBox="1"/>
          <p:nvPr/>
        </p:nvSpPr>
        <p:spPr>
          <a:xfrm>
            <a:off x="5156200" y="2006600"/>
            <a:ext cx="1981200" cy="330200"/>
          </a:xfrm>
          <a:prstGeom prst="rect">
            <a:avLst/>
          </a:prstGeom>
          <a:noFill/>
        </p:spPr>
        <p:txBody>
          <a:bodyPr wrap="square" lIns="0" rIns="0" tIns="0" bIns="0" anchor="t">
            <a:spAutoFit/>
          </a:bodyPr>
          <a:lstStyle/>
          <a:p>
            <a:pPr algn="l">
              <a:lnSpc>
                <a:spcPts val="1150"/>
              </a:lnSpc>
            </a:pPr>
            <a:r>
              <a:rPr sz="1000" b="0">
                <a:solidFill>
                  <a:srgbClr val="B4C2DE"/>
                </a:solidFill>
                <a:latin typeface="Arial"/>
              </a:rPr>
              <a:t>source events</a:t>
            </a:r>
          </a:p>
        </p:txBody>
      </p:sp>
      <p:sp>
        <p:nvSpPr>
          <p:cNvPr id="20" name="Rounded Rectangle 19"/>
          <p:cNvSpPr/>
          <p:nvPr/>
        </p:nvSpPr>
        <p:spPr>
          <a:xfrm>
            <a:off x="7289800" y="1498600"/>
            <a:ext cx="2133600" cy="863600"/>
          </a:xfrm>
          <a:prstGeom prst="roundRect">
            <a:avLst>
              <a:gd name="adj" fmla="val 13235"/>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16800" y="1574800"/>
            <a:ext cx="1955800" cy="431800"/>
          </a:xfrm>
          <a:prstGeom prst="rect">
            <a:avLst/>
          </a:prstGeom>
          <a:noFill/>
        </p:spPr>
        <p:txBody>
          <a:bodyPr wrap="square" lIns="0" rIns="0" tIns="0" bIns="0" anchor="t">
            <a:spAutoFit/>
          </a:bodyPr>
          <a:lstStyle/>
          <a:p>
            <a:pPr algn="l">
              <a:lnSpc>
                <a:spcPts val="2520"/>
              </a:lnSpc>
            </a:pPr>
            <a:r>
              <a:rPr sz="2400" b="1">
                <a:solidFill>
                  <a:srgbClr val="33B1FF"/>
                </a:solidFill>
                <a:latin typeface="Arial"/>
              </a:rPr>
              <a:t>10,002</a:t>
            </a:r>
          </a:p>
        </p:txBody>
      </p:sp>
      <p:sp>
        <p:nvSpPr>
          <p:cNvPr id="22" name="TextBox 21"/>
          <p:cNvSpPr txBox="1"/>
          <p:nvPr/>
        </p:nvSpPr>
        <p:spPr>
          <a:xfrm>
            <a:off x="7416800" y="2006600"/>
            <a:ext cx="1981200" cy="330200"/>
          </a:xfrm>
          <a:prstGeom prst="rect">
            <a:avLst/>
          </a:prstGeom>
          <a:noFill/>
        </p:spPr>
        <p:txBody>
          <a:bodyPr wrap="square" lIns="0" rIns="0" tIns="0" bIns="0" anchor="t">
            <a:spAutoFit/>
          </a:bodyPr>
          <a:lstStyle/>
          <a:p>
            <a:pPr algn="l">
              <a:lnSpc>
                <a:spcPts val="1150"/>
              </a:lnSpc>
            </a:pPr>
            <a:r>
              <a:rPr sz="1000" b="0">
                <a:solidFill>
                  <a:srgbClr val="B4C2DE"/>
                </a:solidFill>
                <a:latin typeface="Arial"/>
              </a:rPr>
              <a:t>action examples (weak labels)</a:t>
            </a:r>
          </a:p>
        </p:txBody>
      </p:sp>
      <p:sp>
        <p:nvSpPr>
          <p:cNvPr id="23" name="Rounded Rectangle 22"/>
          <p:cNvSpPr/>
          <p:nvPr/>
        </p:nvSpPr>
        <p:spPr>
          <a:xfrm>
            <a:off x="9550400" y="1498600"/>
            <a:ext cx="2133600" cy="863600"/>
          </a:xfrm>
          <a:prstGeom prst="roundRect">
            <a:avLst>
              <a:gd name="adj" fmla="val 13235"/>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77400" y="1574800"/>
            <a:ext cx="1955800" cy="431800"/>
          </a:xfrm>
          <a:prstGeom prst="rect">
            <a:avLst/>
          </a:prstGeom>
          <a:noFill/>
        </p:spPr>
        <p:txBody>
          <a:bodyPr wrap="square" lIns="0" rIns="0" tIns="0" bIns="0" anchor="t">
            <a:spAutoFit/>
          </a:bodyPr>
          <a:lstStyle/>
          <a:p>
            <a:pPr algn="l">
              <a:lnSpc>
                <a:spcPts val="2520"/>
              </a:lnSpc>
            </a:pPr>
            <a:r>
              <a:rPr sz="2400" b="1">
                <a:solidFill>
                  <a:srgbClr val="33B1FF"/>
                </a:solidFill>
                <a:latin typeface="Arial"/>
              </a:rPr>
              <a:t>110,521</a:t>
            </a:r>
          </a:p>
        </p:txBody>
      </p:sp>
      <p:sp>
        <p:nvSpPr>
          <p:cNvPr id="25" name="TextBox 24"/>
          <p:cNvSpPr txBox="1"/>
          <p:nvPr/>
        </p:nvSpPr>
        <p:spPr>
          <a:xfrm>
            <a:off x="9677400" y="2006600"/>
            <a:ext cx="1981200" cy="330200"/>
          </a:xfrm>
          <a:prstGeom prst="rect">
            <a:avLst/>
          </a:prstGeom>
          <a:noFill/>
        </p:spPr>
        <p:txBody>
          <a:bodyPr wrap="square" lIns="0" rIns="0" tIns="0" bIns="0" anchor="t">
            <a:spAutoFit/>
          </a:bodyPr>
          <a:lstStyle/>
          <a:p>
            <a:pPr algn="l">
              <a:lnSpc>
                <a:spcPts val="1150"/>
              </a:lnSpc>
            </a:pPr>
            <a:r>
              <a:rPr sz="1000" b="0">
                <a:solidFill>
                  <a:srgbClr val="B4C2DE"/>
                </a:solidFill>
                <a:latin typeface="Arial"/>
              </a:rPr>
              <a:t>real appointments (no-show)</a:t>
            </a:r>
          </a:p>
        </p:txBody>
      </p:sp>
      <p:sp>
        <p:nvSpPr>
          <p:cNvPr id="26" name="TextBox 25"/>
          <p:cNvSpPr txBox="1"/>
          <p:nvPr/>
        </p:nvSpPr>
        <p:spPr>
          <a:xfrm>
            <a:off x="508000" y="2438400"/>
            <a:ext cx="11201400" cy="203200"/>
          </a:xfrm>
          <a:prstGeom prst="rect">
            <a:avLst/>
          </a:prstGeom>
          <a:noFill/>
        </p:spPr>
        <p:txBody>
          <a:bodyPr wrap="square" lIns="0" rIns="0" tIns="0" bIns="0" anchor="t">
            <a:spAutoFit/>
          </a:bodyPr>
          <a:lstStyle/>
          <a:p>
            <a:pPr algn="l">
              <a:lnSpc>
                <a:spcPts val="1171"/>
              </a:lnSpc>
            </a:pPr>
            <a:r>
              <a:rPr sz="960" b="0">
                <a:solidFill>
                  <a:srgbClr val="7C8FB5"/>
                </a:solidFill>
                <a:latin typeface="Arial"/>
              </a:rPr>
              <a:t>Sources: Synthea, synthetic_hospital, MTS-Dialog, ACI-Bench (all synthetic or simulated) + Kaggle appointment no-shows (real, de-identified). Follow-up outcomes are simulated from event timelines.</a:t>
            </a:r>
          </a:p>
        </p:txBody>
      </p:sp>
      <p:sp>
        <p:nvSpPr>
          <p:cNvPr id="27" name="TextBox 26"/>
          <p:cNvSpPr txBox="1"/>
          <p:nvPr/>
        </p:nvSpPr>
        <p:spPr>
          <a:xfrm>
            <a:off x="508000" y="2768600"/>
            <a:ext cx="3835400" cy="177800"/>
          </a:xfrm>
          <a:prstGeom prst="rect">
            <a:avLst/>
          </a:prstGeom>
          <a:noFill/>
        </p:spPr>
        <p:txBody>
          <a:bodyPr wrap="square" lIns="0" rIns="0" tIns="0" bIns="0" anchor="t">
            <a:spAutoFit/>
          </a:bodyPr>
          <a:lstStyle/>
          <a:p>
            <a:pPr algn="l">
              <a:lnSpc>
                <a:spcPts val="1220"/>
              </a:lnSpc>
            </a:pPr>
            <a:r>
              <a:rPr sz="1000" b="1">
                <a:solidFill>
                  <a:srgbClr val="B4C2DE"/>
                </a:solidFill>
                <a:latin typeface="Arial"/>
              </a:rPr>
              <a:t>DATA PIPELINE</a:t>
            </a:r>
          </a:p>
        </p:txBody>
      </p:sp>
      <p:sp>
        <p:nvSpPr>
          <p:cNvPr id="28" name="Rounded Rectangle 27"/>
          <p:cNvSpPr/>
          <p:nvPr/>
        </p:nvSpPr>
        <p:spPr>
          <a:xfrm>
            <a:off x="508000" y="2997200"/>
            <a:ext cx="2565400" cy="889000"/>
          </a:xfrm>
          <a:prstGeom prst="roundRect">
            <a:avLst>
              <a:gd name="adj" fmla="val 11428"/>
            </a:avLst>
          </a:prstGeom>
          <a:solidFill>
            <a:srgbClr val="14294F"/>
          </a:solidFill>
          <a:ln w="12700">
            <a:solidFill>
              <a:srgbClr val="4589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2300" y="3086100"/>
            <a:ext cx="2413000" cy="228600"/>
          </a:xfrm>
          <a:prstGeom prst="rect">
            <a:avLst/>
          </a:prstGeom>
          <a:noFill/>
        </p:spPr>
        <p:txBody>
          <a:bodyPr wrap="square" lIns="0" rIns="0" tIns="0" bIns="0" anchor="t">
            <a:spAutoFit/>
          </a:bodyPr>
          <a:lstStyle/>
          <a:p>
            <a:pPr algn="l">
              <a:lnSpc>
                <a:spcPts val="1265"/>
              </a:lnSpc>
            </a:pPr>
            <a:r>
              <a:rPr sz="1150" b="1">
                <a:solidFill>
                  <a:srgbClr val="FFFFFF"/>
                </a:solidFill>
                <a:latin typeface="Arial"/>
              </a:rPr>
              <a:t>Canonical tables</a:t>
            </a:r>
          </a:p>
        </p:txBody>
      </p:sp>
      <p:sp>
        <p:nvSpPr>
          <p:cNvPr id="30" name="TextBox 29"/>
          <p:cNvSpPr txBox="1"/>
          <p:nvPr/>
        </p:nvSpPr>
        <p:spPr>
          <a:xfrm>
            <a:off x="622300" y="3340100"/>
            <a:ext cx="2413000" cy="533400"/>
          </a:xfrm>
          <a:prstGeom prst="rect">
            <a:avLst/>
          </a:prstGeom>
          <a:noFill/>
        </p:spPr>
        <p:txBody>
          <a:bodyPr wrap="square" lIns="0" rIns="0" tIns="0" bIns="0" anchor="t">
            <a:spAutoFit/>
          </a:bodyPr>
          <a:lstStyle/>
          <a:p>
            <a:pPr algn="l">
              <a:lnSpc>
                <a:spcPts val="1200"/>
              </a:lnSpc>
            </a:pPr>
            <a:r>
              <a:rPr sz="1000" b="0">
                <a:solidFill>
                  <a:srgbClr val="B4C2DE"/>
                </a:solidFill>
                <a:latin typeface="Arial"/>
              </a:rPr>
              <a:t>patients, encounters, notes, source events; SHA-256 checked</a:t>
            </a:r>
          </a:p>
        </p:txBody>
      </p:sp>
      <p:cxnSp>
        <p:nvCxnSpPr>
          <p:cNvPr id="31" name="Connector 30"/>
          <p:cNvCxnSpPr/>
          <p:nvPr/>
        </p:nvCxnSpPr>
        <p:spPr>
          <a:xfrm>
            <a:off x="3098800" y="3441700"/>
            <a:ext cx="254000" cy="0"/>
          </a:xfrm>
          <a:prstGeom prst="line">
            <a:avLst/>
          </a:prstGeom>
          <a:ln w="22860">
            <a:solidFill>
              <a:srgbClr val="4589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3378200" y="2997200"/>
            <a:ext cx="2565400" cy="889000"/>
          </a:xfrm>
          <a:prstGeom prst="roundRect">
            <a:avLst>
              <a:gd name="adj" fmla="val 11428"/>
            </a:avLst>
          </a:prstGeom>
          <a:solidFill>
            <a:srgbClr val="14294F"/>
          </a:solidFill>
          <a:ln w="12700">
            <a:solidFill>
              <a:srgbClr val="4589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92500" y="3086100"/>
            <a:ext cx="2413000" cy="228600"/>
          </a:xfrm>
          <a:prstGeom prst="rect">
            <a:avLst/>
          </a:prstGeom>
          <a:noFill/>
        </p:spPr>
        <p:txBody>
          <a:bodyPr wrap="square" lIns="0" rIns="0" tIns="0" bIns="0" anchor="t">
            <a:spAutoFit/>
          </a:bodyPr>
          <a:lstStyle/>
          <a:p>
            <a:pPr algn="l">
              <a:lnSpc>
                <a:spcPts val="1265"/>
              </a:lnSpc>
            </a:pPr>
            <a:r>
              <a:rPr sz="1150" b="1">
                <a:solidFill>
                  <a:srgbClr val="FFFFFF"/>
                </a:solidFill>
                <a:latin typeface="Arial"/>
              </a:rPr>
              <a:t>Scenario simulator</a:t>
            </a:r>
          </a:p>
        </p:txBody>
      </p:sp>
      <p:sp>
        <p:nvSpPr>
          <p:cNvPr id="34" name="TextBox 33"/>
          <p:cNvSpPr txBox="1"/>
          <p:nvPr/>
        </p:nvSpPr>
        <p:spPr>
          <a:xfrm>
            <a:off x="3492500" y="3340100"/>
            <a:ext cx="2413000" cy="533400"/>
          </a:xfrm>
          <a:prstGeom prst="rect">
            <a:avLst/>
          </a:prstGeom>
          <a:noFill/>
        </p:spPr>
        <p:txBody>
          <a:bodyPr wrap="square" lIns="0" rIns="0" tIns="0" bIns="0" anchor="t">
            <a:spAutoFit/>
          </a:bodyPr>
          <a:lstStyle/>
          <a:p>
            <a:pPr algn="l">
              <a:lnSpc>
                <a:spcPts val="1200"/>
              </a:lnSpc>
            </a:pPr>
            <a:r>
              <a:rPr sz="1000" b="0">
                <a:solidFill>
                  <a:srgbClr val="B4C2DE"/>
                </a:solidFill>
                <a:latin typeface="Arial"/>
              </a:rPr>
              <a:t>event-level timelines with documented gaps, late and missing evidence</a:t>
            </a:r>
          </a:p>
        </p:txBody>
      </p:sp>
      <p:cxnSp>
        <p:nvCxnSpPr>
          <p:cNvPr id="35" name="Connector 34"/>
          <p:cNvCxnSpPr/>
          <p:nvPr/>
        </p:nvCxnSpPr>
        <p:spPr>
          <a:xfrm>
            <a:off x="5969000" y="3441700"/>
            <a:ext cx="254000" cy="0"/>
          </a:xfrm>
          <a:prstGeom prst="line">
            <a:avLst/>
          </a:prstGeom>
          <a:ln w="22860">
            <a:solidFill>
              <a:srgbClr val="4589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248400" y="2997200"/>
            <a:ext cx="2565400" cy="889000"/>
          </a:xfrm>
          <a:prstGeom prst="roundRect">
            <a:avLst>
              <a:gd name="adj" fmla="val 11428"/>
            </a:avLst>
          </a:prstGeom>
          <a:solidFill>
            <a:srgbClr val="14294F"/>
          </a:solidFill>
          <a:ln w="12700">
            <a:solidFill>
              <a:srgbClr val="4589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62700" y="3086100"/>
            <a:ext cx="2413000" cy="228600"/>
          </a:xfrm>
          <a:prstGeom prst="rect">
            <a:avLst/>
          </a:prstGeom>
          <a:noFill/>
        </p:spPr>
        <p:txBody>
          <a:bodyPr wrap="square" lIns="0" rIns="0" tIns="0" bIns="0" anchor="t">
            <a:spAutoFit/>
          </a:bodyPr>
          <a:lstStyle/>
          <a:p>
            <a:pPr algn="l">
              <a:lnSpc>
                <a:spcPts val="1265"/>
              </a:lnSpc>
            </a:pPr>
            <a:r>
              <a:rPr sz="1150" b="1">
                <a:solidFill>
                  <a:srgbClr val="FFFFFF"/>
                </a:solidFill>
                <a:latin typeface="Arial"/>
              </a:rPr>
              <a:t>Event stream</a:t>
            </a:r>
          </a:p>
        </p:txBody>
      </p:sp>
      <p:sp>
        <p:nvSpPr>
          <p:cNvPr id="38" name="TextBox 37"/>
          <p:cNvSpPr txBox="1"/>
          <p:nvPr/>
        </p:nvSpPr>
        <p:spPr>
          <a:xfrm>
            <a:off x="6362700" y="3340100"/>
            <a:ext cx="2413000" cy="533400"/>
          </a:xfrm>
          <a:prstGeom prst="rect">
            <a:avLst/>
          </a:prstGeom>
          <a:noFill/>
        </p:spPr>
        <p:txBody>
          <a:bodyPr wrap="square" lIns="0" rIns="0" tIns="0" bIns="0" anchor="t">
            <a:spAutoFit/>
          </a:bodyPr>
          <a:lstStyle/>
          <a:p>
            <a:pPr algn="l">
              <a:lnSpc>
                <a:spcPts val="1200"/>
              </a:lnSpc>
            </a:pPr>
            <a:r>
              <a:rPr sz="1000" b="0">
                <a:solidFill>
                  <a:srgbClr val="B4C2DE"/>
                </a:solidFill>
                <a:latin typeface="Arial"/>
              </a:rPr>
              <a:t>late, duplicate and out-of-order deliveries; outcomes kept in a hidden file</a:t>
            </a:r>
          </a:p>
        </p:txBody>
      </p:sp>
      <p:cxnSp>
        <p:nvCxnSpPr>
          <p:cNvPr id="39" name="Connector 38"/>
          <p:cNvCxnSpPr/>
          <p:nvPr/>
        </p:nvCxnSpPr>
        <p:spPr>
          <a:xfrm>
            <a:off x="8839200" y="3441700"/>
            <a:ext cx="254000" cy="0"/>
          </a:xfrm>
          <a:prstGeom prst="line">
            <a:avLst/>
          </a:prstGeom>
          <a:ln w="22860">
            <a:solidFill>
              <a:srgbClr val="4589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118600" y="2997200"/>
            <a:ext cx="2565400" cy="889000"/>
          </a:xfrm>
          <a:prstGeom prst="roundRect">
            <a:avLst>
              <a:gd name="adj" fmla="val 11428"/>
            </a:avLst>
          </a:prstGeom>
          <a:solidFill>
            <a:srgbClr val="14294F"/>
          </a:solidFill>
          <a:ln w="12700">
            <a:solidFill>
              <a:srgbClr val="4589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2900" y="3086100"/>
            <a:ext cx="2413000" cy="228600"/>
          </a:xfrm>
          <a:prstGeom prst="rect">
            <a:avLst/>
          </a:prstGeom>
          <a:noFill/>
        </p:spPr>
        <p:txBody>
          <a:bodyPr wrap="square" lIns="0" rIns="0" tIns="0" bIns="0" anchor="t">
            <a:spAutoFit/>
          </a:bodyPr>
          <a:lstStyle/>
          <a:p>
            <a:pPr algn="l">
              <a:lnSpc>
                <a:spcPts val="1265"/>
              </a:lnSpc>
            </a:pPr>
            <a:r>
              <a:rPr sz="1150" b="1">
                <a:solidFill>
                  <a:srgbClr val="FFFFFF"/>
                </a:solidFill>
                <a:latin typeface="Arial"/>
              </a:rPr>
              <a:t>Evidence graph</a:t>
            </a:r>
          </a:p>
        </p:txBody>
      </p:sp>
      <p:sp>
        <p:nvSpPr>
          <p:cNvPr id="42" name="TextBox 41"/>
          <p:cNvSpPr txBox="1"/>
          <p:nvPr/>
        </p:nvSpPr>
        <p:spPr>
          <a:xfrm>
            <a:off x="9232900" y="3340100"/>
            <a:ext cx="2413000" cy="533400"/>
          </a:xfrm>
          <a:prstGeom prst="rect">
            <a:avLst/>
          </a:prstGeom>
          <a:noFill/>
        </p:spPr>
        <p:txBody>
          <a:bodyPr wrap="square" lIns="0" rIns="0" tIns="0" bIns="0" anchor="t">
            <a:spAutoFit/>
          </a:bodyPr>
          <a:lstStyle/>
          <a:p>
            <a:pPr algn="l">
              <a:lnSpc>
                <a:spcPts val="1200"/>
              </a:lnSpc>
            </a:pPr>
            <a:r>
              <a:rPr sz="1000" b="0">
                <a:solidFill>
                  <a:srgbClr val="B4C2DE"/>
                </a:solidFill>
                <a:latin typeface="Arial"/>
              </a:rPr>
              <a:t>103,627 nodes, 223,925 edges; dependency graph is acyclic</a:t>
            </a:r>
          </a:p>
        </p:txBody>
      </p:sp>
      <p:sp>
        <p:nvSpPr>
          <p:cNvPr id="43" name="TextBox 42"/>
          <p:cNvSpPr txBox="1"/>
          <p:nvPr/>
        </p:nvSpPr>
        <p:spPr>
          <a:xfrm>
            <a:off x="508000" y="4038600"/>
            <a:ext cx="3835400" cy="177800"/>
          </a:xfrm>
          <a:prstGeom prst="rect">
            <a:avLst/>
          </a:prstGeom>
          <a:noFill/>
        </p:spPr>
        <p:txBody>
          <a:bodyPr wrap="square" lIns="0" rIns="0" tIns="0" bIns="0" anchor="t">
            <a:spAutoFit/>
          </a:bodyPr>
          <a:lstStyle/>
          <a:p>
            <a:pPr algn="l">
              <a:lnSpc>
                <a:spcPts val="1220"/>
              </a:lnSpc>
            </a:pPr>
            <a:r>
              <a:rPr sz="1000" b="1">
                <a:solidFill>
                  <a:srgbClr val="B4C2DE"/>
                </a:solidFill>
                <a:latin typeface="Arial"/>
              </a:rPr>
              <a:t>ML PIPELINE</a:t>
            </a:r>
          </a:p>
        </p:txBody>
      </p:sp>
      <p:sp>
        <p:nvSpPr>
          <p:cNvPr id="44" name="Rounded Rectangle 43"/>
          <p:cNvSpPr/>
          <p:nvPr/>
        </p:nvSpPr>
        <p:spPr>
          <a:xfrm>
            <a:off x="508000" y="4267200"/>
            <a:ext cx="2565400" cy="889000"/>
          </a:xfrm>
          <a:prstGeom prst="roundRect">
            <a:avLst>
              <a:gd name="adj" fmla="val 11428"/>
            </a:avLst>
          </a:prstGeom>
          <a:solidFill>
            <a:srgbClr val="14294F"/>
          </a:solidFill>
          <a:ln w="1270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2300" y="4356100"/>
            <a:ext cx="2413000" cy="228600"/>
          </a:xfrm>
          <a:prstGeom prst="rect">
            <a:avLst/>
          </a:prstGeom>
          <a:noFill/>
        </p:spPr>
        <p:txBody>
          <a:bodyPr wrap="square" lIns="0" rIns="0" tIns="0" bIns="0" anchor="t">
            <a:spAutoFit/>
          </a:bodyPr>
          <a:lstStyle/>
          <a:p>
            <a:pPr algn="l">
              <a:lnSpc>
                <a:spcPts val="1265"/>
              </a:lnSpc>
            </a:pPr>
            <a:r>
              <a:rPr sz="1150" b="1">
                <a:solidFill>
                  <a:srgbClr val="FFFFFF"/>
                </a:solidFill>
                <a:latin typeface="Arial"/>
              </a:rPr>
              <a:t>49 features, 6 groups</a:t>
            </a:r>
          </a:p>
        </p:txBody>
      </p:sp>
      <p:sp>
        <p:nvSpPr>
          <p:cNvPr id="46" name="TextBox 45"/>
          <p:cNvSpPr txBox="1"/>
          <p:nvPr/>
        </p:nvSpPr>
        <p:spPr>
          <a:xfrm>
            <a:off x="622300" y="4610100"/>
            <a:ext cx="2413000" cy="533400"/>
          </a:xfrm>
          <a:prstGeom prst="rect">
            <a:avLst/>
          </a:prstGeom>
          <a:noFill/>
        </p:spPr>
        <p:txBody>
          <a:bodyPr wrap="square" lIns="0" rIns="0" tIns="0" bIns="0" anchor="t">
            <a:spAutoFit/>
          </a:bodyPr>
          <a:lstStyle/>
          <a:p>
            <a:pPr algn="l">
              <a:lnSpc>
                <a:spcPts val="1200"/>
              </a:lnSpc>
            </a:pPr>
            <a:r>
              <a:rPr sz="1000" b="0">
                <a:solidFill>
                  <a:srgbClr val="B4C2DE"/>
                </a:solidFill>
                <a:latin typeface="Arial"/>
              </a:rPr>
              <a:t>task, own events, workload, graph dependency, graph temporal, evidence; strict event-time cutoff</a:t>
            </a:r>
          </a:p>
        </p:txBody>
      </p:sp>
      <p:cxnSp>
        <p:nvCxnSpPr>
          <p:cNvPr id="47" name="Connector 46"/>
          <p:cNvCxnSpPr/>
          <p:nvPr/>
        </p:nvCxnSpPr>
        <p:spPr>
          <a:xfrm>
            <a:off x="3098800" y="4711700"/>
            <a:ext cx="2540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3378200" y="4267200"/>
            <a:ext cx="2565400" cy="889000"/>
          </a:xfrm>
          <a:prstGeom prst="roundRect">
            <a:avLst>
              <a:gd name="adj" fmla="val 11428"/>
            </a:avLst>
          </a:prstGeom>
          <a:solidFill>
            <a:srgbClr val="14294F"/>
          </a:solidFill>
          <a:ln w="1270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92500" y="4356100"/>
            <a:ext cx="2413000" cy="228600"/>
          </a:xfrm>
          <a:prstGeom prst="rect">
            <a:avLst/>
          </a:prstGeom>
          <a:noFill/>
        </p:spPr>
        <p:txBody>
          <a:bodyPr wrap="square" lIns="0" rIns="0" tIns="0" bIns="0" anchor="t">
            <a:spAutoFit/>
          </a:bodyPr>
          <a:lstStyle/>
          <a:p>
            <a:pPr algn="l">
              <a:lnSpc>
                <a:spcPts val="1265"/>
              </a:lnSpc>
            </a:pPr>
            <a:r>
              <a:rPr sz="1150" b="1">
                <a:solidFill>
                  <a:srgbClr val="FFFFFF"/>
                </a:solidFill>
                <a:latin typeface="Arial"/>
              </a:rPr>
              <a:t>Dense snapshots</a:t>
            </a:r>
          </a:p>
        </p:txBody>
      </p:sp>
      <p:sp>
        <p:nvSpPr>
          <p:cNvPr id="50" name="TextBox 49"/>
          <p:cNvSpPr txBox="1"/>
          <p:nvPr/>
        </p:nvSpPr>
        <p:spPr>
          <a:xfrm>
            <a:off x="3492500" y="4610100"/>
            <a:ext cx="2413000" cy="533400"/>
          </a:xfrm>
          <a:prstGeom prst="rect">
            <a:avLst/>
          </a:prstGeom>
          <a:noFill/>
        </p:spPr>
        <p:txBody>
          <a:bodyPr wrap="square" lIns="0" rIns="0" tIns="0" bIns="0" anchor="t">
            <a:spAutoFit/>
          </a:bodyPr>
          <a:lstStyle/>
          <a:p>
            <a:pPr algn="l">
              <a:lnSpc>
                <a:spcPts val="1200"/>
              </a:lnSpc>
            </a:pPr>
            <a:r>
              <a:rPr sz="1000" b="0">
                <a:solidFill>
                  <a:srgbClr val="B4C2DE"/>
                </a:solidFill>
                <a:latin typeface="Arial"/>
              </a:rPr>
              <a:t>8 assessment points per task, only while the task is still open</a:t>
            </a:r>
          </a:p>
        </p:txBody>
      </p:sp>
      <p:cxnSp>
        <p:nvCxnSpPr>
          <p:cNvPr id="51" name="Connector 50"/>
          <p:cNvCxnSpPr/>
          <p:nvPr/>
        </p:nvCxnSpPr>
        <p:spPr>
          <a:xfrm>
            <a:off x="5969000" y="4711700"/>
            <a:ext cx="2540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6248400" y="4267200"/>
            <a:ext cx="2565400" cy="889000"/>
          </a:xfrm>
          <a:prstGeom prst="roundRect">
            <a:avLst>
              <a:gd name="adj" fmla="val 11428"/>
            </a:avLst>
          </a:prstGeom>
          <a:solidFill>
            <a:srgbClr val="14294F"/>
          </a:solidFill>
          <a:ln w="1270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62700" y="4356100"/>
            <a:ext cx="2413000" cy="228600"/>
          </a:xfrm>
          <a:prstGeom prst="rect">
            <a:avLst/>
          </a:prstGeom>
          <a:noFill/>
        </p:spPr>
        <p:txBody>
          <a:bodyPr wrap="square" lIns="0" rIns="0" tIns="0" bIns="0" anchor="t">
            <a:spAutoFit/>
          </a:bodyPr>
          <a:lstStyle/>
          <a:p>
            <a:pPr algn="l">
              <a:lnSpc>
                <a:spcPts val="1265"/>
              </a:lnSpc>
            </a:pPr>
            <a:r>
              <a:rPr sz="1150" b="1">
                <a:solidFill>
                  <a:srgbClr val="FFFFFF"/>
                </a:solidFill>
                <a:latin typeface="Arial"/>
              </a:rPr>
              <a:t>Random forest + calibration</a:t>
            </a:r>
          </a:p>
        </p:txBody>
      </p:sp>
      <p:sp>
        <p:nvSpPr>
          <p:cNvPr id="54" name="TextBox 53"/>
          <p:cNvSpPr txBox="1"/>
          <p:nvPr/>
        </p:nvSpPr>
        <p:spPr>
          <a:xfrm>
            <a:off x="6362700" y="4610100"/>
            <a:ext cx="2413000" cy="533400"/>
          </a:xfrm>
          <a:prstGeom prst="rect">
            <a:avLst/>
          </a:prstGeom>
          <a:noFill/>
        </p:spPr>
        <p:txBody>
          <a:bodyPr wrap="square" lIns="0" rIns="0" tIns="0" bIns="0" anchor="t">
            <a:spAutoFit/>
          </a:bodyPr>
          <a:lstStyle/>
          <a:p>
            <a:pPr algn="l">
              <a:lnSpc>
                <a:spcPts val="1200"/>
              </a:lnSpc>
            </a:pPr>
            <a:r>
              <a:rPr sz="1000" b="0">
                <a:solidFill>
                  <a:srgbClr val="B4C2DE"/>
                </a:solidFill>
                <a:latin typeface="Arial"/>
              </a:rPr>
              <a:t>4 model families compared on validation; split by patient; calibrated probabilities</a:t>
            </a:r>
          </a:p>
        </p:txBody>
      </p:sp>
      <p:cxnSp>
        <p:nvCxnSpPr>
          <p:cNvPr id="55" name="Connector 54"/>
          <p:cNvCxnSpPr/>
          <p:nvPr/>
        </p:nvCxnSpPr>
        <p:spPr>
          <a:xfrm>
            <a:off x="8839200" y="4711700"/>
            <a:ext cx="254000" cy="0"/>
          </a:xfrm>
          <a:prstGeom prst="line">
            <a:avLst/>
          </a:prstGeom>
          <a:ln w="22860">
            <a:solidFill>
              <a:srgbClr val="33B1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9118600" y="4267200"/>
            <a:ext cx="2565400" cy="889000"/>
          </a:xfrm>
          <a:prstGeom prst="roundRect">
            <a:avLst>
              <a:gd name="adj" fmla="val 11428"/>
            </a:avLst>
          </a:prstGeom>
          <a:solidFill>
            <a:srgbClr val="14294F"/>
          </a:solidFill>
          <a:ln w="12700">
            <a:solidFill>
              <a:srgbClr val="33B1FF">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232900" y="4356100"/>
            <a:ext cx="2413000" cy="228600"/>
          </a:xfrm>
          <a:prstGeom prst="rect">
            <a:avLst/>
          </a:prstGeom>
          <a:noFill/>
        </p:spPr>
        <p:txBody>
          <a:bodyPr wrap="square" lIns="0" rIns="0" tIns="0" bIns="0" anchor="t">
            <a:spAutoFit/>
          </a:bodyPr>
          <a:lstStyle/>
          <a:p>
            <a:pPr algn="l">
              <a:lnSpc>
                <a:spcPts val="1265"/>
              </a:lnSpc>
            </a:pPr>
            <a:r>
              <a:rPr sz="1150" b="1">
                <a:solidFill>
                  <a:srgbClr val="FFFFFF"/>
                </a:solidFill>
                <a:latin typeface="Arial"/>
              </a:rPr>
              <a:t>Validation thresholds</a:t>
            </a:r>
          </a:p>
        </p:txBody>
      </p:sp>
      <p:sp>
        <p:nvSpPr>
          <p:cNvPr id="58" name="TextBox 57"/>
          <p:cNvSpPr txBox="1"/>
          <p:nvPr/>
        </p:nvSpPr>
        <p:spPr>
          <a:xfrm>
            <a:off x="9232900" y="4610100"/>
            <a:ext cx="2413000" cy="533400"/>
          </a:xfrm>
          <a:prstGeom prst="rect">
            <a:avLst/>
          </a:prstGeom>
          <a:noFill/>
        </p:spPr>
        <p:txBody>
          <a:bodyPr wrap="square" lIns="0" rIns="0" tIns="0" bIns="0" anchor="t">
            <a:spAutoFit/>
          </a:bodyPr>
          <a:lstStyle/>
          <a:p>
            <a:pPr algn="l">
              <a:lnSpc>
                <a:spcPts val="1200"/>
              </a:lnSpc>
            </a:pPr>
            <a:r>
              <a:rPr sz="1000" b="0">
                <a:solidFill>
                  <a:srgbClr val="B4C2DE"/>
                </a:solidFill>
                <a:latin typeface="Arial"/>
              </a:rPr>
              <a:t>alert threshold fixed on validation; applied once to test</a:t>
            </a:r>
          </a:p>
        </p:txBody>
      </p:sp>
      <p:sp>
        <p:nvSpPr>
          <p:cNvPr id="59" name="TextBox 58"/>
          <p:cNvSpPr txBox="1"/>
          <p:nvPr/>
        </p:nvSpPr>
        <p:spPr>
          <a:xfrm>
            <a:off x="508000" y="5308600"/>
            <a:ext cx="3644900" cy="228600"/>
          </a:xfrm>
          <a:prstGeom prst="rect">
            <a:avLst/>
          </a:prstGeom>
          <a:noFill/>
        </p:spPr>
        <p:txBody>
          <a:bodyPr wrap="square" lIns="0" rIns="0" tIns="0" bIns="0" anchor="t">
            <a:spAutoFit/>
          </a:bodyPr>
          <a:lstStyle/>
          <a:p>
            <a:pPr algn="l">
              <a:lnSpc>
                <a:spcPts val="1525"/>
              </a:lnSpc>
            </a:pPr>
            <a:r>
              <a:rPr sz="1250" b="1">
                <a:solidFill>
                  <a:srgbClr val="FFFFFF"/>
                </a:solidFill>
                <a:latin typeface="Arial"/>
              </a:rPr>
              <a:t>No leakage</a:t>
            </a:r>
          </a:p>
        </p:txBody>
      </p:sp>
      <p:sp>
        <p:nvSpPr>
          <p:cNvPr id="60" name="TextBox 59"/>
          <p:cNvSpPr txBox="1"/>
          <p:nvPr/>
        </p:nvSpPr>
        <p:spPr>
          <a:xfrm>
            <a:off x="508000" y="5537200"/>
            <a:ext cx="3581400" cy="4318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features see only events ingested before the assessment time</a:t>
            </a:r>
          </a:p>
        </p:txBody>
      </p:sp>
      <p:sp>
        <p:nvSpPr>
          <p:cNvPr id="61" name="TextBox 60"/>
          <p:cNvSpPr txBox="1"/>
          <p:nvPr/>
        </p:nvSpPr>
        <p:spPr>
          <a:xfrm>
            <a:off x="4318000" y="5308600"/>
            <a:ext cx="3644900" cy="228600"/>
          </a:xfrm>
          <a:prstGeom prst="rect">
            <a:avLst/>
          </a:prstGeom>
          <a:noFill/>
        </p:spPr>
        <p:txBody>
          <a:bodyPr wrap="square" lIns="0" rIns="0" tIns="0" bIns="0" anchor="t">
            <a:spAutoFit/>
          </a:bodyPr>
          <a:lstStyle/>
          <a:p>
            <a:pPr algn="l">
              <a:lnSpc>
                <a:spcPts val="1525"/>
              </a:lnSpc>
            </a:pPr>
            <a:r>
              <a:rPr sz="1250" b="1">
                <a:solidFill>
                  <a:srgbClr val="FFFFFF"/>
                </a:solidFill>
                <a:latin typeface="Arial"/>
              </a:rPr>
              <a:t>No tuning on test</a:t>
            </a:r>
          </a:p>
        </p:txBody>
      </p:sp>
      <p:sp>
        <p:nvSpPr>
          <p:cNvPr id="62" name="TextBox 61"/>
          <p:cNvSpPr txBox="1"/>
          <p:nvPr/>
        </p:nvSpPr>
        <p:spPr>
          <a:xfrm>
            <a:off x="4318000" y="5537200"/>
            <a:ext cx="3581400" cy="4318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thresholds and hyper-parameters chosen on validation only</a:t>
            </a:r>
          </a:p>
        </p:txBody>
      </p:sp>
      <p:sp>
        <p:nvSpPr>
          <p:cNvPr id="63" name="TextBox 62"/>
          <p:cNvSpPr txBox="1"/>
          <p:nvPr/>
        </p:nvSpPr>
        <p:spPr>
          <a:xfrm>
            <a:off x="8128000" y="5308600"/>
            <a:ext cx="3644900" cy="228600"/>
          </a:xfrm>
          <a:prstGeom prst="rect">
            <a:avLst/>
          </a:prstGeom>
          <a:noFill/>
        </p:spPr>
        <p:txBody>
          <a:bodyPr wrap="square" lIns="0" rIns="0" tIns="0" bIns="0" anchor="t">
            <a:spAutoFit/>
          </a:bodyPr>
          <a:lstStyle/>
          <a:p>
            <a:pPr algn="l">
              <a:lnSpc>
                <a:spcPts val="1525"/>
              </a:lnSpc>
            </a:pPr>
            <a:r>
              <a:rPr sz="1250" b="1">
                <a:solidFill>
                  <a:srgbClr val="FFFFFF"/>
                </a:solidFill>
                <a:latin typeface="Arial"/>
              </a:rPr>
              <a:t>Strong baselines</a:t>
            </a:r>
          </a:p>
        </p:txBody>
      </p:sp>
      <p:sp>
        <p:nvSpPr>
          <p:cNvPr id="64" name="TextBox 63"/>
          <p:cNvSpPr txBox="1"/>
          <p:nvPr/>
        </p:nvSpPr>
        <p:spPr>
          <a:xfrm>
            <a:off x="8128000" y="5537200"/>
            <a:ext cx="3581400" cy="4318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deadline-only rule, independent-task ML, patient-grouped bootstrap CIs</a:t>
            </a:r>
          </a:p>
        </p:txBody>
      </p:sp>
      <p:sp>
        <p:nvSpPr>
          <p:cNvPr id="65" name="Rounded Rectangle 64"/>
          <p:cNvSpPr/>
          <p:nvPr/>
        </p:nvSpPr>
        <p:spPr>
          <a:xfrm>
            <a:off x="508000" y="6019800"/>
            <a:ext cx="4191000" cy="279400"/>
          </a:xfrm>
          <a:prstGeom prst="roundRect">
            <a:avLst>
              <a:gd name="adj" fmla="val 50000"/>
            </a:avLst>
          </a:prstGeom>
          <a:solidFill>
            <a:srgbClr val="F1C21B">
              <a:alpha val="14000"/>
            </a:srgbClr>
          </a:solidFill>
          <a:ln w="10160">
            <a:solidFill>
              <a:srgbClr val="F1C2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08000" y="6076950"/>
            <a:ext cx="4216400" cy="165100"/>
          </a:xfrm>
          <a:prstGeom prst="rect">
            <a:avLst/>
          </a:prstGeom>
          <a:noFill/>
        </p:spPr>
        <p:txBody>
          <a:bodyPr wrap="square" lIns="0" rIns="0" tIns="0" bIns="0" anchor="t">
            <a:spAutoFit/>
          </a:bodyPr>
          <a:lstStyle/>
          <a:p>
            <a:pPr algn="ctr">
              <a:lnSpc>
                <a:spcPts val="1220"/>
              </a:lnSpc>
            </a:pPr>
            <a:r>
              <a:rPr sz="1000" b="1">
                <a:solidFill>
                  <a:srgbClr val="F1C21B"/>
                </a:solidFill>
                <a:latin typeface="Arial"/>
              </a:rPr>
              <a:t>0 human-reviewed gold labels | outcomes simulated</a:t>
            </a:r>
          </a:p>
        </p:txBody>
      </p:sp>
      <p:sp>
        <p:nvSpPr>
          <p:cNvPr id="67" name="TextBox 66"/>
          <p:cNvSpPr txBox="1"/>
          <p:nvPr/>
        </p:nvSpPr>
        <p:spPr>
          <a:xfrm>
            <a:off x="4876800" y="6057900"/>
            <a:ext cx="6832600" cy="203200"/>
          </a:xfrm>
          <a:prstGeom prst="rect">
            <a:avLst/>
          </a:prstGeom>
          <a:noFill/>
        </p:spPr>
        <p:txBody>
          <a:bodyPr wrap="square" lIns="0" rIns="0" tIns="0" bIns="0" anchor="t">
            <a:spAutoFit/>
          </a:bodyPr>
          <a:lstStyle/>
          <a:p>
            <a:pPr algn="l">
              <a:lnSpc>
                <a:spcPts val="1220"/>
              </a:lnSpc>
            </a:pPr>
            <a:r>
              <a:rPr sz="1000" b="0">
                <a:solidFill>
                  <a:srgbClr val="7C8FB5"/>
                </a:solidFill>
                <a:latin typeface="Arial"/>
              </a:rPr>
              <a:t>Scores describe the simulator, not clinical accuracy. Real validation needs clinician-reviewed labels.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2000" cy="6858000"/>
          </a:xfrm>
          <a:prstGeom prst="rect">
            <a:avLst/>
          </a:prstGeom>
          <a:gradFill rotWithShape="1">
            <a:gsLst>
              <a:gs pos="0">
                <a:srgbClr val="060B17"/>
              </a:gs>
              <a:gs pos="100000">
                <a:srgbClr val="0E1C3A"/>
              </a:gs>
            </a:gsLst>
            <a:lin scaled="0" ang="18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71000" y="76200"/>
            <a:ext cx="2540000" cy="2540000"/>
          </a:xfrm>
          <a:prstGeom prst="ellipse">
            <a:avLst/>
          </a:prstGeom>
          <a:solidFill>
            <a:srgbClr val="0F62FE">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33000" y="457200"/>
            <a:ext cx="1397000" cy="1397000"/>
          </a:xfrm>
          <a:prstGeom prst="ellipse">
            <a:avLst/>
          </a:prstGeom>
          <a:solidFill>
            <a:srgbClr val="33B1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393700"/>
            <a:ext cx="50800" cy="1651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368300"/>
            <a:ext cx="6375400" cy="228600"/>
          </a:xfrm>
          <a:prstGeom prst="rect">
            <a:avLst/>
          </a:prstGeom>
          <a:noFill/>
        </p:spPr>
        <p:txBody>
          <a:bodyPr wrap="square" lIns="0" rIns="0" tIns="0" bIns="0" anchor="t">
            <a:spAutoFit/>
          </a:bodyPr>
          <a:lstStyle/>
          <a:p>
            <a:pPr algn="l">
              <a:lnSpc>
                <a:spcPts val="1403"/>
              </a:lnSpc>
            </a:pPr>
            <a:r>
              <a:rPr sz="1150" b="1">
                <a:solidFill>
                  <a:srgbClr val="33B1FF"/>
                </a:solidFill>
                <a:latin typeface="Arial"/>
              </a:rPr>
              <a:t>WHY IBM Z / LINUXONE</a:t>
            </a:r>
          </a:p>
        </p:txBody>
      </p:sp>
      <p:sp>
        <p:nvSpPr>
          <p:cNvPr id="7" name="TextBox 6"/>
          <p:cNvSpPr txBox="1"/>
          <p:nvPr/>
        </p:nvSpPr>
        <p:spPr>
          <a:xfrm>
            <a:off x="508000" y="660400"/>
            <a:ext cx="11201400" cy="939800"/>
          </a:xfrm>
          <a:prstGeom prst="rect">
            <a:avLst/>
          </a:prstGeom>
          <a:noFill/>
        </p:spPr>
        <p:txBody>
          <a:bodyPr wrap="square" lIns="0" rIns="0" tIns="0" bIns="0" anchor="t">
            <a:spAutoFit/>
          </a:bodyPr>
          <a:lstStyle/>
          <a:p>
            <a:pPr algn="l">
              <a:lnSpc>
                <a:spcPts val="3247"/>
              </a:lnSpc>
            </a:pPr>
            <a:r>
              <a:rPr sz="2800" b="1">
                <a:solidFill>
                  <a:srgbClr val="FFFFFF"/>
                </a:solidFill>
                <a:latin typeface="Arial"/>
              </a:rPr>
              <a:t>The whole stack, executed on s390x</a:t>
            </a:r>
          </a:p>
        </p:txBody>
      </p:sp>
      <p:cxnSp>
        <p:nvCxnSpPr>
          <p:cNvPr id="8" name="Connector 7"/>
          <p:cNvCxnSpPr/>
          <p:nvPr/>
        </p:nvCxnSpPr>
        <p:spPr>
          <a:xfrm>
            <a:off x="508000" y="6451600"/>
            <a:ext cx="11176000" cy="0"/>
          </a:xfrm>
          <a:prstGeom prst="line">
            <a:avLst/>
          </a:prstGeom>
          <a:ln w="8890">
            <a:solidFill>
              <a:srgbClr val="2A4A86">
                <a:alpha val="70000"/>
              </a:srgbClr>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6527800"/>
            <a:ext cx="6375400" cy="177800"/>
          </a:xfrm>
          <a:prstGeom prst="rect">
            <a:avLst/>
          </a:prstGeom>
          <a:noFill/>
        </p:spPr>
        <p:txBody>
          <a:bodyPr wrap="square" lIns="0" rIns="0" tIns="0" bIns="0" anchor="t">
            <a:spAutoFit/>
          </a:bodyPr>
          <a:lstStyle/>
          <a:p>
            <a:pPr algn="l">
              <a:lnSpc>
                <a:spcPts val="1037"/>
              </a:lnSpc>
            </a:pPr>
            <a:r>
              <a:rPr sz="850" b="0">
                <a:solidFill>
                  <a:srgbClr val="7C8FB5"/>
                </a:solidFill>
                <a:latin typeface="Arial"/>
              </a:rPr>
              <a:t>MedRelay  |  IBM Z Datathon 2026  |  synthetic data only, decision support for qualified human review</a:t>
            </a:r>
          </a:p>
        </p:txBody>
      </p:sp>
      <p:sp>
        <p:nvSpPr>
          <p:cNvPr id="10" name="TextBox 9"/>
          <p:cNvSpPr txBox="1"/>
          <p:nvPr/>
        </p:nvSpPr>
        <p:spPr>
          <a:xfrm>
            <a:off x="10668000" y="6527800"/>
            <a:ext cx="1041400" cy="177800"/>
          </a:xfrm>
          <a:prstGeom prst="rect">
            <a:avLst/>
          </a:prstGeom>
          <a:noFill/>
        </p:spPr>
        <p:txBody>
          <a:bodyPr wrap="square" lIns="0" rIns="0" tIns="0" bIns="0" anchor="t">
            <a:spAutoFit/>
          </a:bodyPr>
          <a:lstStyle/>
          <a:p>
            <a:pPr algn="r">
              <a:lnSpc>
                <a:spcPts val="1098"/>
              </a:lnSpc>
            </a:pPr>
            <a:r>
              <a:rPr sz="900" b="0">
                <a:solidFill>
                  <a:srgbClr val="7C8FB5"/>
                </a:solidFill>
                <a:latin typeface="Arial"/>
              </a:rPr>
              <a:t>6 / 10</a:t>
            </a:r>
          </a:p>
        </p:txBody>
      </p:sp>
      <p:sp>
        <p:nvSpPr>
          <p:cNvPr id="11" name="Rounded Rectangle 10"/>
          <p:cNvSpPr/>
          <p:nvPr/>
        </p:nvSpPr>
        <p:spPr>
          <a:xfrm>
            <a:off x="508000" y="1498600"/>
            <a:ext cx="5334000" cy="2768600"/>
          </a:xfrm>
          <a:prstGeom prst="roundRect">
            <a:avLst>
              <a:gd name="adj" fmla="val 4128"/>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1498600"/>
            <a:ext cx="558800" cy="38100"/>
          </a:xfrm>
          <a:prstGeom prst="roundRect">
            <a:avLst>
              <a:gd name="adj" fmla="val 50000"/>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1200" y="1651000"/>
            <a:ext cx="4851400" cy="203200"/>
          </a:xfrm>
          <a:prstGeom prst="rect">
            <a:avLst/>
          </a:prstGeom>
          <a:noFill/>
        </p:spPr>
        <p:txBody>
          <a:bodyPr wrap="square" lIns="0" rIns="0" tIns="0" bIns="0" anchor="t">
            <a:spAutoFit/>
          </a:bodyPr>
          <a:lstStyle/>
          <a:p>
            <a:pPr algn="l">
              <a:lnSpc>
                <a:spcPts val="1281"/>
              </a:lnSpc>
            </a:pPr>
            <a:r>
              <a:rPr sz="1050" b="1">
                <a:solidFill>
                  <a:srgbClr val="33B1FF"/>
                </a:solidFill>
                <a:latin typeface="Arial"/>
              </a:rPr>
              <a:t>VERIFIED ON THE VM</a:t>
            </a:r>
          </a:p>
        </p:txBody>
      </p:sp>
      <p:sp>
        <p:nvSpPr>
          <p:cNvPr id="14" name="TextBox 13"/>
          <p:cNvSpPr txBox="1"/>
          <p:nvPr/>
        </p:nvSpPr>
        <p:spPr>
          <a:xfrm>
            <a:off x="711200" y="1955800"/>
            <a:ext cx="1295400" cy="355600"/>
          </a:xfrm>
          <a:prstGeom prst="rect">
            <a:avLst/>
          </a:prstGeom>
          <a:noFill/>
        </p:spPr>
        <p:txBody>
          <a:bodyPr wrap="square" lIns="0" rIns="0" tIns="0" bIns="0" anchor="t">
            <a:spAutoFit/>
          </a:bodyPr>
          <a:lstStyle/>
          <a:p>
            <a:pPr algn="l">
              <a:lnSpc>
                <a:spcPts val="1207"/>
              </a:lnSpc>
            </a:pPr>
            <a:r>
              <a:rPr sz="1050" b="1">
                <a:solidFill>
                  <a:srgbClr val="B4C2DE"/>
                </a:solidFill>
                <a:latin typeface="Arial"/>
              </a:rPr>
              <a:t>Platform</a:t>
            </a:r>
          </a:p>
        </p:txBody>
      </p:sp>
      <p:sp>
        <p:nvSpPr>
          <p:cNvPr id="15" name="TextBox 14"/>
          <p:cNvSpPr txBox="1"/>
          <p:nvPr/>
        </p:nvSpPr>
        <p:spPr>
          <a:xfrm>
            <a:off x="1905000" y="1955800"/>
            <a:ext cx="3886200" cy="355600"/>
          </a:xfrm>
          <a:prstGeom prst="rect">
            <a:avLst/>
          </a:prstGeom>
          <a:noFill/>
        </p:spPr>
        <p:txBody>
          <a:bodyPr wrap="square" lIns="0" rIns="0" tIns="0" bIns="0" anchor="t">
            <a:spAutoFit/>
          </a:bodyPr>
          <a:lstStyle/>
          <a:p>
            <a:pPr algn="l">
              <a:lnSpc>
                <a:spcPts val="1321"/>
              </a:lnSpc>
            </a:pPr>
            <a:r>
              <a:rPr sz="1120" b="0">
                <a:solidFill>
                  <a:srgbClr val="FFFFFF"/>
                </a:solidFill>
                <a:latin typeface="Arial"/>
              </a:rPr>
              <a:t>s390x, big-endian, z/VM 7.3.0</a:t>
            </a:r>
          </a:p>
        </p:txBody>
      </p:sp>
      <p:sp>
        <p:nvSpPr>
          <p:cNvPr id="16" name="TextBox 15"/>
          <p:cNvSpPr txBox="1"/>
          <p:nvPr/>
        </p:nvSpPr>
        <p:spPr>
          <a:xfrm>
            <a:off x="711200" y="2336800"/>
            <a:ext cx="1295400" cy="355600"/>
          </a:xfrm>
          <a:prstGeom prst="rect">
            <a:avLst/>
          </a:prstGeom>
          <a:noFill/>
        </p:spPr>
        <p:txBody>
          <a:bodyPr wrap="square" lIns="0" rIns="0" tIns="0" bIns="0" anchor="t">
            <a:spAutoFit/>
          </a:bodyPr>
          <a:lstStyle/>
          <a:p>
            <a:pPr algn="l">
              <a:lnSpc>
                <a:spcPts val="1207"/>
              </a:lnSpc>
            </a:pPr>
            <a:r>
              <a:rPr sz="1050" b="1">
                <a:solidFill>
                  <a:srgbClr val="B4C2DE"/>
                </a:solidFill>
                <a:latin typeface="Arial"/>
              </a:rPr>
              <a:t>Resources</a:t>
            </a:r>
          </a:p>
        </p:txBody>
      </p:sp>
      <p:sp>
        <p:nvSpPr>
          <p:cNvPr id="17" name="TextBox 16"/>
          <p:cNvSpPr txBox="1"/>
          <p:nvPr/>
        </p:nvSpPr>
        <p:spPr>
          <a:xfrm>
            <a:off x="1905000" y="2336800"/>
            <a:ext cx="3886200" cy="355600"/>
          </a:xfrm>
          <a:prstGeom prst="rect">
            <a:avLst/>
          </a:prstGeom>
          <a:noFill/>
        </p:spPr>
        <p:txBody>
          <a:bodyPr wrap="square" lIns="0" rIns="0" tIns="0" bIns="0" anchor="t">
            <a:spAutoFit/>
          </a:bodyPr>
          <a:lstStyle/>
          <a:p>
            <a:pPr algn="l">
              <a:lnSpc>
                <a:spcPts val="1321"/>
              </a:lnSpc>
            </a:pPr>
            <a:r>
              <a:rPr sz="1120" b="0">
                <a:solidFill>
                  <a:srgbClr val="FFFFFF"/>
                </a:solidFill>
                <a:latin typeface="Arial"/>
              </a:rPr>
              <a:t>2 vCPU, 4.2 GB RAM (about 2.6 GB usable)</a:t>
            </a:r>
          </a:p>
        </p:txBody>
      </p:sp>
      <p:sp>
        <p:nvSpPr>
          <p:cNvPr id="18" name="TextBox 17"/>
          <p:cNvSpPr txBox="1"/>
          <p:nvPr/>
        </p:nvSpPr>
        <p:spPr>
          <a:xfrm>
            <a:off x="711200" y="2717800"/>
            <a:ext cx="1295400" cy="355600"/>
          </a:xfrm>
          <a:prstGeom prst="rect">
            <a:avLst/>
          </a:prstGeom>
          <a:noFill/>
        </p:spPr>
        <p:txBody>
          <a:bodyPr wrap="square" lIns="0" rIns="0" tIns="0" bIns="0" anchor="t">
            <a:spAutoFit/>
          </a:bodyPr>
          <a:lstStyle/>
          <a:p>
            <a:pPr algn="l">
              <a:lnSpc>
                <a:spcPts val="1207"/>
              </a:lnSpc>
            </a:pPr>
            <a:r>
              <a:rPr sz="1050" b="1">
                <a:solidFill>
                  <a:srgbClr val="B4C2DE"/>
                </a:solidFill>
                <a:latin typeface="Arial"/>
              </a:rPr>
              <a:t>CPU facilities</a:t>
            </a:r>
          </a:p>
        </p:txBody>
      </p:sp>
      <p:sp>
        <p:nvSpPr>
          <p:cNvPr id="19" name="TextBox 18"/>
          <p:cNvSpPr txBox="1"/>
          <p:nvPr/>
        </p:nvSpPr>
        <p:spPr>
          <a:xfrm>
            <a:off x="1905000" y="2717800"/>
            <a:ext cx="3886200" cy="355600"/>
          </a:xfrm>
          <a:prstGeom prst="rect">
            <a:avLst/>
          </a:prstGeom>
          <a:noFill/>
        </p:spPr>
        <p:txBody>
          <a:bodyPr wrap="square" lIns="0" rIns="0" tIns="0" bIns="0" anchor="t">
            <a:spAutoFit/>
          </a:bodyPr>
          <a:lstStyle/>
          <a:p>
            <a:pPr algn="l">
              <a:lnSpc>
                <a:spcPts val="1321"/>
              </a:lnSpc>
            </a:pPr>
            <a:r>
              <a:rPr sz="1120" b="0">
                <a:solidFill>
                  <a:srgbClr val="FFFFFF"/>
                </a:solidFill>
                <a:latin typeface="Arial"/>
              </a:rPr>
              <a:t>vector (VXE2) and NNPA (facility 165)</a:t>
            </a:r>
          </a:p>
        </p:txBody>
      </p:sp>
      <p:sp>
        <p:nvSpPr>
          <p:cNvPr id="20" name="TextBox 19"/>
          <p:cNvSpPr txBox="1"/>
          <p:nvPr/>
        </p:nvSpPr>
        <p:spPr>
          <a:xfrm>
            <a:off x="711200" y="3098800"/>
            <a:ext cx="1295400" cy="355600"/>
          </a:xfrm>
          <a:prstGeom prst="rect">
            <a:avLst/>
          </a:prstGeom>
          <a:noFill/>
        </p:spPr>
        <p:txBody>
          <a:bodyPr wrap="square" lIns="0" rIns="0" tIns="0" bIns="0" anchor="t">
            <a:spAutoFit/>
          </a:bodyPr>
          <a:lstStyle/>
          <a:p>
            <a:pPr algn="l">
              <a:lnSpc>
                <a:spcPts val="1207"/>
              </a:lnSpc>
            </a:pPr>
            <a:r>
              <a:rPr sz="1050" b="1">
                <a:solidFill>
                  <a:srgbClr val="B4C2DE"/>
                </a:solidFill>
                <a:latin typeface="Arial"/>
              </a:rPr>
              <a:t>Engine memory</a:t>
            </a:r>
          </a:p>
        </p:txBody>
      </p:sp>
      <p:sp>
        <p:nvSpPr>
          <p:cNvPr id="21" name="TextBox 20"/>
          <p:cNvSpPr txBox="1"/>
          <p:nvPr/>
        </p:nvSpPr>
        <p:spPr>
          <a:xfrm>
            <a:off x="1905000" y="3098800"/>
            <a:ext cx="3886200" cy="355600"/>
          </a:xfrm>
          <a:prstGeom prst="rect">
            <a:avLst/>
          </a:prstGeom>
          <a:noFill/>
        </p:spPr>
        <p:txBody>
          <a:bodyPr wrap="square" lIns="0" rIns="0" tIns="0" bIns="0" anchor="t">
            <a:spAutoFit/>
          </a:bodyPr>
          <a:lstStyle/>
          <a:p>
            <a:pPr algn="l">
              <a:lnSpc>
                <a:spcPts val="1321"/>
              </a:lnSpc>
            </a:pPr>
            <a:r>
              <a:rPr sz="1120" b="0">
                <a:solidFill>
                  <a:srgbClr val="FFFFFF"/>
                </a:solidFill>
                <a:latin typeface="Arial"/>
              </a:rPr>
              <a:t>peak 753 MB at 100,000 events (ML run)</a:t>
            </a:r>
          </a:p>
        </p:txBody>
      </p:sp>
      <p:sp>
        <p:nvSpPr>
          <p:cNvPr id="22" name="TextBox 21"/>
          <p:cNvSpPr txBox="1"/>
          <p:nvPr/>
        </p:nvSpPr>
        <p:spPr>
          <a:xfrm>
            <a:off x="711200" y="3479800"/>
            <a:ext cx="1295400" cy="355600"/>
          </a:xfrm>
          <a:prstGeom prst="rect">
            <a:avLst/>
          </a:prstGeom>
          <a:noFill/>
        </p:spPr>
        <p:txBody>
          <a:bodyPr wrap="square" lIns="0" rIns="0" tIns="0" bIns="0" anchor="t">
            <a:spAutoFit/>
          </a:bodyPr>
          <a:lstStyle/>
          <a:p>
            <a:pPr algn="l">
              <a:lnSpc>
                <a:spcPts val="1207"/>
              </a:lnSpc>
            </a:pPr>
            <a:r>
              <a:rPr sz="1050" b="1">
                <a:solidFill>
                  <a:srgbClr val="B4C2DE"/>
                </a:solidFill>
                <a:latin typeface="Arial"/>
              </a:rPr>
              <a:t>LLM runtime</a:t>
            </a:r>
          </a:p>
        </p:txBody>
      </p:sp>
      <p:sp>
        <p:nvSpPr>
          <p:cNvPr id="23" name="TextBox 22"/>
          <p:cNvSpPr txBox="1"/>
          <p:nvPr/>
        </p:nvSpPr>
        <p:spPr>
          <a:xfrm>
            <a:off x="1905000" y="3479800"/>
            <a:ext cx="3886200" cy="355600"/>
          </a:xfrm>
          <a:prstGeom prst="rect">
            <a:avLst/>
          </a:prstGeom>
          <a:noFill/>
        </p:spPr>
        <p:txBody>
          <a:bodyPr wrap="square" lIns="0" rIns="0" tIns="0" bIns="0" anchor="t">
            <a:spAutoFit/>
          </a:bodyPr>
          <a:lstStyle/>
          <a:p>
            <a:pPr algn="l">
              <a:lnSpc>
                <a:spcPts val="1321"/>
              </a:lnSpc>
            </a:pPr>
            <a:r>
              <a:rPr sz="1120" b="0">
                <a:solidFill>
                  <a:srgbClr val="FFFFFF"/>
                </a:solidFill>
                <a:latin typeface="Arial"/>
              </a:rPr>
              <a:t>llama.cpp (VXE) + big-endian Granite 4.0 GGUF</a:t>
            </a:r>
          </a:p>
        </p:txBody>
      </p:sp>
      <p:sp>
        <p:nvSpPr>
          <p:cNvPr id="24" name="TextBox 23"/>
          <p:cNvSpPr txBox="1"/>
          <p:nvPr/>
        </p:nvSpPr>
        <p:spPr>
          <a:xfrm>
            <a:off x="711200" y="3860800"/>
            <a:ext cx="1295400" cy="355600"/>
          </a:xfrm>
          <a:prstGeom prst="rect">
            <a:avLst/>
          </a:prstGeom>
          <a:noFill/>
        </p:spPr>
        <p:txBody>
          <a:bodyPr wrap="square" lIns="0" rIns="0" tIns="0" bIns="0" anchor="t">
            <a:spAutoFit/>
          </a:bodyPr>
          <a:lstStyle/>
          <a:p>
            <a:pPr algn="l">
              <a:lnSpc>
                <a:spcPts val="1207"/>
              </a:lnSpc>
            </a:pPr>
            <a:r>
              <a:rPr sz="1050" b="1">
                <a:solidFill>
                  <a:srgbClr val="B4C2DE"/>
                </a:solidFill>
                <a:latin typeface="Arial"/>
              </a:rPr>
              <a:t>Local inference</a:t>
            </a:r>
          </a:p>
        </p:txBody>
      </p:sp>
      <p:sp>
        <p:nvSpPr>
          <p:cNvPr id="25" name="TextBox 24"/>
          <p:cNvSpPr txBox="1"/>
          <p:nvPr/>
        </p:nvSpPr>
        <p:spPr>
          <a:xfrm>
            <a:off x="1905000" y="3860800"/>
            <a:ext cx="3886200" cy="355600"/>
          </a:xfrm>
          <a:prstGeom prst="rect">
            <a:avLst/>
          </a:prstGeom>
          <a:noFill/>
        </p:spPr>
        <p:txBody>
          <a:bodyPr wrap="square" lIns="0" rIns="0" tIns="0" bIns="0" anchor="t">
            <a:spAutoFit/>
          </a:bodyPr>
          <a:lstStyle/>
          <a:p>
            <a:pPr algn="l">
              <a:lnSpc>
                <a:spcPts val="1321"/>
              </a:lnSpc>
            </a:pPr>
            <a:r>
              <a:rPr sz="1120" b="0">
                <a:solidFill>
                  <a:srgbClr val="FFFFFF"/>
                </a:solidFill>
                <a:latin typeface="Arial"/>
              </a:rPr>
              <a:t>granite-4.0-350m-Q8_0, 15.0 tokens/s</a:t>
            </a:r>
          </a:p>
        </p:txBody>
      </p:sp>
      <p:sp>
        <p:nvSpPr>
          <p:cNvPr id="26" name="Rounded Rectangle 25"/>
          <p:cNvSpPr/>
          <p:nvPr/>
        </p:nvSpPr>
        <p:spPr>
          <a:xfrm>
            <a:off x="6045200" y="1498600"/>
            <a:ext cx="5638800" cy="2768600"/>
          </a:xfrm>
          <a:prstGeom prst="roundRect">
            <a:avLst>
              <a:gd name="adj" fmla="val 4128"/>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23000" y="1498600"/>
            <a:ext cx="558800" cy="38100"/>
          </a:xfrm>
          <a:prstGeom prst="roundRect">
            <a:avLst>
              <a:gd name="adj" fmla="val 50000"/>
            </a:avLst>
          </a:prstGeom>
          <a:solidFill>
            <a:srgbClr val="42BE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8400" y="1651000"/>
            <a:ext cx="5232400" cy="203200"/>
          </a:xfrm>
          <a:prstGeom prst="rect">
            <a:avLst/>
          </a:prstGeom>
          <a:noFill/>
        </p:spPr>
        <p:txBody>
          <a:bodyPr wrap="square" lIns="0" rIns="0" tIns="0" bIns="0" anchor="t">
            <a:spAutoFit/>
          </a:bodyPr>
          <a:lstStyle/>
          <a:p>
            <a:pPr algn="l">
              <a:lnSpc>
                <a:spcPts val="1281"/>
              </a:lnSpc>
            </a:pPr>
            <a:r>
              <a:rPr sz="1050" b="1">
                <a:solidFill>
                  <a:srgbClr val="42BE65"/>
                </a:solidFill>
                <a:latin typeface="Arial"/>
              </a:rPr>
              <a:t>NNPA DEVICE TEST (zDNN 1.0.1)</a:t>
            </a:r>
          </a:p>
        </p:txBody>
      </p:sp>
      <p:pic>
        <p:nvPicPr>
          <p:cNvPr id="29" name="Picture 28" descr="chart_nnpa.png"/>
          <p:cNvPicPr>
            <a:picLocks noChangeAspect="1"/>
          </p:cNvPicPr>
          <p:nvPr/>
        </p:nvPicPr>
        <p:blipFill>
          <a:blip r:embed="rId3"/>
          <a:stretch>
            <a:fillRect/>
          </a:stretch>
        </p:blipFill>
        <p:spPr>
          <a:xfrm>
            <a:off x="7098489" y="1879600"/>
            <a:ext cx="3532221" cy="1930400"/>
          </a:xfrm>
          <a:prstGeom prst="rect">
            <a:avLst/>
          </a:prstGeom>
        </p:spPr>
      </p:pic>
      <p:sp>
        <p:nvSpPr>
          <p:cNvPr id="30" name="TextBox 29"/>
          <p:cNvSpPr txBox="1"/>
          <p:nvPr/>
        </p:nvSpPr>
        <p:spPr>
          <a:xfrm>
            <a:off x="6248400" y="3810000"/>
            <a:ext cx="5359400" cy="406400"/>
          </a:xfrm>
          <a:prstGeom prst="rect">
            <a:avLst/>
          </a:prstGeom>
          <a:noFill/>
        </p:spPr>
        <p:txBody>
          <a:bodyPr wrap="square" lIns="0" rIns="0" tIns="0" bIns="0" anchor="t">
            <a:spAutoFit/>
          </a:bodyPr>
          <a:lstStyle/>
          <a:p>
            <a:pPr algn="l">
              <a:lnSpc>
                <a:spcPts val="1200"/>
              </a:lnSpc>
            </a:pPr>
            <a:r>
              <a:rPr sz="1000" b="0">
                <a:solidFill>
                  <a:srgbClr val="B4C2DE"/>
                </a:solidFill>
                <a:latin typeface="Arial"/>
              </a:rPr>
              <a:t>339x faster than NumPy BLAS on this VM incl. data conversion; max error 0.045 on values up to 13.2 (16-bit arithmetic).</a:t>
            </a:r>
          </a:p>
        </p:txBody>
      </p:sp>
      <p:sp>
        <p:nvSpPr>
          <p:cNvPr id="31" name="Rounded Rectangle 30"/>
          <p:cNvSpPr/>
          <p:nvPr/>
        </p:nvSpPr>
        <p:spPr>
          <a:xfrm>
            <a:off x="508000" y="4445000"/>
            <a:ext cx="2679700" cy="990600"/>
          </a:xfrm>
          <a:prstGeom prst="roundRect">
            <a:avLst>
              <a:gd name="adj" fmla="val 11538"/>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0400" y="4521200"/>
            <a:ext cx="2438400" cy="431800"/>
          </a:xfrm>
          <a:prstGeom prst="rect">
            <a:avLst/>
          </a:prstGeom>
          <a:noFill/>
        </p:spPr>
        <p:txBody>
          <a:bodyPr wrap="square" lIns="0" rIns="0" tIns="0" bIns="0" anchor="t">
            <a:spAutoFit/>
          </a:bodyPr>
          <a:lstStyle/>
          <a:p>
            <a:pPr algn="l">
              <a:lnSpc>
                <a:spcPts val="2310"/>
              </a:lnSpc>
            </a:pPr>
            <a:r>
              <a:rPr sz="2200" b="1">
                <a:solidFill>
                  <a:srgbClr val="33B1FF"/>
                </a:solidFill>
                <a:latin typeface="Arial"/>
              </a:rPr>
              <a:t>20.6 k</a:t>
            </a:r>
          </a:p>
        </p:txBody>
      </p:sp>
      <p:sp>
        <p:nvSpPr>
          <p:cNvPr id="33" name="TextBox 32"/>
          <p:cNvSpPr txBox="1"/>
          <p:nvPr/>
        </p:nvSpPr>
        <p:spPr>
          <a:xfrm>
            <a:off x="660400" y="4902200"/>
            <a:ext cx="2438400" cy="177800"/>
          </a:xfrm>
          <a:prstGeom prst="rect">
            <a:avLst/>
          </a:prstGeom>
          <a:noFill/>
        </p:spPr>
        <p:txBody>
          <a:bodyPr wrap="square" lIns="0" rIns="0" tIns="0" bIns="0" anchor="t">
            <a:spAutoFit/>
          </a:bodyPr>
          <a:lstStyle/>
          <a:p>
            <a:pPr algn="l">
              <a:lnSpc>
                <a:spcPts val="1281"/>
              </a:lnSpc>
            </a:pPr>
            <a:r>
              <a:rPr sz="1050" b="1">
                <a:solidFill>
                  <a:srgbClr val="FFFFFF"/>
                </a:solidFill>
                <a:latin typeface="Arial"/>
              </a:rPr>
              <a:t>events/s</a:t>
            </a:r>
          </a:p>
        </p:txBody>
      </p:sp>
      <p:sp>
        <p:nvSpPr>
          <p:cNvPr id="34" name="TextBox 33"/>
          <p:cNvSpPr txBox="1"/>
          <p:nvPr/>
        </p:nvSpPr>
        <p:spPr>
          <a:xfrm>
            <a:off x="660400" y="5092700"/>
            <a:ext cx="2438400" cy="330200"/>
          </a:xfrm>
          <a:prstGeom prst="rect">
            <a:avLst/>
          </a:prstGeom>
          <a:noFill/>
        </p:spPr>
        <p:txBody>
          <a:bodyPr wrap="square" lIns="0" rIns="0" tIns="0" bIns="0" anchor="t">
            <a:spAutoFit/>
          </a:bodyPr>
          <a:lstStyle/>
          <a:p>
            <a:pPr algn="l">
              <a:lnSpc>
                <a:spcPts val="1057"/>
              </a:lnSpc>
            </a:pPr>
            <a:r>
              <a:rPr sz="919" b="0">
                <a:solidFill>
                  <a:srgbClr val="B4C2DE"/>
                </a:solidFill>
                <a:latin typeface="Arial"/>
              </a:rPr>
              <a:t>graph + state engine (12.4 k at 100,000 events)</a:t>
            </a:r>
          </a:p>
        </p:txBody>
      </p:sp>
      <p:sp>
        <p:nvSpPr>
          <p:cNvPr id="35" name="Rounded Rectangle 34"/>
          <p:cNvSpPr/>
          <p:nvPr/>
        </p:nvSpPr>
        <p:spPr>
          <a:xfrm>
            <a:off x="3340100" y="4445000"/>
            <a:ext cx="2679700" cy="990600"/>
          </a:xfrm>
          <a:prstGeom prst="roundRect">
            <a:avLst>
              <a:gd name="adj" fmla="val 11538"/>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92500" y="4521200"/>
            <a:ext cx="2438400" cy="431800"/>
          </a:xfrm>
          <a:prstGeom prst="rect">
            <a:avLst/>
          </a:prstGeom>
          <a:noFill/>
        </p:spPr>
        <p:txBody>
          <a:bodyPr wrap="square" lIns="0" rIns="0" tIns="0" bIns="0" anchor="t">
            <a:spAutoFit/>
          </a:bodyPr>
          <a:lstStyle/>
          <a:p>
            <a:pPr algn="l">
              <a:lnSpc>
                <a:spcPts val="2310"/>
              </a:lnSpc>
            </a:pPr>
            <a:r>
              <a:rPr sz="2200" b="1">
                <a:solidFill>
                  <a:srgbClr val="33B1FF"/>
                </a:solidFill>
                <a:latin typeface="Arial"/>
              </a:rPr>
              <a:t>88 to 122</a:t>
            </a:r>
          </a:p>
        </p:txBody>
      </p:sp>
      <p:sp>
        <p:nvSpPr>
          <p:cNvPr id="37" name="TextBox 36"/>
          <p:cNvSpPr txBox="1"/>
          <p:nvPr/>
        </p:nvSpPr>
        <p:spPr>
          <a:xfrm>
            <a:off x="3492500" y="4902200"/>
            <a:ext cx="2438400" cy="177800"/>
          </a:xfrm>
          <a:prstGeom prst="rect">
            <a:avLst/>
          </a:prstGeom>
          <a:noFill/>
        </p:spPr>
        <p:txBody>
          <a:bodyPr wrap="square" lIns="0" rIns="0" tIns="0" bIns="0" anchor="t">
            <a:spAutoFit/>
          </a:bodyPr>
          <a:lstStyle/>
          <a:p>
            <a:pPr algn="l">
              <a:lnSpc>
                <a:spcPts val="1281"/>
              </a:lnSpc>
            </a:pPr>
            <a:r>
              <a:rPr sz="1050" b="1">
                <a:solidFill>
                  <a:srgbClr val="FFFFFF"/>
                </a:solidFill>
                <a:latin typeface="Arial"/>
              </a:rPr>
              <a:t>events/s</a:t>
            </a:r>
          </a:p>
        </p:txBody>
      </p:sp>
      <p:sp>
        <p:nvSpPr>
          <p:cNvPr id="38" name="TextBox 37"/>
          <p:cNvSpPr txBox="1"/>
          <p:nvPr/>
        </p:nvSpPr>
        <p:spPr>
          <a:xfrm>
            <a:off x="3492500" y="5092700"/>
            <a:ext cx="2438400" cy="330200"/>
          </a:xfrm>
          <a:prstGeom prst="rect">
            <a:avLst/>
          </a:prstGeom>
          <a:noFill/>
        </p:spPr>
        <p:txBody>
          <a:bodyPr wrap="square" lIns="0" rIns="0" tIns="0" bIns="0" anchor="t">
            <a:spAutoFit/>
          </a:bodyPr>
          <a:lstStyle/>
          <a:p>
            <a:pPr algn="l">
              <a:lnSpc>
                <a:spcPts val="1057"/>
              </a:lnSpc>
            </a:pPr>
            <a:r>
              <a:rPr sz="919" b="0">
                <a:solidFill>
                  <a:srgbClr val="B4C2DE"/>
                </a:solidFill>
                <a:latin typeface="Arial"/>
              </a:rPr>
              <a:t>states + alerts + ML risk (random forest), 1,000 to 100,000 events</a:t>
            </a:r>
          </a:p>
        </p:txBody>
      </p:sp>
      <p:sp>
        <p:nvSpPr>
          <p:cNvPr id="39" name="Rounded Rectangle 38"/>
          <p:cNvSpPr/>
          <p:nvPr/>
        </p:nvSpPr>
        <p:spPr>
          <a:xfrm>
            <a:off x="6172200" y="4445000"/>
            <a:ext cx="2679700" cy="990600"/>
          </a:xfrm>
          <a:prstGeom prst="roundRect">
            <a:avLst>
              <a:gd name="adj" fmla="val 11538"/>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24600" y="4521200"/>
            <a:ext cx="2438400" cy="431800"/>
          </a:xfrm>
          <a:prstGeom prst="rect">
            <a:avLst/>
          </a:prstGeom>
          <a:noFill/>
        </p:spPr>
        <p:txBody>
          <a:bodyPr wrap="square" lIns="0" rIns="0" tIns="0" bIns="0" anchor="t">
            <a:spAutoFit/>
          </a:bodyPr>
          <a:lstStyle/>
          <a:p>
            <a:pPr algn="l">
              <a:lnSpc>
                <a:spcPts val="2310"/>
              </a:lnSpc>
            </a:pPr>
            <a:r>
              <a:rPr sz="2200" b="1">
                <a:solidFill>
                  <a:srgbClr val="33B1FF"/>
                </a:solidFill>
                <a:latin typeface="Arial"/>
              </a:rPr>
              <a:t>2.8 s</a:t>
            </a:r>
          </a:p>
        </p:txBody>
      </p:sp>
      <p:sp>
        <p:nvSpPr>
          <p:cNvPr id="41" name="TextBox 40"/>
          <p:cNvSpPr txBox="1"/>
          <p:nvPr/>
        </p:nvSpPr>
        <p:spPr>
          <a:xfrm>
            <a:off x="6324600" y="4902200"/>
            <a:ext cx="2438400" cy="177800"/>
          </a:xfrm>
          <a:prstGeom prst="rect">
            <a:avLst/>
          </a:prstGeom>
          <a:noFill/>
        </p:spPr>
        <p:txBody>
          <a:bodyPr wrap="square" lIns="0" rIns="0" tIns="0" bIns="0" anchor="t">
            <a:spAutoFit/>
          </a:bodyPr>
          <a:lstStyle/>
          <a:p>
            <a:pPr algn="l">
              <a:lnSpc>
                <a:spcPts val="1281"/>
              </a:lnSpc>
            </a:pPr>
            <a:r>
              <a:rPr sz="1050" b="1">
                <a:solidFill>
                  <a:srgbClr val="FFFFFF"/>
                </a:solidFill>
                <a:latin typeface="Arial"/>
              </a:rPr>
              <a:t>p99 queue latency</a:t>
            </a:r>
          </a:p>
        </p:txBody>
      </p:sp>
      <p:sp>
        <p:nvSpPr>
          <p:cNvPr id="42" name="TextBox 41"/>
          <p:cNvSpPr txBox="1"/>
          <p:nvPr/>
        </p:nvSpPr>
        <p:spPr>
          <a:xfrm>
            <a:off x="6324600" y="5092700"/>
            <a:ext cx="2438400" cy="330200"/>
          </a:xfrm>
          <a:prstGeom prst="rect">
            <a:avLst/>
          </a:prstGeom>
          <a:noFill/>
        </p:spPr>
        <p:txBody>
          <a:bodyPr wrap="square" lIns="0" rIns="0" tIns="0" bIns="0" anchor="t">
            <a:spAutoFit/>
          </a:bodyPr>
          <a:lstStyle/>
          <a:p>
            <a:pPr algn="l">
              <a:lnSpc>
                <a:spcPts val="1057"/>
              </a:lnSpc>
            </a:pPr>
            <a:r>
              <a:rPr sz="919" b="0">
                <a:solidFill>
                  <a:srgbClr val="B4C2DE"/>
                </a:solidFill>
                <a:latin typeface="Arial"/>
              </a:rPr>
              <a:t>at 2x measured capacity, backpressure, 0 events lost</a:t>
            </a:r>
          </a:p>
        </p:txBody>
      </p:sp>
      <p:sp>
        <p:nvSpPr>
          <p:cNvPr id="43" name="Rounded Rectangle 42"/>
          <p:cNvSpPr/>
          <p:nvPr/>
        </p:nvSpPr>
        <p:spPr>
          <a:xfrm>
            <a:off x="9004300" y="4445000"/>
            <a:ext cx="2679700" cy="990600"/>
          </a:xfrm>
          <a:prstGeom prst="roundRect">
            <a:avLst>
              <a:gd name="adj" fmla="val 11538"/>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56700" y="4521200"/>
            <a:ext cx="2438400" cy="431800"/>
          </a:xfrm>
          <a:prstGeom prst="rect">
            <a:avLst/>
          </a:prstGeom>
          <a:noFill/>
        </p:spPr>
        <p:txBody>
          <a:bodyPr wrap="square" lIns="0" rIns="0" tIns="0" bIns="0" anchor="t">
            <a:spAutoFit/>
          </a:bodyPr>
          <a:lstStyle/>
          <a:p>
            <a:pPr algn="l">
              <a:lnSpc>
                <a:spcPts val="2310"/>
              </a:lnSpc>
            </a:pPr>
            <a:r>
              <a:rPr sz="2200" b="1">
                <a:solidFill>
                  <a:srgbClr val="33B1FF"/>
                </a:solidFill>
                <a:latin typeface="Arial"/>
              </a:rPr>
              <a:t>39% / 67%</a:t>
            </a:r>
          </a:p>
        </p:txBody>
      </p:sp>
      <p:sp>
        <p:nvSpPr>
          <p:cNvPr id="45" name="TextBox 44"/>
          <p:cNvSpPr txBox="1"/>
          <p:nvPr/>
        </p:nvSpPr>
        <p:spPr>
          <a:xfrm>
            <a:off x="9156700" y="4902200"/>
            <a:ext cx="2438400" cy="177800"/>
          </a:xfrm>
          <a:prstGeom prst="rect">
            <a:avLst/>
          </a:prstGeom>
          <a:noFill/>
        </p:spPr>
        <p:txBody>
          <a:bodyPr wrap="square" lIns="0" rIns="0" tIns="0" bIns="0" anchor="t">
            <a:spAutoFit/>
          </a:bodyPr>
          <a:lstStyle/>
          <a:p>
            <a:pPr algn="l">
              <a:lnSpc>
                <a:spcPts val="1281"/>
              </a:lnSpc>
            </a:pPr>
            <a:r>
              <a:rPr sz="1050" b="1">
                <a:solidFill>
                  <a:srgbClr val="FFFFFF"/>
                </a:solidFill>
                <a:latin typeface="Arial"/>
              </a:rPr>
              <a:t>events shed</a:t>
            </a:r>
          </a:p>
        </p:txBody>
      </p:sp>
      <p:sp>
        <p:nvSpPr>
          <p:cNvPr id="46" name="TextBox 45"/>
          <p:cNvSpPr txBox="1"/>
          <p:nvPr/>
        </p:nvSpPr>
        <p:spPr>
          <a:xfrm>
            <a:off x="9156700" y="5092700"/>
            <a:ext cx="2438400" cy="330200"/>
          </a:xfrm>
          <a:prstGeom prst="rect">
            <a:avLst/>
          </a:prstGeom>
          <a:noFill/>
        </p:spPr>
        <p:txBody>
          <a:bodyPr wrap="square" lIns="0" rIns="0" tIns="0" bIns="0" anchor="t">
            <a:spAutoFit/>
          </a:bodyPr>
          <a:lstStyle/>
          <a:p>
            <a:pPr algn="l">
              <a:lnSpc>
                <a:spcPts val="1057"/>
              </a:lnSpc>
            </a:pPr>
            <a:r>
              <a:rPr sz="919" b="0">
                <a:solidFill>
                  <a:srgbClr val="B4C2DE"/>
                </a:solidFill>
                <a:latin typeface="Arial"/>
              </a:rPr>
              <a:t>bounded queue at 2x / 4x measured capacity</a:t>
            </a:r>
          </a:p>
        </p:txBody>
      </p:sp>
      <p:sp>
        <p:nvSpPr>
          <p:cNvPr id="47" name="Rounded Rectangle 46"/>
          <p:cNvSpPr/>
          <p:nvPr/>
        </p:nvSpPr>
        <p:spPr>
          <a:xfrm>
            <a:off x="508000" y="5588000"/>
            <a:ext cx="11176000" cy="711200"/>
          </a:xfrm>
          <a:prstGeom prst="roundRect">
            <a:avLst>
              <a:gd name="adj" fmla="val 14285"/>
            </a:avLst>
          </a:prstGeom>
          <a:solidFill>
            <a:srgbClr val="F1C21B">
              <a:alpha val="10000"/>
            </a:srgbClr>
          </a:solidFill>
          <a:ln w="10160">
            <a:solidFill>
              <a:srgbClr val="F1C21B">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5800" y="5664200"/>
            <a:ext cx="10845800" cy="609600"/>
          </a:xfrm>
          <a:prstGeom prst="rect">
            <a:avLst/>
          </a:prstGeom>
          <a:noFill/>
        </p:spPr>
        <p:txBody>
          <a:bodyPr wrap="square" lIns="0" rIns="0" tIns="0" bIns="0" anchor="t">
            <a:spAutoFit/>
          </a:bodyPr>
          <a:lstStyle/>
          <a:p>
            <a:pPr algn="l">
              <a:lnSpc>
                <a:spcPts val="1302"/>
              </a:lnSpc>
              <a:spcAft>
                <a:spcPts val="300"/>
              </a:spcAft>
            </a:pPr>
            <a:r>
              <a:rPr sz="1050" b="1">
                <a:solidFill>
                  <a:srgbClr val="F1C21B"/>
                </a:solidFill>
                <a:latin typeface="Arial"/>
              </a:rPr>
              <a:t>What we do not claim: </a:t>
            </a:r>
            <a:r>
              <a:rPr sz="1050" b="0">
                <a:solidFill>
                  <a:srgbClr val="B4C2DE"/>
                </a:solidFill>
                <a:latin typeface="Arial"/>
              </a:rPr>
              <a:t>the tree and linear risk models run on the CPU, not on the NNPA; only the zDNN microbenchmark proves NNPA execution. Throughput was measured on a small 2 vCPU VM; ML scoring speed depends on the model chosen on validation. No security, cost or availability claims are made.</a:t>
            </a:r>
          </a:p>
          <a:p>
            <a:pPr algn="l">
              <a:lnSpc>
                <a:spcPts val="1302"/>
              </a:lnSpc>
            </a:pPr>
            <a:r>
              <a:rPr sz="1050" b="1">
                <a:solidFill>
                  <a:srgbClr val="FFFFFF"/>
                </a:solidFill>
                <a:latin typeface="Arial"/>
              </a:rPr>
              <a:t>Why LinuxONE fits: </a:t>
            </a:r>
            <a:r>
              <a:rPr sz="1050" b="0">
                <a:solidFill>
                  <a:srgbClr val="B4C2DE"/>
                </a:solidFill>
                <a:latin typeface="Arial"/>
              </a:rPr>
              <a:t>notes are processed by a local model on the same server that holds the data, and the event engine needs sustained, low-latency streaming.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2000" cy="6858000"/>
          </a:xfrm>
          <a:prstGeom prst="rect">
            <a:avLst/>
          </a:prstGeom>
          <a:gradFill rotWithShape="1">
            <a:gsLst>
              <a:gs pos="0">
                <a:srgbClr val="060B17"/>
              </a:gs>
              <a:gs pos="100000">
                <a:srgbClr val="0E1C3A"/>
              </a:gs>
            </a:gsLst>
            <a:lin scaled="0" ang="18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71000" y="76200"/>
            <a:ext cx="2540000" cy="2540000"/>
          </a:xfrm>
          <a:prstGeom prst="ellipse">
            <a:avLst/>
          </a:prstGeom>
          <a:solidFill>
            <a:srgbClr val="0F62FE">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33000" y="457200"/>
            <a:ext cx="1397000" cy="1397000"/>
          </a:xfrm>
          <a:prstGeom prst="ellipse">
            <a:avLst/>
          </a:prstGeom>
          <a:solidFill>
            <a:srgbClr val="33B1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393700"/>
            <a:ext cx="50800" cy="1651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368300"/>
            <a:ext cx="6375400" cy="228600"/>
          </a:xfrm>
          <a:prstGeom prst="rect">
            <a:avLst/>
          </a:prstGeom>
          <a:noFill/>
        </p:spPr>
        <p:txBody>
          <a:bodyPr wrap="square" lIns="0" rIns="0" tIns="0" bIns="0" anchor="t">
            <a:spAutoFit/>
          </a:bodyPr>
          <a:lstStyle/>
          <a:p>
            <a:pPr algn="l">
              <a:lnSpc>
                <a:spcPts val="1403"/>
              </a:lnSpc>
            </a:pPr>
            <a:r>
              <a:rPr sz="1150" b="1">
                <a:solidFill>
                  <a:srgbClr val="33B1FF"/>
                </a:solidFill>
                <a:latin typeface="Arial"/>
              </a:rPr>
              <a:t>EXPERIMENTS &amp; RESULTS</a:t>
            </a:r>
          </a:p>
        </p:txBody>
      </p:sp>
      <p:sp>
        <p:nvSpPr>
          <p:cNvPr id="7" name="TextBox 6"/>
          <p:cNvSpPr txBox="1"/>
          <p:nvPr/>
        </p:nvSpPr>
        <p:spPr>
          <a:xfrm>
            <a:off x="508000" y="660400"/>
            <a:ext cx="11201400" cy="939800"/>
          </a:xfrm>
          <a:prstGeom prst="rect">
            <a:avLst/>
          </a:prstGeom>
          <a:noFill/>
        </p:spPr>
        <p:txBody>
          <a:bodyPr wrap="square" lIns="0" rIns="0" tIns="0" bIns="0" anchor="t">
            <a:spAutoFit/>
          </a:bodyPr>
          <a:lstStyle/>
          <a:p>
            <a:pPr algn="l">
              <a:lnSpc>
                <a:spcPts val="3247"/>
              </a:lnSpc>
            </a:pPr>
            <a:r>
              <a:rPr sz="2800" b="1">
                <a:solidFill>
                  <a:srgbClr val="FFFFFF"/>
                </a:solidFill>
                <a:latin typeface="Arial"/>
              </a:rPr>
              <a:t>Fewer false alarms, earlier warnings, honest limits</a:t>
            </a:r>
          </a:p>
        </p:txBody>
      </p:sp>
      <p:cxnSp>
        <p:nvCxnSpPr>
          <p:cNvPr id="8" name="Connector 7"/>
          <p:cNvCxnSpPr/>
          <p:nvPr/>
        </p:nvCxnSpPr>
        <p:spPr>
          <a:xfrm>
            <a:off x="508000" y="6451600"/>
            <a:ext cx="11176000" cy="0"/>
          </a:xfrm>
          <a:prstGeom prst="line">
            <a:avLst/>
          </a:prstGeom>
          <a:ln w="8890">
            <a:solidFill>
              <a:srgbClr val="2A4A86">
                <a:alpha val="70000"/>
              </a:srgbClr>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6527800"/>
            <a:ext cx="6375400" cy="177800"/>
          </a:xfrm>
          <a:prstGeom prst="rect">
            <a:avLst/>
          </a:prstGeom>
          <a:noFill/>
        </p:spPr>
        <p:txBody>
          <a:bodyPr wrap="square" lIns="0" rIns="0" tIns="0" bIns="0" anchor="t">
            <a:spAutoFit/>
          </a:bodyPr>
          <a:lstStyle/>
          <a:p>
            <a:pPr algn="l">
              <a:lnSpc>
                <a:spcPts val="1037"/>
              </a:lnSpc>
            </a:pPr>
            <a:r>
              <a:rPr sz="850" b="0">
                <a:solidFill>
                  <a:srgbClr val="7C8FB5"/>
                </a:solidFill>
                <a:latin typeface="Arial"/>
              </a:rPr>
              <a:t>MedRelay  |  IBM Z Datathon 2026  |  synthetic data only, decision support for qualified human review</a:t>
            </a:r>
          </a:p>
        </p:txBody>
      </p:sp>
      <p:sp>
        <p:nvSpPr>
          <p:cNvPr id="10" name="TextBox 9"/>
          <p:cNvSpPr txBox="1"/>
          <p:nvPr/>
        </p:nvSpPr>
        <p:spPr>
          <a:xfrm>
            <a:off x="10668000" y="6527800"/>
            <a:ext cx="1041400" cy="177800"/>
          </a:xfrm>
          <a:prstGeom prst="rect">
            <a:avLst/>
          </a:prstGeom>
          <a:noFill/>
        </p:spPr>
        <p:txBody>
          <a:bodyPr wrap="square" lIns="0" rIns="0" tIns="0" bIns="0" anchor="t">
            <a:spAutoFit/>
          </a:bodyPr>
          <a:lstStyle/>
          <a:p>
            <a:pPr algn="r">
              <a:lnSpc>
                <a:spcPts val="1098"/>
              </a:lnSpc>
            </a:pPr>
            <a:r>
              <a:rPr sz="900" b="0">
                <a:solidFill>
                  <a:srgbClr val="7C8FB5"/>
                </a:solidFill>
                <a:latin typeface="Arial"/>
              </a:rPr>
              <a:t>7 / 10</a:t>
            </a:r>
          </a:p>
        </p:txBody>
      </p:sp>
      <p:sp>
        <p:nvSpPr>
          <p:cNvPr id="11" name="Rounded Rectangle 10"/>
          <p:cNvSpPr/>
          <p:nvPr/>
        </p:nvSpPr>
        <p:spPr>
          <a:xfrm>
            <a:off x="508000" y="1422400"/>
            <a:ext cx="3619500" cy="3632200"/>
          </a:xfrm>
          <a:prstGeom prst="roundRect">
            <a:avLst>
              <a:gd name="adj" fmla="val 3157"/>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0400" y="1549400"/>
            <a:ext cx="3390900" cy="177800"/>
          </a:xfrm>
          <a:prstGeom prst="rect">
            <a:avLst/>
          </a:prstGeom>
          <a:noFill/>
        </p:spPr>
        <p:txBody>
          <a:bodyPr wrap="square" lIns="0" rIns="0" tIns="0" bIns="0" anchor="t">
            <a:spAutoFit/>
          </a:bodyPr>
          <a:lstStyle/>
          <a:p>
            <a:pPr algn="l">
              <a:lnSpc>
                <a:spcPts val="1146"/>
              </a:lnSpc>
            </a:pPr>
            <a:r>
              <a:rPr sz="940" b="1">
                <a:solidFill>
                  <a:srgbClr val="33B1FF"/>
                </a:solidFill>
                <a:latin typeface="Arial"/>
              </a:rPr>
              <a:t>EARLY WARNING, &gt;= 24 h BEFORE DEADLINE</a:t>
            </a:r>
          </a:p>
        </p:txBody>
      </p:sp>
      <p:pic>
        <p:nvPicPr>
          <p:cNvPr id="13" name="Picture 12" descr="chart_early_warning.png"/>
          <p:cNvPicPr>
            <a:picLocks noChangeAspect="1"/>
          </p:cNvPicPr>
          <p:nvPr/>
        </p:nvPicPr>
        <p:blipFill>
          <a:blip r:embed="rId3"/>
          <a:stretch>
            <a:fillRect/>
          </a:stretch>
        </p:blipFill>
        <p:spPr>
          <a:xfrm>
            <a:off x="700252" y="1778000"/>
            <a:ext cx="3234997" cy="2260600"/>
          </a:xfrm>
          <a:prstGeom prst="rect">
            <a:avLst/>
          </a:prstGeom>
        </p:spPr>
      </p:pic>
      <p:sp>
        <p:nvSpPr>
          <p:cNvPr id="14" name="TextBox 13"/>
          <p:cNvSpPr txBox="1"/>
          <p:nvPr/>
        </p:nvSpPr>
        <p:spPr>
          <a:xfrm>
            <a:off x="660400" y="4089400"/>
            <a:ext cx="3340100" cy="914400"/>
          </a:xfrm>
          <a:prstGeom prst="rect">
            <a:avLst/>
          </a:prstGeom>
          <a:noFill/>
        </p:spPr>
        <p:txBody>
          <a:bodyPr wrap="square" lIns="0" rIns="0" tIns="0" bIns="0" anchor="t">
            <a:spAutoFit/>
          </a:bodyPr>
          <a:lstStyle/>
          <a:p>
            <a:pPr algn="l">
              <a:lnSpc>
                <a:spcPts val="1171"/>
              </a:lnSpc>
            </a:pPr>
            <a:r>
              <a:rPr sz="960" b="0">
                <a:solidFill>
                  <a:srgbClr val="B4C2DE"/>
                </a:solidFill>
                <a:latin typeface="Arial"/>
              </a:rPr>
              <a:t>Graph model C: 1,916 alerts, 82% precision, 72 h median lead. A 24 h reminder is similar on false alerts (12.0%) with only 24 h lead; deadline-only A reaches 96% recall but alerts on 2,469 of 3,967 tasks.</a:t>
            </a:r>
          </a:p>
        </p:txBody>
      </p:sp>
      <p:sp>
        <p:nvSpPr>
          <p:cNvPr id="15" name="Rounded Rectangle 14"/>
          <p:cNvSpPr/>
          <p:nvPr/>
        </p:nvSpPr>
        <p:spPr>
          <a:xfrm>
            <a:off x="4286250" y="1422400"/>
            <a:ext cx="3619500" cy="3632200"/>
          </a:xfrm>
          <a:prstGeom prst="roundRect">
            <a:avLst>
              <a:gd name="adj" fmla="val 3157"/>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8650" y="1549400"/>
            <a:ext cx="3390900" cy="177800"/>
          </a:xfrm>
          <a:prstGeom prst="rect">
            <a:avLst/>
          </a:prstGeom>
          <a:noFill/>
        </p:spPr>
        <p:txBody>
          <a:bodyPr wrap="square" lIns="0" rIns="0" tIns="0" bIns="0" anchor="t">
            <a:spAutoFit/>
          </a:bodyPr>
          <a:lstStyle/>
          <a:p>
            <a:pPr algn="l">
              <a:lnSpc>
                <a:spcPts val="1146"/>
              </a:lnSpc>
            </a:pPr>
            <a:r>
              <a:rPr sz="940" b="1">
                <a:solidFill>
                  <a:srgbClr val="33B1FF"/>
                </a:solidFill>
                <a:latin typeface="Arial"/>
              </a:rPr>
              <a:t>EVIDENCE-AWARE STATES vs NAIVE RULE</a:t>
            </a:r>
          </a:p>
        </p:txBody>
      </p:sp>
      <p:pic>
        <p:nvPicPr>
          <p:cNvPr id="17" name="Picture 16" descr="chart_engine_vs_naive.png"/>
          <p:cNvPicPr>
            <a:picLocks noChangeAspect="1"/>
          </p:cNvPicPr>
          <p:nvPr/>
        </p:nvPicPr>
        <p:blipFill>
          <a:blip r:embed="rId4"/>
          <a:stretch>
            <a:fillRect/>
          </a:stretch>
        </p:blipFill>
        <p:spPr>
          <a:xfrm>
            <a:off x="4390275" y="1778000"/>
            <a:ext cx="3411451" cy="2260600"/>
          </a:xfrm>
          <a:prstGeom prst="rect">
            <a:avLst/>
          </a:prstGeom>
        </p:spPr>
      </p:pic>
      <p:sp>
        <p:nvSpPr>
          <p:cNvPr id="18" name="TextBox 17"/>
          <p:cNvSpPr txBox="1"/>
          <p:nvPr/>
        </p:nvSpPr>
        <p:spPr>
          <a:xfrm>
            <a:off x="4438650" y="4089400"/>
            <a:ext cx="3340100" cy="914400"/>
          </a:xfrm>
          <a:prstGeom prst="rect">
            <a:avLst/>
          </a:prstGeom>
          <a:noFill/>
        </p:spPr>
        <p:txBody>
          <a:bodyPr wrap="square" lIns="0" rIns="0" tIns="0" bIns="0" anchor="t">
            <a:spAutoFit/>
          </a:bodyPr>
          <a:lstStyle/>
          <a:p>
            <a:pPr algn="l">
              <a:lnSpc>
                <a:spcPts val="1171"/>
              </a:lnSpc>
            </a:pPr>
            <a:r>
              <a:rPr sz="960" b="0">
                <a:solidFill>
                  <a:srgbClr val="B4C2DE"/>
                </a:solidFill>
                <a:latin typeface="Arial"/>
              </a:rPr>
              <a:t>State accuracy at the assessment time 0.911 vs 0.853; 1.000 once late evidence reconciles. The naive rule never recognises an unverified task.</a:t>
            </a:r>
          </a:p>
        </p:txBody>
      </p:sp>
      <p:sp>
        <p:nvSpPr>
          <p:cNvPr id="19" name="Rounded Rectangle 18"/>
          <p:cNvSpPr/>
          <p:nvPr/>
        </p:nvSpPr>
        <p:spPr>
          <a:xfrm>
            <a:off x="8064500" y="1422400"/>
            <a:ext cx="3619500" cy="3632200"/>
          </a:xfrm>
          <a:prstGeom prst="roundRect">
            <a:avLst>
              <a:gd name="adj" fmla="val 3157"/>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6900" y="1549400"/>
            <a:ext cx="3390900" cy="177800"/>
          </a:xfrm>
          <a:prstGeom prst="rect">
            <a:avLst/>
          </a:prstGeom>
          <a:noFill/>
        </p:spPr>
        <p:txBody>
          <a:bodyPr wrap="square" lIns="0" rIns="0" tIns="0" bIns="0" anchor="t">
            <a:spAutoFit/>
          </a:bodyPr>
          <a:lstStyle/>
          <a:p>
            <a:pPr algn="l">
              <a:lnSpc>
                <a:spcPts val="1146"/>
              </a:lnSpc>
            </a:pPr>
            <a:r>
              <a:rPr sz="940" b="1">
                <a:solidFill>
                  <a:srgbClr val="33B1FF"/>
                </a:solidFill>
                <a:latin typeface="Arial"/>
              </a:rPr>
              <a:t>WHAT DRIVES THE FORECAST</a:t>
            </a:r>
          </a:p>
        </p:txBody>
      </p:sp>
      <p:pic>
        <p:nvPicPr>
          <p:cNvPr id="21" name="Picture 20" descr="chart_ablation.png"/>
          <p:cNvPicPr>
            <a:picLocks noChangeAspect="1"/>
          </p:cNvPicPr>
          <p:nvPr/>
        </p:nvPicPr>
        <p:blipFill>
          <a:blip r:embed="rId5"/>
          <a:stretch>
            <a:fillRect/>
          </a:stretch>
        </p:blipFill>
        <p:spPr>
          <a:xfrm>
            <a:off x="8168525" y="1778000"/>
            <a:ext cx="3411451" cy="2260600"/>
          </a:xfrm>
          <a:prstGeom prst="rect">
            <a:avLst/>
          </a:prstGeom>
        </p:spPr>
      </p:pic>
      <p:sp>
        <p:nvSpPr>
          <p:cNvPr id="22" name="TextBox 21"/>
          <p:cNvSpPr txBox="1"/>
          <p:nvPr/>
        </p:nvSpPr>
        <p:spPr>
          <a:xfrm>
            <a:off x="8216900" y="4089400"/>
            <a:ext cx="3340100" cy="914400"/>
          </a:xfrm>
          <a:prstGeom prst="rect">
            <a:avLst/>
          </a:prstGeom>
          <a:noFill/>
        </p:spPr>
        <p:txBody>
          <a:bodyPr wrap="square" lIns="0" rIns="0" tIns="0" bIns="0" anchor="t">
            <a:spAutoFit/>
          </a:bodyPr>
          <a:lstStyle/>
          <a:p>
            <a:pPr algn="l">
              <a:lnSpc>
                <a:spcPts val="1171"/>
              </a:lnSpc>
            </a:pPr>
            <a:r>
              <a:rPr sz="960" b="0">
                <a:solidFill>
                  <a:srgbClr val="B4C2DE"/>
                </a:solidFill>
                <a:latin typeface="Arial"/>
              </a:rPr>
              <a:t>Temporal features carry most of the signal (-0.124 PR-AUC when removed). Graph features add a smaller, significant gain (+0.043 over independent tasks). Evidence features add nothing measurable.</a:t>
            </a:r>
          </a:p>
        </p:txBody>
      </p:sp>
      <p:sp>
        <p:nvSpPr>
          <p:cNvPr id="23" name="Rounded Rectangle 22"/>
          <p:cNvSpPr/>
          <p:nvPr/>
        </p:nvSpPr>
        <p:spPr>
          <a:xfrm>
            <a:off x="508000" y="5156200"/>
            <a:ext cx="2679700" cy="838200"/>
          </a:xfrm>
          <a:prstGeom prst="roundRect">
            <a:avLst>
              <a:gd name="adj" fmla="val 12121"/>
            </a:avLst>
          </a:prstGeom>
          <a:solidFill>
            <a:srgbClr val="10203F"/>
          </a:solidFill>
          <a:ln w="11430">
            <a:solidFill>
              <a:srgbClr val="33B1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000" y="5219700"/>
            <a:ext cx="1168400" cy="381000"/>
          </a:xfrm>
          <a:prstGeom prst="rect">
            <a:avLst/>
          </a:prstGeom>
          <a:noFill/>
        </p:spPr>
        <p:txBody>
          <a:bodyPr wrap="square" lIns="0" rIns="0" tIns="0" bIns="0" anchor="t">
            <a:spAutoFit/>
          </a:bodyPr>
          <a:lstStyle/>
          <a:p>
            <a:pPr algn="l">
              <a:lnSpc>
                <a:spcPts val="2205"/>
              </a:lnSpc>
            </a:pPr>
            <a:r>
              <a:rPr sz="2100" b="1">
                <a:solidFill>
                  <a:srgbClr val="33B1FF"/>
                </a:solidFill>
                <a:latin typeface="Arial"/>
              </a:rPr>
              <a:t>0.893</a:t>
            </a:r>
          </a:p>
        </p:txBody>
      </p:sp>
      <p:sp>
        <p:nvSpPr>
          <p:cNvPr id="25" name="TextBox 24"/>
          <p:cNvSpPr txBox="1"/>
          <p:nvPr/>
        </p:nvSpPr>
        <p:spPr>
          <a:xfrm>
            <a:off x="1778000" y="5257800"/>
            <a:ext cx="1397000" cy="355600"/>
          </a:xfrm>
          <a:prstGeom prst="rect">
            <a:avLst/>
          </a:prstGeom>
          <a:noFill/>
        </p:spPr>
        <p:txBody>
          <a:bodyPr wrap="square" lIns="0" rIns="0" tIns="0" bIns="0" anchor="t">
            <a:spAutoFit/>
          </a:bodyPr>
          <a:lstStyle/>
          <a:p>
            <a:pPr algn="l">
              <a:lnSpc>
                <a:spcPts val="1127"/>
              </a:lnSpc>
            </a:pPr>
            <a:r>
              <a:rPr sz="980" b="1">
                <a:solidFill>
                  <a:srgbClr val="FFFFFF"/>
                </a:solidFill>
                <a:latin typeface="Arial"/>
              </a:rPr>
              <a:t>PR-AUC, graph model</a:t>
            </a:r>
          </a:p>
        </p:txBody>
      </p:sp>
      <p:sp>
        <p:nvSpPr>
          <p:cNvPr id="26" name="TextBox 25"/>
          <p:cNvSpPr txBox="1"/>
          <p:nvPr/>
        </p:nvSpPr>
        <p:spPr>
          <a:xfrm>
            <a:off x="635000" y="5626100"/>
            <a:ext cx="2514600" cy="355600"/>
          </a:xfrm>
          <a:prstGeom prst="rect">
            <a:avLst/>
          </a:prstGeom>
          <a:noFill/>
        </p:spPr>
        <p:txBody>
          <a:bodyPr wrap="square" lIns="0" rIns="0" tIns="0" bIns="0" anchor="t">
            <a:spAutoFit/>
          </a:bodyPr>
          <a:lstStyle/>
          <a:p>
            <a:pPr algn="l">
              <a:lnSpc>
                <a:spcPts val="1011"/>
              </a:lnSpc>
            </a:pPr>
            <a:r>
              <a:rPr sz="880" b="0">
                <a:solidFill>
                  <a:srgbClr val="B4C2DE"/>
                </a:solidFill>
                <a:latin typeface="Arial"/>
              </a:rPr>
              <a:t>95% CI 0.882 to 0.904; simulated outcomes</a:t>
            </a:r>
          </a:p>
        </p:txBody>
      </p:sp>
      <p:sp>
        <p:nvSpPr>
          <p:cNvPr id="27" name="Rounded Rectangle 26"/>
          <p:cNvSpPr/>
          <p:nvPr/>
        </p:nvSpPr>
        <p:spPr>
          <a:xfrm>
            <a:off x="3340100" y="5156200"/>
            <a:ext cx="2679700" cy="838200"/>
          </a:xfrm>
          <a:prstGeom prst="roundRect">
            <a:avLst>
              <a:gd name="adj" fmla="val 12121"/>
            </a:avLst>
          </a:prstGeom>
          <a:solidFill>
            <a:srgbClr val="10203F"/>
          </a:solidFill>
          <a:ln w="11430">
            <a:solidFill>
              <a:srgbClr val="42BE65">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67100" y="5219700"/>
            <a:ext cx="1168400" cy="381000"/>
          </a:xfrm>
          <a:prstGeom prst="rect">
            <a:avLst/>
          </a:prstGeom>
          <a:noFill/>
        </p:spPr>
        <p:txBody>
          <a:bodyPr wrap="square" lIns="0" rIns="0" tIns="0" bIns="0" anchor="t">
            <a:spAutoFit/>
          </a:bodyPr>
          <a:lstStyle/>
          <a:p>
            <a:pPr algn="l">
              <a:lnSpc>
                <a:spcPts val="2205"/>
              </a:lnSpc>
            </a:pPr>
            <a:r>
              <a:rPr sz="2100" b="1">
                <a:solidFill>
                  <a:srgbClr val="42BE65"/>
                </a:solidFill>
                <a:latin typeface="Arial"/>
              </a:rPr>
              <a:t>0.358</a:t>
            </a:r>
          </a:p>
        </p:txBody>
      </p:sp>
      <p:sp>
        <p:nvSpPr>
          <p:cNvPr id="29" name="TextBox 28"/>
          <p:cNvSpPr txBox="1"/>
          <p:nvPr/>
        </p:nvSpPr>
        <p:spPr>
          <a:xfrm>
            <a:off x="4610100" y="5257800"/>
            <a:ext cx="1397000" cy="355600"/>
          </a:xfrm>
          <a:prstGeom prst="rect">
            <a:avLst/>
          </a:prstGeom>
          <a:noFill/>
        </p:spPr>
        <p:txBody>
          <a:bodyPr wrap="square" lIns="0" rIns="0" tIns="0" bIns="0" anchor="t">
            <a:spAutoFit/>
          </a:bodyPr>
          <a:lstStyle/>
          <a:p>
            <a:pPr algn="l">
              <a:lnSpc>
                <a:spcPts val="1127"/>
              </a:lnSpc>
            </a:pPr>
            <a:r>
              <a:rPr sz="980" b="1">
                <a:solidFill>
                  <a:srgbClr val="FFFFFF"/>
                </a:solidFill>
                <a:latin typeface="Arial"/>
              </a:rPr>
              <a:t>PR-AUC, real no-show data</a:t>
            </a:r>
          </a:p>
        </p:txBody>
      </p:sp>
      <p:sp>
        <p:nvSpPr>
          <p:cNvPr id="30" name="TextBox 29"/>
          <p:cNvSpPr txBox="1"/>
          <p:nvPr/>
        </p:nvSpPr>
        <p:spPr>
          <a:xfrm>
            <a:off x="3467100" y="5626100"/>
            <a:ext cx="2514600" cy="355600"/>
          </a:xfrm>
          <a:prstGeom prst="rect">
            <a:avLst/>
          </a:prstGeom>
          <a:noFill/>
        </p:spPr>
        <p:txBody>
          <a:bodyPr wrap="square" lIns="0" rIns="0" tIns="0" bIns="0" anchor="t">
            <a:spAutoFit/>
          </a:bodyPr>
          <a:lstStyle/>
          <a:p>
            <a:pPr algn="l">
              <a:lnSpc>
                <a:spcPts val="1011"/>
              </a:lnSpc>
            </a:pPr>
            <a:r>
              <a:rPr sz="880" b="0">
                <a:solidFill>
                  <a:srgbClr val="B4C2DE"/>
                </a:solidFill>
                <a:latin typeface="Arial"/>
              </a:rPr>
              <a:t>vs 0.203 base rate; secondary proof of concept</a:t>
            </a:r>
          </a:p>
        </p:txBody>
      </p:sp>
      <p:sp>
        <p:nvSpPr>
          <p:cNvPr id="31" name="Rounded Rectangle 30"/>
          <p:cNvSpPr/>
          <p:nvPr/>
        </p:nvSpPr>
        <p:spPr>
          <a:xfrm>
            <a:off x="6172200" y="5156200"/>
            <a:ext cx="2679700" cy="838200"/>
          </a:xfrm>
          <a:prstGeom prst="roundRect">
            <a:avLst>
              <a:gd name="adj" fmla="val 12121"/>
            </a:avLst>
          </a:prstGeom>
          <a:solidFill>
            <a:srgbClr val="10203F"/>
          </a:solidFill>
          <a:ln w="11430">
            <a:solidFill>
              <a:srgbClr val="F1C21B">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99200" y="5219700"/>
            <a:ext cx="1168400" cy="381000"/>
          </a:xfrm>
          <a:prstGeom prst="rect">
            <a:avLst/>
          </a:prstGeom>
          <a:noFill/>
        </p:spPr>
        <p:txBody>
          <a:bodyPr wrap="square" lIns="0" rIns="0" tIns="0" bIns="0" anchor="t">
            <a:spAutoFit/>
          </a:bodyPr>
          <a:lstStyle/>
          <a:p>
            <a:pPr algn="l">
              <a:lnSpc>
                <a:spcPts val="2205"/>
              </a:lnSpc>
            </a:pPr>
            <a:r>
              <a:rPr sz="2100" b="1">
                <a:solidFill>
                  <a:srgbClr val="F1C21B"/>
                </a:solidFill>
                <a:latin typeface="Arial"/>
              </a:rPr>
              <a:t>+0.043</a:t>
            </a:r>
          </a:p>
        </p:txBody>
      </p:sp>
      <p:sp>
        <p:nvSpPr>
          <p:cNvPr id="33" name="TextBox 32"/>
          <p:cNvSpPr txBox="1"/>
          <p:nvPr/>
        </p:nvSpPr>
        <p:spPr>
          <a:xfrm>
            <a:off x="7442200" y="5257800"/>
            <a:ext cx="1397000" cy="355600"/>
          </a:xfrm>
          <a:prstGeom prst="rect">
            <a:avLst/>
          </a:prstGeom>
          <a:noFill/>
        </p:spPr>
        <p:txBody>
          <a:bodyPr wrap="square" lIns="0" rIns="0" tIns="0" bIns="0" anchor="t">
            <a:spAutoFit/>
          </a:bodyPr>
          <a:lstStyle/>
          <a:p>
            <a:pPr algn="l">
              <a:lnSpc>
                <a:spcPts val="1127"/>
              </a:lnSpc>
            </a:pPr>
            <a:r>
              <a:rPr sz="980" b="1">
                <a:solidFill>
                  <a:srgbClr val="FFFFFF"/>
                </a:solidFill>
                <a:latin typeface="Arial"/>
              </a:rPr>
              <a:t>graph vs independent ML</a:t>
            </a:r>
          </a:p>
        </p:txBody>
      </p:sp>
      <p:sp>
        <p:nvSpPr>
          <p:cNvPr id="34" name="TextBox 33"/>
          <p:cNvSpPr txBox="1"/>
          <p:nvPr/>
        </p:nvSpPr>
        <p:spPr>
          <a:xfrm>
            <a:off x="6299200" y="5626100"/>
            <a:ext cx="2514600" cy="355600"/>
          </a:xfrm>
          <a:prstGeom prst="rect">
            <a:avLst/>
          </a:prstGeom>
          <a:noFill/>
        </p:spPr>
        <p:txBody>
          <a:bodyPr wrap="square" lIns="0" rIns="0" tIns="0" bIns="0" anchor="t">
            <a:spAutoFit/>
          </a:bodyPr>
          <a:lstStyle/>
          <a:p>
            <a:pPr algn="l">
              <a:lnSpc>
                <a:spcPts val="1011"/>
              </a:lnSpc>
            </a:pPr>
            <a:r>
              <a:rPr sz="880" b="0">
                <a:solidFill>
                  <a:srgbClr val="B4C2DE"/>
                </a:solidFill>
                <a:latin typeface="Arial"/>
              </a:rPr>
              <a:t>dense-test PR-AUC, 95% CI +0.039 to +0.049; at alert level not significant (-0.001)</a:t>
            </a:r>
          </a:p>
        </p:txBody>
      </p:sp>
      <p:sp>
        <p:nvSpPr>
          <p:cNvPr id="35" name="Rounded Rectangle 34"/>
          <p:cNvSpPr/>
          <p:nvPr/>
        </p:nvSpPr>
        <p:spPr>
          <a:xfrm>
            <a:off x="9004300" y="5156200"/>
            <a:ext cx="2679700" cy="838200"/>
          </a:xfrm>
          <a:prstGeom prst="roundRect">
            <a:avLst>
              <a:gd name="adj" fmla="val 12121"/>
            </a:avLst>
          </a:prstGeom>
          <a:solidFill>
            <a:srgbClr val="10203F"/>
          </a:solidFill>
          <a:ln w="11430">
            <a:solidFill>
              <a:srgbClr val="4589FF">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31300" y="5219700"/>
            <a:ext cx="1168400" cy="381000"/>
          </a:xfrm>
          <a:prstGeom prst="rect">
            <a:avLst/>
          </a:prstGeom>
          <a:noFill/>
        </p:spPr>
        <p:txBody>
          <a:bodyPr wrap="square" lIns="0" rIns="0" tIns="0" bIns="0" anchor="t">
            <a:spAutoFit/>
          </a:bodyPr>
          <a:lstStyle/>
          <a:p>
            <a:pPr algn="l">
              <a:lnSpc>
                <a:spcPts val="2205"/>
              </a:lnSpc>
            </a:pPr>
            <a:r>
              <a:rPr sz="2100" b="1">
                <a:solidFill>
                  <a:srgbClr val="4589FF"/>
                </a:solidFill>
                <a:latin typeface="Arial"/>
              </a:rPr>
              <a:t>0.67</a:t>
            </a:r>
          </a:p>
        </p:txBody>
      </p:sp>
      <p:sp>
        <p:nvSpPr>
          <p:cNvPr id="37" name="TextBox 36"/>
          <p:cNvSpPr txBox="1"/>
          <p:nvPr/>
        </p:nvSpPr>
        <p:spPr>
          <a:xfrm>
            <a:off x="10274300" y="5257800"/>
            <a:ext cx="1397000" cy="355600"/>
          </a:xfrm>
          <a:prstGeom prst="rect">
            <a:avLst/>
          </a:prstGeom>
          <a:noFill/>
        </p:spPr>
        <p:txBody>
          <a:bodyPr wrap="square" lIns="0" rIns="0" tIns="0" bIns="0" anchor="t">
            <a:spAutoFit/>
          </a:bodyPr>
          <a:lstStyle/>
          <a:p>
            <a:pPr algn="l">
              <a:lnSpc>
                <a:spcPts val="1127"/>
              </a:lnSpc>
            </a:pPr>
            <a:r>
              <a:rPr sz="980" b="1">
                <a:solidFill>
                  <a:srgbClr val="FFFFFF"/>
                </a:solidFill>
                <a:latin typeface="Arial"/>
              </a:rPr>
              <a:t>failures surfaced, rules + LLM</a:t>
            </a:r>
          </a:p>
        </p:txBody>
      </p:sp>
      <p:sp>
        <p:nvSpPr>
          <p:cNvPr id="38" name="TextBox 37"/>
          <p:cNvSpPr txBox="1"/>
          <p:nvPr/>
        </p:nvSpPr>
        <p:spPr>
          <a:xfrm>
            <a:off x="9131300" y="5626100"/>
            <a:ext cx="2514600" cy="355600"/>
          </a:xfrm>
          <a:prstGeom prst="rect">
            <a:avLst/>
          </a:prstGeom>
          <a:noFill/>
        </p:spPr>
        <p:txBody>
          <a:bodyPr wrap="square" lIns="0" rIns="0" tIns="0" bIns="0" anchor="t">
            <a:spAutoFit/>
          </a:bodyPr>
          <a:lstStyle/>
          <a:p>
            <a:pPr algn="l">
              <a:lnSpc>
                <a:spcPts val="1011"/>
              </a:lnSpc>
            </a:pPr>
            <a:r>
              <a:rPr sz="880" b="0">
                <a:solidFill>
                  <a:srgbClr val="B4C2DE"/>
                </a:solidFill>
                <a:latin typeface="Arial"/>
              </a:rPr>
              <a:t>vs 0.57 rules only; 67 failures, 120 episodes</a:t>
            </a:r>
          </a:p>
        </p:txBody>
      </p:sp>
      <p:sp>
        <p:nvSpPr>
          <p:cNvPr id="39" name="TextBox 38"/>
          <p:cNvSpPr txBox="1"/>
          <p:nvPr/>
        </p:nvSpPr>
        <p:spPr>
          <a:xfrm>
            <a:off x="508000" y="6045200"/>
            <a:ext cx="11201400" cy="355600"/>
          </a:xfrm>
          <a:prstGeom prst="rect">
            <a:avLst/>
          </a:prstGeom>
          <a:noFill/>
        </p:spPr>
        <p:txBody>
          <a:bodyPr wrap="square" lIns="0" rIns="0" tIns="0" bIns="0" anchor="t">
            <a:spAutoFit/>
          </a:bodyPr>
          <a:lstStyle/>
          <a:p>
            <a:pPr algn="l">
              <a:lnSpc>
                <a:spcPts val="1146"/>
              </a:lnSpc>
            </a:pPr>
            <a:r>
              <a:rPr sz="940" b="0">
                <a:solidFill>
                  <a:srgbClr val="7C8FB5"/>
                </a:solidFill>
                <a:latin typeface="Arial"/>
              </a:rPr>
              <a:t>Full-mode run on the VM (4 h 11 min): 812 test patients, 4,605 test obligations, simulated outcomes, patient-grouped bootstrap (300 resamples), thresholds chosen on validation. Over the whole window the deadline-only rule matches the ML models (max-score PR-AUC 0.963 vs 0.964); the graph model's edge is earlier: PR-AUC 0.74 vs 0.58 at 72 h ahead.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2000" cy="6858000"/>
          </a:xfrm>
          <a:prstGeom prst="rect">
            <a:avLst/>
          </a:prstGeom>
          <a:gradFill rotWithShape="1">
            <a:gsLst>
              <a:gs pos="0">
                <a:srgbClr val="060B17"/>
              </a:gs>
              <a:gs pos="100000">
                <a:srgbClr val="0E1C3A"/>
              </a:gs>
            </a:gsLst>
            <a:lin scaled="0" ang="18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71000" y="76200"/>
            <a:ext cx="2540000" cy="2540000"/>
          </a:xfrm>
          <a:prstGeom prst="ellipse">
            <a:avLst/>
          </a:prstGeom>
          <a:solidFill>
            <a:srgbClr val="0F62FE">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33000" y="457200"/>
            <a:ext cx="1397000" cy="1397000"/>
          </a:xfrm>
          <a:prstGeom prst="ellipse">
            <a:avLst/>
          </a:prstGeom>
          <a:solidFill>
            <a:srgbClr val="33B1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393700"/>
            <a:ext cx="50800" cy="1651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368300"/>
            <a:ext cx="6375400" cy="228600"/>
          </a:xfrm>
          <a:prstGeom prst="rect">
            <a:avLst/>
          </a:prstGeom>
          <a:noFill/>
        </p:spPr>
        <p:txBody>
          <a:bodyPr wrap="square" lIns="0" rIns="0" tIns="0" bIns="0" anchor="t">
            <a:spAutoFit/>
          </a:bodyPr>
          <a:lstStyle/>
          <a:p>
            <a:pPr algn="l">
              <a:lnSpc>
                <a:spcPts val="1403"/>
              </a:lnSpc>
            </a:pPr>
            <a:r>
              <a:rPr sz="1150" b="1">
                <a:solidFill>
                  <a:srgbClr val="33B1FF"/>
                </a:solidFill>
                <a:latin typeface="Arial"/>
              </a:rPr>
              <a:t>LIVE PROTOTYPE</a:t>
            </a:r>
          </a:p>
        </p:txBody>
      </p:sp>
      <p:sp>
        <p:nvSpPr>
          <p:cNvPr id="7" name="TextBox 6"/>
          <p:cNvSpPr txBox="1"/>
          <p:nvPr/>
        </p:nvSpPr>
        <p:spPr>
          <a:xfrm>
            <a:off x="508000" y="660400"/>
            <a:ext cx="11201400" cy="939800"/>
          </a:xfrm>
          <a:prstGeom prst="rect">
            <a:avLst/>
          </a:prstGeom>
          <a:noFill/>
        </p:spPr>
        <p:txBody>
          <a:bodyPr wrap="square" lIns="0" rIns="0" tIns="0" bIns="0" anchor="t">
            <a:spAutoFit/>
          </a:bodyPr>
          <a:lstStyle/>
          <a:p>
            <a:pPr algn="l">
              <a:lnSpc>
                <a:spcPts val="3247"/>
              </a:lnSpc>
            </a:pPr>
            <a:r>
              <a:rPr sz="2800" b="1">
                <a:solidFill>
                  <a:srgbClr val="FFFFFF"/>
                </a:solidFill>
                <a:latin typeface="Arial"/>
              </a:rPr>
              <a:t>A delayed acknowledgement, handled correctly</a:t>
            </a:r>
          </a:p>
        </p:txBody>
      </p:sp>
      <p:cxnSp>
        <p:nvCxnSpPr>
          <p:cNvPr id="8" name="Connector 7"/>
          <p:cNvCxnSpPr/>
          <p:nvPr/>
        </p:nvCxnSpPr>
        <p:spPr>
          <a:xfrm>
            <a:off x="508000" y="6451600"/>
            <a:ext cx="11176000" cy="0"/>
          </a:xfrm>
          <a:prstGeom prst="line">
            <a:avLst/>
          </a:prstGeom>
          <a:ln w="8890">
            <a:solidFill>
              <a:srgbClr val="2A4A86">
                <a:alpha val="70000"/>
              </a:srgbClr>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6527800"/>
            <a:ext cx="6375400" cy="177800"/>
          </a:xfrm>
          <a:prstGeom prst="rect">
            <a:avLst/>
          </a:prstGeom>
          <a:noFill/>
        </p:spPr>
        <p:txBody>
          <a:bodyPr wrap="square" lIns="0" rIns="0" tIns="0" bIns="0" anchor="t">
            <a:spAutoFit/>
          </a:bodyPr>
          <a:lstStyle/>
          <a:p>
            <a:pPr algn="l">
              <a:lnSpc>
                <a:spcPts val="1037"/>
              </a:lnSpc>
            </a:pPr>
            <a:r>
              <a:rPr sz="850" b="0">
                <a:solidFill>
                  <a:srgbClr val="7C8FB5"/>
                </a:solidFill>
                <a:latin typeface="Arial"/>
              </a:rPr>
              <a:t>MedRelay  |  IBM Z Datathon 2026  |  synthetic data only, decision support for qualified human review</a:t>
            </a:r>
          </a:p>
        </p:txBody>
      </p:sp>
      <p:sp>
        <p:nvSpPr>
          <p:cNvPr id="10" name="TextBox 9"/>
          <p:cNvSpPr txBox="1"/>
          <p:nvPr/>
        </p:nvSpPr>
        <p:spPr>
          <a:xfrm>
            <a:off x="10668000" y="6527800"/>
            <a:ext cx="1041400" cy="177800"/>
          </a:xfrm>
          <a:prstGeom prst="rect">
            <a:avLst/>
          </a:prstGeom>
          <a:noFill/>
        </p:spPr>
        <p:txBody>
          <a:bodyPr wrap="square" lIns="0" rIns="0" tIns="0" bIns="0" anchor="t">
            <a:spAutoFit/>
          </a:bodyPr>
          <a:lstStyle/>
          <a:p>
            <a:pPr algn="r">
              <a:lnSpc>
                <a:spcPts val="1098"/>
              </a:lnSpc>
            </a:pPr>
            <a:r>
              <a:rPr sz="900" b="0">
                <a:solidFill>
                  <a:srgbClr val="7C8FB5"/>
                </a:solidFill>
                <a:latin typeface="Arial"/>
              </a:rPr>
              <a:t>8 / 10</a:t>
            </a:r>
          </a:p>
        </p:txBody>
      </p:sp>
      <p:sp>
        <p:nvSpPr>
          <p:cNvPr id="11" name="Rounded Rectangle 10"/>
          <p:cNvSpPr/>
          <p:nvPr/>
        </p:nvSpPr>
        <p:spPr>
          <a:xfrm>
            <a:off x="508000" y="1422400"/>
            <a:ext cx="3810000" cy="1905000"/>
          </a:xfrm>
          <a:prstGeom prst="roundRect">
            <a:avLst>
              <a:gd name="adj" fmla="val 6000"/>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1422400"/>
            <a:ext cx="558800" cy="38100"/>
          </a:xfrm>
          <a:prstGeom prst="roundRect">
            <a:avLst>
              <a:gd name="adj" fmla="val 50000"/>
            </a:avLst>
          </a:prstGeom>
          <a:solidFill>
            <a:srgbClr val="458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574800"/>
            <a:ext cx="3454400" cy="177800"/>
          </a:xfrm>
          <a:prstGeom prst="rect">
            <a:avLst/>
          </a:prstGeom>
          <a:noFill/>
        </p:spPr>
        <p:txBody>
          <a:bodyPr wrap="square" lIns="0" rIns="0" tIns="0" bIns="0" anchor="t">
            <a:spAutoFit/>
          </a:bodyPr>
          <a:lstStyle/>
          <a:p>
            <a:pPr algn="l">
              <a:lnSpc>
                <a:spcPts val="1171"/>
              </a:lnSpc>
            </a:pPr>
            <a:r>
              <a:rPr sz="960" b="1">
                <a:solidFill>
                  <a:srgbClr val="4589FF"/>
                </a:solidFill>
                <a:latin typeface="Arial"/>
              </a:rPr>
              <a:t>1  INPUT NOTE</a:t>
            </a:r>
          </a:p>
        </p:txBody>
      </p:sp>
      <p:sp>
        <p:nvSpPr>
          <p:cNvPr id="14" name="TextBox 13"/>
          <p:cNvSpPr txBox="1"/>
          <p:nvPr/>
        </p:nvSpPr>
        <p:spPr>
          <a:xfrm>
            <a:off x="685800" y="1803400"/>
            <a:ext cx="3505200" cy="1473200"/>
          </a:xfrm>
          <a:prstGeom prst="rect">
            <a:avLst/>
          </a:prstGeom>
          <a:noFill/>
        </p:spPr>
        <p:txBody>
          <a:bodyPr wrap="square" lIns="0" rIns="0" tIns="0" bIns="0" anchor="t">
            <a:spAutoFit/>
          </a:bodyPr>
          <a:lstStyle/>
          <a:p>
            <a:pPr algn="l">
              <a:lnSpc>
                <a:spcPts val="1352"/>
              </a:lnSpc>
            </a:pPr>
            <a:r>
              <a:rPr sz="1040" b="0">
                <a:solidFill>
                  <a:srgbClr val="FFFFFF"/>
                </a:solidFill>
                <a:latin typeface="Courier New"/>
              </a:rPr>
              <a:t>Patient discharged after pneumonia admission. Repeat the CBC within 48 hours. The treating physician must review the result. Contact the patient if the result is abnormal. Arrange a follow-up appointment in 2 weeks.</a:t>
            </a:r>
          </a:p>
        </p:txBody>
      </p:sp>
      <p:sp>
        <p:nvSpPr>
          <p:cNvPr id="15" name="Rounded Rectangle 14"/>
          <p:cNvSpPr/>
          <p:nvPr/>
        </p:nvSpPr>
        <p:spPr>
          <a:xfrm>
            <a:off x="508000" y="3429000"/>
            <a:ext cx="3810000" cy="2540000"/>
          </a:xfrm>
          <a:prstGeom prst="roundRect">
            <a:avLst>
              <a:gd name="adj" fmla="val 4500"/>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85800" y="3429000"/>
            <a:ext cx="558800" cy="38100"/>
          </a:xfrm>
          <a:prstGeom prst="roundRect">
            <a:avLst>
              <a:gd name="adj" fmla="val 50000"/>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581400"/>
            <a:ext cx="3454400" cy="177800"/>
          </a:xfrm>
          <a:prstGeom prst="rect">
            <a:avLst/>
          </a:prstGeom>
          <a:noFill/>
        </p:spPr>
        <p:txBody>
          <a:bodyPr wrap="square" lIns="0" rIns="0" tIns="0" bIns="0" anchor="t">
            <a:spAutoFit/>
          </a:bodyPr>
          <a:lstStyle/>
          <a:p>
            <a:pPr algn="l">
              <a:lnSpc>
                <a:spcPts val="1122"/>
              </a:lnSpc>
            </a:pPr>
            <a:r>
              <a:rPr sz="919" b="1">
                <a:solidFill>
                  <a:srgbClr val="33B1FF"/>
                </a:solidFill>
                <a:latin typeface="Arial"/>
              </a:rPr>
              <a:t>2  EXTRACTED OBLIGATIONS (RULES + GRANITE 350M)</a:t>
            </a:r>
          </a:p>
        </p:txBody>
      </p:sp>
      <p:sp>
        <p:nvSpPr>
          <p:cNvPr id="18" name="TextBox 17"/>
          <p:cNvSpPr txBox="1"/>
          <p:nvPr/>
        </p:nvSpPr>
        <p:spPr>
          <a:xfrm>
            <a:off x="685800" y="3860800"/>
            <a:ext cx="406400" cy="177800"/>
          </a:xfrm>
          <a:prstGeom prst="rect">
            <a:avLst/>
          </a:prstGeom>
          <a:noFill/>
        </p:spPr>
        <p:txBody>
          <a:bodyPr wrap="square" lIns="0" rIns="0" tIns="0" bIns="0" anchor="t">
            <a:spAutoFit/>
          </a:bodyPr>
          <a:lstStyle/>
          <a:p>
            <a:pPr algn="l">
              <a:lnSpc>
                <a:spcPts val="1220"/>
              </a:lnSpc>
            </a:pPr>
            <a:r>
              <a:rPr sz="1000" b="1">
                <a:solidFill>
                  <a:srgbClr val="33B1FF"/>
                </a:solidFill>
                <a:latin typeface="Courier New"/>
              </a:rPr>
              <a:t>ob0</a:t>
            </a:r>
          </a:p>
        </p:txBody>
      </p:sp>
      <p:sp>
        <p:nvSpPr>
          <p:cNvPr id="19" name="TextBox 18"/>
          <p:cNvSpPr txBox="1"/>
          <p:nvPr/>
        </p:nvSpPr>
        <p:spPr>
          <a:xfrm>
            <a:off x="1117600" y="3860800"/>
            <a:ext cx="3124200" cy="177800"/>
          </a:xfrm>
          <a:prstGeom prst="rect">
            <a:avLst/>
          </a:prstGeom>
          <a:noFill/>
        </p:spPr>
        <p:txBody>
          <a:bodyPr wrap="square" lIns="0" rIns="0" tIns="0" bIns="0" anchor="t">
            <a:spAutoFit/>
          </a:bodyPr>
          <a:lstStyle/>
          <a:p>
            <a:pPr algn="l">
              <a:lnSpc>
                <a:spcPts val="1268"/>
              </a:lnSpc>
            </a:pPr>
            <a:r>
              <a:rPr sz="1040" b="1">
                <a:solidFill>
                  <a:srgbClr val="FFFFFF"/>
                </a:solidFill>
                <a:latin typeface="Courier New"/>
              </a:rPr>
              <a:t>laboratory_test</a:t>
            </a:r>
          </a:p>
        </p:txBody>
      </p:sp>
      <p:sp>
        <p:nvSpPr>
          <p:cNvPr id="20" name="TextBox 19"/>
          <p:cNvSpPr txBox="1"/>
          <p:nvPr/>
        </p:nvSpPr>
        <p:spPr>
          <a:xfrm>
            <a:off x="1117600" y="4051300"/>
            <a:ext cx="3124200" cy="279400"/>
          </a:xfrm>
          <a:prstGeom prst="rect">
            <a:avLst/>
          </a:prstGeom>
          <a:noFill/>
        </p:spPr>
        <p:txBody>
          <a:bodyPr wrap="square" lIns="0" rIns="0" tIns="0" bIns="0" anchor="t">
            <a:spAutoFit/>
          </a:bodyPr>
          <a:lstStyle/>
          <a:p>
            <a:pPr algn="l">
              <a:lnSpc>
                <a:spcPts val="1080"/>
              </a:lnSpc>
            </a:pPr>
            <a:r>
              <a:rPr sz="940" b="0">
                <a:solidFill>
                  <a:srgbClr val="B4C2DE"/>
                </a:solidFill>
                <a:latin typeface="Arial"/>
              </a:rPr>
              <a:t>due PT48H</a:t>
            </a:r>
          </a:p>
        </p:txBody>
      </p:sp>
      <p:sp>
        <p:nvSpPr>
          <p:cNvPr id="21" name="TextBox 20"/>
          <p:cNvSpPr txBox="1"/>
          <p:nvPr/>
        </p:nvSpPr>
        <p:spPr>
          <a:xfrm>
            <a:off x="685800" y="4368800"/>
            <a:ext cx="406400" cy="177800"/>
          </a:xfrm>
          <a:prstGeom prst="rect">
            <a:avLst/>
          </a:prstGeom>
          <a:noFill/>
        </p:spPr>
        <p:txBody>
          <a:bodyPr wrap="square" lIns="0" rIns="0" tIns="0" bIns="0" anchor="t">
            <a:spAutoFit/>
          </a:bodyPr>
          <a:lstStyle/>
          <a:p>
            <a:pPr algn="l">
              <a:lnSpc>
                <a:spcPts val="1220"/>
              </a:lnSpc>
            </a:pPr>
            <a:r>
              <a:rPr sz="1000" b="1">
                <a:solidFill>
                  <a:srgbClr val="33B1FF"/>
                </a:solidFill>
                <a:latin typeface="Courier New"/>
              </a:rPr>
              <a:t>ob1</a:t>
            </a:r>
          </a:p>
        </p:txBody>
      </p:sp>
      <p:sp>
        <p:nvSpPr>
          <p:cNvPr id="22" name="TextBox 21"/>
          <p:cNvSpPr txBox="1"/>
          <p:nvPr/>
        </p:nvSpPr>
        <p:spPr>
          <a:xfrm>
            <a:off x="1117600" y="4368800"/>
            <a:ext cx="3124200" cy="177800"/>
          </a:xfrm>
          <a:prstGeom prst="rect">
            <a:avLst/>
          </a:prstGeom>
          <a:noFill/>
        </p:spPr>
        <p:txBody>
          <a:bodyPr wrap="square" lIns="0" rIns="0" tIns="0" bIns="0" anchor="t">
            <a:spAutoFit/>
          </a:bodyPr>
          <a:lstStyle/>
          <a:p>
            <a:pPr algn="l">
              <a:lnSpc>
                <a:spcPts val="1268"/>
              </a:lnSpc>
            </a:pPr>
            <a:r>
              <a:rPr sz="1040" b="1">
                <a:solidFill>
                  <a:srgbClr val="FFFFFF"/>
                </a:solidFill>
                <a:latin typeface="Courier New"/>
              </a:rPr>
              <a:t>followup_review</a:t>
            </a:r>
          </a:p>
        </p:txBody>
      </p:sp>
      <p:sp>
        <p:nvSpPr>
          <p:cNvPr id="23" name="TextBox 22"/>
          <p:cNvSpPr txBox="1"/>
          <p:nvPr/>
        </p:nvSpPr>
        <p:spPr>
          <a:xfrm>
            <a:off x="1117600" y="4559300"/>
            <a:ext cx="3124200" cy="279400"/>
          </a:xfrm>
          <a:prstGeom prst="rect">
            <a:avLst/>
          </a:prstGeom>
          <a:noFill/>
        </p:spPr>
        <p:txBody>
          <a:bodyPr wrap="square" lIns="0" rIns="0" tIns="0" bIns="0" anchor="t">
            <a:spAutoFit/>
          </a:bodyPr>
          <a:lstStyle/>
          <a:p>
            <a:pPr algn="l">
              <a:lnSpc>
                <a:spcPts val="1080"/>
              </a:lnSpc>
            </a:pPr>
            <a:r>
              <a:rPr sz="940" b="0">
                <a:solidFill>
                  <a:srgbClr val="B4C2DE"/>
                </a:solidFill>
                <a:latin typeface="Arial"/>
              </a:rPr>
              <a:t>role: ordering_clinician; after ob0</a:t>
            </a:r>
          </a:p>
        </p:txBody>
      </p:sp>
      <p:sp>
        <p:nvSpPr>
          <p:cNvPr id="24" name="TextBox 23"/>
          <p:cNvSpPr txBox="1"/>
          <p:nvPr/>
        </p:nvSpPr>
        <p:spPr>
          <a:xfrm>
            <a:off x="685800" y="4876800"/>
            <a:ext cx="406400" cy="177800"/>
          </a:xfrm>
          <a:prstGeom prst="rect">
            <a:avLst/>
          </a:prstGeom>
          <a:noFill/>
        </p:spPr>
        <p:txBody>
          <a:bodyPr wrap="square" lIns="0" rIns="0" tIns="0" bIns="0" anchor="t">
            <a:spAutoFit/>
          </a:bodyPr>
          <a:lstStyle/>
          <a:p>
            <a:pPr algn="l">
              <a:lnSpc>
                <a:spcPts val="1220"/>
              </a:lnSpc>
            </a:pPr>
            <a:r>
              <a:rPr sz="1000" b="1">
                <a:solidFill>
                  <a:srgbClr val="33B1FF"/>
                </a:solidFill>
                <a:latin typeface="Courier New"/>
              </a:rPr>
              <a:t>ob2</a:t>
            </a:r>
          </a:p>
        </p:txBody>
      </p:sp>
      <p:sp>
        <p:nvSpPr>
          <p:cNvPr id="25" name="TextBox 24"/>
          <p:cNvSpPr txBox="1"/>
          <p:nvPr/>
        </p:nvSpPr>
        <p:spPr>
          <a:xfrm>
            <a:off x="1117600" y="4876800"/>
            <a:ext cx="3124200" cy="177800"/>
          </a:xfrm>
          <a:prstGeom prst="rect">
            <a:avLst/>
          </a:prstGeom>
          <a:noFill/>
        </p:spPr>
        <p:txBody>
          <a:bodyPr wrap="square" lIns="0" rIns="0" tIns="0" bIns="0" anchor="t">
            <a:spAutoFit/>
          </a:bodyPr>
          <a:lstStyle/>
          <a:p>
            <a:pPr algn="l">
              <a:lnSpc>
                <a:spcPts val="1268"/>
              </a:lnSpc>
            </a:pPr>
            <a:r>
              <a:rPr sz="1040" b="1">
                <a:solidFill>
                  <a:srgbClr val="FFFFFF"/>
                </a:solidFill>
                <a:latin typeface="Courier New"/>
              </a:rPr>
              <a:t>patient_communication</a:t>
            </a:r>
          </a:p>
        </p:txBody>
      </p:sp>
      <p:sp>
        <p:nvSpPr>
          <p:cNvPr id="26" name="TextBox 25"/>
          <p:cNvSpPr txBox="1"/>
          <p:nvPr/>
        </p:nvSpPr>
        <p:spPr>
          <a:xfrm>
            <a:off x="1117600" y="5067300"/>
            <a:ext cx="3124200" cy="279400"/>
          </a:xfrm>
          <a:prstGeom prst="rect">
            <a:avLst/>
          </a:prstGeom>
          <a:noFill/>
        </p:spPr>
        <p:txBody>
          <a:bodyPr wrap="square" lIns="0" rIns="0" tIns="0" bIns="0" anchor="t">
            <a:spAutoFit/>
          </a:bodyPr>
          <a:lstStyle/>
          <a:p>
            <a:pPr algn="l">
              <a:lnSpc>
                <a:spcPts val="1080"/>
              </a:lnSpc>
            </a:pPr>
            <a:r>
              <a:rPr sz="940" b="0">
                <a:solidFill>
                  <a:srgbClr val="B4C2DE"/>
                </a:solidFill>
                <a:latin typeface="Arial"/>
              </a:rPr>
              <a:t>if the result is abnormal; after ob1</a:t>
            </a:r>
          </a:p>
        </p:txBody>
      </p:sp>
      <p:sp>
        <p:nvSpPr>
          <p:cNvPr id="27" name="TextBox 26"/>
          <p:cNvSpPr txBox="1"/>
          <p:nvPr/>
        </p:nvSpPr>
        <p:spPr>
          <a:xfrm>
            <a:off x="685800" y="5384800"/>
            <a:ext cx="406400" cy="177800"/>
          </a:xfrm>
          <a:prstGeom prst="rect">
            <a:avLst/>
          </a:prstGeom>
          <a:noFill/>
        </p:spPr>
        <p:txBody>
          <a:bodyPr wrap="square" lIns="0" rIns="0" tIns="0" bIns="0" anchor="t">
            <a:spAutoFit/>
          </a:bodyPr>
          <a:lstStyle/>
          <a:p>
            <a:pPr algn="l">
              <a:lnSpc>
                <a:spcPts val="1220"/>
              </a:lnSpc>
            </a:pPr>
            <a:r>
              <a:rPr sz="1000" b="1">
                <a:solidFill>
                  <a:srgbClr val="33B1FF"/>
                </a:solidFill>
                <a:latin typeface="Courier New"/>
              </a:rPr>
              <a:t>ob3</a:t>
            </a:r>
          </a:p>
        </p:txBody>
      </p:sp>
      <p:sp>
        <p:nvSpPr>
          <p:cNvPr id="28" name="TextBox 27"/>
          <p:cNvSpPr txBox="1"/>
          <p:nvPr/>
        </p:nvSpPr>
        <p:spPr>
          <a:xfrm>
            <a:off x="1117600" y="5384800"/>
            <a:ext cx="3124200" cy="177800"/>
          </a:xfrm>
          <a:prstGeom prst="rect">
            <a:avLst/>
          </a:prstGeom>
          <a:noFill/>
        </p:spPr>
        <p:txBody>
          <a:bodyPr wrap="square" lIns="0" rIns="0" tIns="0" bIns="0" anchor="t">
            <a:spAutoFit/>
          </a:bodyPr>
          <a:lstStyle/>
          <a:p>
            <a:pPr algn="l">
              <a:lnSpc>
                <a:spcPts val="1268"/>
              </a:lnSpc>
            </a:pPr>
            <a:r>
              <a:rPr sz="1040" b="1">
                <a:solidFill>
                  <a:srgbClr val="FFFFFF"/>
                </a:solidFill>
                <a:latin typeface="Courier New"/>
              </a:rPr>
              <a:t>appointment_referral</a:t>
            </a:r>
          </a:p>
        </p:txBody>
      </p:sp>
      <p:sp>
        <p:nvSpPr>
          <p:cNvPr id="29" name="TextBox 28"/>
          <p:cNvSpPr txBox="1"/>
          <p:nvPr/>
        </p:nvSpPr>
        <p:spPr>
          <a:xfrm>
            <a:off x="1117600" y="5575300"/>
            <a:ext cx="3124200" cy="279400"/>
          </a:xfrm>
          <a:prstGeom prst="rect">
            <a:avLst/>
          </a:prstGeom>
          <a:noFill/>
        </p:spPr>
        <p:txBody>
          <a:bodyPr wrap="square" lIns="0" rIns="0" tIns="0" bIns="0" anchor="t">
            <a:spAutoFit/>
          </a:bodyPr>
          <a:lstStyle/>
          <a:p>
            <a:pPr algn="l">
              <a:lnSpc>
                <a:spcPts val="1080"/>
              </a:lnSpc>
            </a:pPr>
            <a:r>
              <a:rPr sz="940" b="0">
                <a:solidFill>
                  <a:srgbClr val="B4C2DE"/>
                </a:solidFill>
                <a:latin typeface="Arial"/>
              </a:rPr>
              <a:t>due P2W; after ob1</a:t>
            </a:r>
          </a:p>
        </p:txBody>
      </p:sp>
      <p:sp>
        <p:nvSpPr>
          <p:cNvPr id="30" name="Rounded Rectangle 29"/>
          <p:cNvSpPr/>
          <p:nvPr/>
        </p:nvSpPr>
        <p:spPr>
          <a:xfrm>
            <a:off x="4495800" y="1422400"/>
            <a:ext cx="7188200" cy="2108200"/>
          </a:xfrm>
          <a:prstGeom prst="roundRect">
            <a:avLst>
              <a:gd name="adj" fmla="val 5421"/>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673600" y="1422400"/>
            <a:ext cx="558800" cy="38100"/>
          </a:xfrm>
          <a:prstGeom prst="roundRect">
            <a:avLst>
              <a:gd name="adj" fmla="val 50000"/>
            </a:avLst>
          </a:prstGeom>
          <a:solidFill>
            <a:srgbClr val="42BE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73600" y="1574800"/>
            <a:ext cx="6883400" cy="177800"/>
          </a:xfrm>
          <a:prstGeom prst="rect">
            <a:avLst/>
          </a:prstGeom>
          <a:noFill/>
        </p:spPr>
        <p:txBody>
          <a:bodyPr wrap="square" lIns="0" rIns="0" tIns="0" bIns="0" anchor="t">
            <a:spAutoFit/>
          </a:bodyPr>
          <a:lstStyle/>
          <a:p>
            <a:pPr algn="l">
              <a:lnSpc>
                <a:spcPts val="1122"/>
              </a:lnSpc>
            </a:pPr>
            <a:r>
              <a:rPr sz="919" b="1">
                <a:solidFill>
                  <a:srgbClr val="42BE65"/>
                </a:solidFill>
                <a:latin typeface="Arial"/>
              </a:rPr>
              <a:t>3  AUDIT TRAIL OF THE RESULT-REVIEW TASK (VERBATIM FROM THE EXECUTED NOTEBOOK)</a:t>
            </a:r>
          </a:p>
        </p:txBody>
      </p:sp>
      <p:cxnSp>
        <p:nvCxnSpPr>
          <p:cNvPr id="33" name="Connector 32"/>
          <p:cNvCxnSpPr/>
          <p:nvPr/>
        </p:nvCxnSpPr>
        <p:spPr>
          <a:xfrm>
            <a:off x="4978400" y="2032000"/>
            <a:ext cx="0" cy="1193800"/>
          </a:xfrm>
          <a:prstGeom prst="line">
            <a:avLst/>
          </a:prstGeom>
          <a:ln w="25400">
            <a:solidFill>
              <a:srgbClr val="2A4A86">
                <a:alpha val="90000"/>
              </a:srgbClr>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4876800" y="1930400"/>
            <a:ext cx="203200" cy="203200"/>
          </a:xfrm>
          <a:prstGeom prst="ellipse">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32400" y="1879600"/>
            <a:ext cx="1270000" cy="177800"/>
          </a:xfrm>
          <a:prstGeom prst="rect">
            <a:avLst/>
          </a:prstGeom>
          <a:noFill/>
        </p:spPr>
        <p:txBody>
          <a:bodyPr wrap="square" lIns="0" rIns="0" tIns="0" bIns="0" anchor="t">
            <a:spAutoFit/>
          </a:bodyPr>
          <a:lstStyle/>
          <a:p>
            <a:pPr algn="l">
              <a:lnSpc>
                <a:spcPts val="1220"/>
              </a:lnSpc>
            </a:pPr>
            <a:r>
              <a:rPr sz="1000" b="0">
                <a:solidFill>
                  <a:srgbClr val="B4C2DE"/>
                </a:solidFill>
                <a:latin typeface="Courier New"/>
              </a:rPr>
              <a:t>Mar 04  09:00</a:t>
            </a:r>
          </a:p>
        </p:txBody>
      </p:sp>
      <p:sp>
        <p:nvSpPr>
          <p:cNvPr id="36" name="TextBox 35"/>
          <p:cNvSpPr txBox="1"/>
          <p:nvPr/>
        </p:nvSpPr>
        <p:spPr>
          <a:xfrm>
            <a:off x="6527800" y="1854200"/>
            <a:ext cx="5105400" cy="190500"/>
          </a:xfrm>
          <a:prstGeom prst="rect">
            <a:avLst/>
          </a:prstGeom>
          <a:noFill/>
        </p:spPr>
        <p:txBody>
          <a:bodyPr wrap="square" lIns="0" rIns="0" tIns="0" bIns="0" anchor="t">
            <a:spAutoFit/>
          </a:bodyPr>
          <a:lstStyle/>
          <a:p>
            <a:pPr algn="l">
              <a:lnSpc>
                <a:spcPts val="1366"/>
              </a:lnSpc>
            </a:pPr>
            <a:r>
              <a:rPr sz="1120" b="1">
                <a:solidFill>
                  <a:srgbClr val="0F62FE"/>
                </a:solidFill>
                <a:latin typeface="Courier New"/>
              </a:rPr>
              <a:t>pending</a:t>
            </a:r>
          </a:p>
        </p:txBody>
      </p:sp>
      <p:sp>
        <p:nvSpPr>
          <p:cNvPr id="37" name="TextBox 36"/>
          <p:cNvSpPr txBox="1"/>
          <p:nvPr/>
        </p:nvSpPr>
        <p:spPr>
          <a:xfrm>
            <a:off x="6527800" y="2032000"/>
            <a:ext cx="5105400" cy="165100"/>
          </a:xfrm>
          <a:prstGeom prst="rect">
            <a:avLst/>
          </a:prstGeom>
          <a:noFill/>
        </p:spPr>
        <p:txBody>
          <a:bodyPr wrap="square" lIns="0" rIns="0" tIns="0" bIns="0" anchor="t">
            <a:spAutoFit/>
          </a:bodyPr>
          <a:lstStyle/>
          <a:p>
            <a:pPr algn="l">
              <a:lnSpc>
                <a:spcPts val="1146"/>
              </a:lnSpc>
            </a:pPr>
            <a:r>
              <a:rPr sz="940" b="0">
                <a:solidFill>
                  <a:srgbClr val="B4C2DE"/>
                </a:solidFill>
                <a:latin typeface="Arial"/>
              </a:rPr>
              <a:t>R4  task created</a:t>
            </a:r>
          </a:p>
        </p:txBody>
      </p:sp>
      <p:sp>
        <p:nvSpPr>
          <p:cNvPr id="38" name="Oval 37"/>
          <p:cNvSpPr/>
          <p:nvPr/>
        </p:nvSpPr>
        <p:spPr>
          <a:xfrm>
            <a:off x="4876800" y="2324100"/>
            <a:ext cx="203200" cy="203200"/>
          </a:xfrm>
          <a:prstGeom prst="ellipse">
            <a:avLst/>
          </a:prstGeom>
          <a:solidFill>
            <a:srgbClr val="F1C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32400" y="2273300"/>
            <a:ext cx="1270000" cy="177800"/>
          </a:xfrm>
          <a:prstGeom prst="rect">
            <a:avLst/>
          </a:prstGeom>
          <a:noFill/>
        </p:spPr>
        <p:txBody>
          <a:bodyPr wrap="square" lIns="0" rIns="0" tIns="0" bIns="0" anchor="t">
            <a:spAutoFit/>
          </a:bodyPr>
          <a:lstStyle/>
          <a:p>
            <a:pPr algn="l">
              <a:lnSpc>
                <a:spcPts val="1220"/>
              </a:lnSpc>
            </a:pPr>
            <a:r>
              <a:rPr sz="1000" b="0">
                <a:solidFill>
                  <a:srgbClr val="B4C2DE"/>
                </a:solidFill>
                <a:latin typeface="Courier New"/>
              </a:rPr>
              <a:t>Mar 09  09:00</a:t>
            </a:r>
          </a:p>
        </p:txBody>
      </p:sp>
      <p:sp>
        <p:nvSpPr>
          <p:cNvPr id="40" name="TextBox 39"/>
          <p:cNvSpPr txBox="1"/>
          <p:nvPr/>
        </p:nvSpPr>
        <p:spPr>
          <a:xfrm>
            <a:off x="6527800" y="2247900"/>
            <a:ext cx="5105400" cy="190500"/>
          </a:xfrm>
          <a:prstGeom prst="rect">
            <a:avLst/>
          </a:prstGeom>
          <a:noFill/>
        </p:spPr>
        <p:txBody>
          <a:bodyPr wrap="square" lIns="0" rIns="0" tIns="0" bIns="0" anchor="t">
            <a:spAutoFit/>
          </a:bodyPr>
          <a:lstStyle/>
          <a:p>
            <a:pPr algn="l">
              <a:lnSpc>
                <a:spcPts val="1366"/>
              </a:lnSpc>
            </a:pPr>
            <a:r>
              <a:rPr sz="1120" b="1">
                <a:solidFill>
                  <a:srgbClr val="F1C21B"/>
                </a:solidFill>
                <a:latin typeface="Courier New"/>
              </a:rPr>
              <a:t>censored_not_yet_assessable</a:t>
            </a:r>
          </a:p>
        </p:txBody>
      </p:sp>
      <p:sp>
        <p:nvSpPr>
          <p:cNvPr id="41" name="TextBox 40"/>
          <p:cNvSpPr txBox="1"/>
          <p:nvPr/>
        </p:nvSpPr>
        <p:spPr>
          <a:xfrm>
            <a:off x="6527800" y="2425700"/>
            <a:ext cx="5105400" cy="165100"/>
          </a:xfrm>
          <a:prstGeom prst="rect">
            <a:avLst/>
          </a:prstGeom>
          <a:noFill/>
        </p:spPr>
        <p:txBody>
          <a:bodyPr wrap="square" lIns="0" rIns="0" tIns="0" bIns="0" anchor="t">
            <a:spAutoFit/>
          </a:bodyPr>
          <a:lstStyle/>
          <a:p>
            <a:pPr algn="l">
              <a:lnSpc>
                <a:spcPts val="1146"/>
              </a:lnSpc>
            </a:pPr>
            <a:r>
              <a:rPr sz="940" b="0">
                <a:solidFill>
                  <a:srgbClr val="B4C2DE"/>
                </a:solidFill>
                <a:latin typeface="Arial"/>
              </a:rPr>
              <a:t>R6  deadline passed, awaiting late evidence</a:t>
            </a:r>
          </a:p>
        </p:txBody>
      </p:sp>
      <p:sp>
        <p:nvSpPr>
          <p:cNvPr id="42" name="Oval 41"/>
          <p:cNvSpPr/>
          <p:nvPr/>
        </p:nvSpPr>
        <p:spPr>
          <a:xfrm>
            <a:off x="4876800" y="2717800"/>
            <a:ext cx="203200" cy="203200"/>
          </a:xfrm>
          <a:prstGeom prst="ellipse">
            <a:avLst/>
          </a:prstGeom>
          <a:solidFill>
            <a:srgbClr val="FA4D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32400" y="2667000"/>
            <a:ext cx="1270000" cy="177800"/>
          </a:xfrm>
          <a:prstGeom prst="rect">
            <a:avLst/>
          </a:prstGeom>
          <a:noFill/>
        </p:spPr>
        <p:txBody>
          <a:bodyPr wrap="square" lIns="0" rIns="0" tIns="0" bIns="0" anchor="t">
            <a:spAutoFit/>
          </a:bodyPr>
          <a:lstStyle/>
          <a:p>
            <a:pPr algn="l">
              <a:lnSpc>
                <a:spcPts val="1220"/>
              </a:lnSpc>
            </a:pPr>
            <a:r>
              <a:rPr sz="1000" b="0">
                <a:solidFill>
                  <a:srgbClr val="B4C2DE"/>
                </a:solidFill>
                <a:latin typeface="Courier New"/>
              </a:rPr>
              <a:t>Mar 09  10:00</a:t>
            </a:r>
          </a:p>
        </p:txBody>
      </p:sp>
      <p:sp>
        <p:nvSpPr>
          <p:cNvPr id="44" name="TextBox 43"/>
          <p:cNvSpPr txBox="1"/>
          <p:nvPr/>
        </p:nvSpPr>
        <p:spPr>
          <a:xfrm>
            <a:off x="6527800" y="2641600"/>
            <a:ext cx="5105400" cy="190500"/>
          </a:xfrm>
          <a:prstGeom prst="rect">
            <a:avLst/>
          </a:prstGeom>
          <a:noFill/>
        </p:spPr>
        <p:txBody>
          <a:bodyPr wrap="square" lIns="0" rIns="0" tIns="0" bIns="0" anchor="t">
            <a:spAutoFit/>
          </a:bodyPr>
          <a:lstStyle/>
          <a:p>
            <a:pPr algn="l">
              <a:lnSpc>
                <a:spcPts val="1366"/>
              </a:lnSpc>
            </a:pPr>
            <a:r>
              <a:rPr sz="1120" b="1">
                <a:solidFill>
                  <a:srgbClr val="FA4D56"/>
                </a:solidFill>
                <a:latin typeface="Courier New"/>
              </a:rPr>
              <a:t>overdue_without_verified_completion</a:t>
            </a:r>
          </a:p>
        </p:txBody>
      </p:sp>
      <p:sp>
        <p:nvSpPr>
          <p:cNvPr id="45" name="TextBox 44"/>
          <p:cNvSpPr txBox="1"/>
          <p:nvPr/>
        </p:nvSpPr>
        <p:spPr>
          <a:xfrm>
            <a:off x="6527800" y="2819400"/>
            <a:ext cx="5105400" cy="165100"/>
          </a:xfrm>
          <a:prstGeom prst="rect">
            <a:avLst/>
          </a:prstGeom>
          <a:noFill/>
        </p:spPr>
        <p:txBody>
          <a:bodyPr wrap="square" lIns="0" rIns="0" tIns="0" bIns="0" anchor="t">
            <a:spAutoFit/>
          </a:bodyPr>
          <a:lstStyle/>
          <a:p>
            <a:pPr algn="l">
              <a:lnSpc>
                <a:spcPts val="1146"/>
              </a:lnSpc>
            </a:pPr>
            <a:r>
              <a:rPr sz="940" b="0">
                <a:solidFill>
                  <a:srgbClr val="B4C2DE"/>
                </a:solidFill>
                <a:latin typeface="Arial"/>
              </a:rPr>
              <a:t>R5  tracker confirms task still open</a:t>
            </a:r>
          </a:p>
        </p:txBody>
      </p:sp>
      <p:sp>
        <p:nvSpPr>
          <p:cNvPr id="46" name="Oval 45"/>
          <p:cNvSpPr/>
          <p:nvPr/>
        </p:nvSpPr>
        <p:spPr>
          <a:xfrm>
            <a:off x="4876800" y="3111500"/>
            <a:ext cx="203200" cy="203200"/>
          </a:xfrm>
          <a:prstGeom prst="ellipse">
            <a:avLst/>
          </a:prstGeom>
          <a:solidFill>
            <a:srgbClr val="42BE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32400" y="3060700"/>
            <a:ext cx="1270000" cy="177800"/>
          </a:xfrm>
          <a:prstGeom prst="rect">
            <a:avLst/>
          </a:prstGeom>
          <a:noFill/>
        </p:spPr>
        <p:txBody>
          <a:bodyPr wrap="square" lIns="0" rIns="0" tIns="0" bIns="0" anchor="t">
            <a:spAutoFit/>
          </a:bodyPr>
          <a:lstStyle/>
          <a:p>
            <a:pPr algn="l">
              <a:lnSpc>
                <a:spcPts val="1220"/>
              </a:lnSpc>
            </a:pPr>
            <a:r>
              <a:rPr sz="1000" b="0">
                <a:solidFill>
                  <a:srgbClr val="B4C2DE"/>
                </a:solidFill>
                <a:latin typeface="Courier New"/>
              </a:rPr>
              <a:t>Mar 10  15:00</a:t>
            </a:r>
          </a:p>
        </p:txBody>
      </p:sp>
      <p:sp>
        <p:nvSpPr>
          <p:cNvPr id="48" name="TextBox 47"/>
          <p:cNvSpPr txBox="1"/>
          <p:nvPr/>
        </p:nvSpPr>
        <p:spPr>
          <a:xfrm>
            <a:off x="6527800" y="3035300"/>
            <a:ext cx="5105400" cy="190500"/>
          </a:xfrm>
          <a:prstGeom prst="rect">
            <a:avLst/>
          </a:prstGeom>
          <a:noFill/>
        </p:spPr>
        <p:txBody>
          <a:bodyPr wrap="square" lIns="0" rIns="0" tIns="0" bIns="0" anchor="t">
            <a:spAutoFit/>
          </a:bodyPr>
          <a:lstStyle/>
          <a:p>
            <a:pPr algn="l">
              <a:lnSpc>
                <a:spcPts val="1366"/>
              </a:lnSpc>
            </a:pPr>
            <a:r>
              <a:rPr sz="1120" b="1">
                <a:solidFill>
                  <a:srgbClr val="42BE65"/>
                </a:solidFill>
                <a:latin typeface="Courier New"/>
              </a:rPr>
              <a:t>completed_with_evidence</a:t>
            </a:r>
          </a:p>
        </p:txBody>
      </p:sp>
      <p:sp>
        <p:nvSpPr>
          <p:cNvPr id="49" name="TextBox 48"/>
          <p:cNvSpPr txBox="1"/>
          <p:nvPr/>
        </p:nvSpPr>
        <p:spPr>
          <a:xfrm>
            <a:off x="6527800" y="3213100"/>
            <a:ext cx="5105400" cy="165100"/>
          </a:xfrm>
          <a:prstGeom prst="rect">
            <a:avLst/>
          </a:prstGeom>
          <a:noFill/>
        </p:spPr>
        <p:txBody>
          <a:bodyPr wrap="square" lIns="0" rIns="0" tIns="0" bIns="0" anchor="t">
            <a:spAutoFit/>
          </a:bodyPr>
          <a:lstStyle/>
          <a:p>
            <a:pPr algn="l">
              <a:lnSpc>
                <a:spcPts val="1146"/>
              </a:lnSpc>
            </a:pPr>
            <a:r>
              <a:rPr sz="940" b="0">
                <a:solidFill>
                  <a:srgbClr val="B4C2DE"/>
                </a:solidFill>
                <a:latin typeface="Arial"/>
              </a:rPr>
              <a:t>R1  delayed acknowledgement arrives</a:t>
            </a:r>
          </a:p>
        </p:txBody>
      </p:sp>
      <p:sp>
        <p:nvSpPr>
          <p:cNvPr id="50" name="Rounded Rectangle 49"/>
          <p:cNvSpPr/>
          <p:nvPr/>
        </p:nvSpPr>
        <p:spPr>
          <a:xfrm>
            <a:off x="4495800" y="3632200"/>
            <a:ext cx="7188200" cy="2336800"/>
          </a:xfrm>
          <a:prstGeom prst="roundRect">
            <a:avLst>
              <a:gd name="adj" fmla="val 4891"/>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673600" y="3759200"/>
            <a:ext cx="6883400" cy="177800"/>
          </a:xfrm>
          <a:prstGeom prst="rect">
            <a:avLst/>
          </a:prstGeom>
          <a:noFill/>
        </p:spPr>
        <p:txBody>
          <a:bodyPr wrap="square" lIns="0" rIns="0" tIns="0" bIns="0" anchor="t">
            <a:spAutoFit/>
          </a:bodyPr>
          <a:lstStyle/>
          <a:p>
            <a:pPr algn="l">
              <a:lnSpc>
                <a:spcPts val="1122"/>
              </a:lnSpc>
            </a:pPr>
            <a:r>
              <a:rPr sz="919" b="1">
                <a:solidFill>
                  <a:srgbClr val="33B1FF"/>
                </a:solidFill>
                <a:latin typeface="Arial"/>
              </a:rPr>
              <a:t>4  RISK OF EACH TASK AS EVENTS ARRIVE (GRAPH ML, REAL OUTPUT)</a:t>
            </a:r>
          </a:p>
        </p:txBody>
      </p:sp>
      <p:pic>
        <p:nvPicPr>
          <p:cNvPr id="52" name="Picture 51" descr="demo_risk_monitor.png"/>
          <p:cNvPicPr>
            <a:picLocks noChangeAspect="1"/>
          </p:cNvPicPr>
          <p:nvPr/>
        </p:nvPicPr>
        <p:blipFill>
          <a:blip r:embed="rId3"/>
          <a:stretch>
            <a:fillRect/>
          </a:stretch>
        </p:blipFill>
        <p:spPr>
          <a:xfrm>
            <a:off x="5191634" y="3987800"/>
            <a:ext cx="5796533" cy="1930400"/>
          </a:xfrm>
          <a:prstGeom prst="rect">
            <a:avLst/>
          </a:prstGeom>
        </p:spPr>
      </p:pic>
      <p:sp>
        <p:nvSpPr>
          <p:cNvPr id="53" name="TextBox 52"/>
          <p:cNvSpPr txBox="1"/>
          <p:nvPr/>
        </p:nvSpPr>
        <p:spPr>
          <a:xfrm>
            <a:off x="508000" y="6045200"/>
            <a:ext cx="11201400" cy="355600"/>
          </a:xfrm>
          <a:prstGeom prst="rect">
            <a:avLst/>
          </a:prstGeom>
          <a:noFill/>
        </p:spPr>
        <p:txBody>
          <a:bodyPr wrap="square" lIns="0" rIns="0" tIns="0" bIns="0" anchor="t">
            <a:spAutoFit/>
          </a:bodyPr>
          <a:lstStyle/>
          <a:p>
            <a:pPr algn="l">
              <a:lnSpc>
                <a:spcPts val="1171"/>
              </a:lnSpc>
            </a:pPr>
            <a:r>
              <a:rPr sz="960" b="0">
                <a:solidFill>
                  <a:srgbClr val="7C8FB5"/>
                </a:solidFill>
                <a:latin typeface="Arial"/>
              </a:rPr>
              <a:t>Interim “overdue” was a correct state at that time and was reconciled when the late evidence arrived (verified in the notebook: overdue_without_verified_completion to completed_with_evidence). Output of notebook section 17, executed on the LinuxONE VM; the scenario events are scripted.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2000" cy="6858000"/>
          </a:xfrm>
          <a:prstGeom prst="rect">
            <a:avLst/>
          </a:prstGeom>
          <a:gradFill rotWithShape="1">
            <a:gsLst>
              <a:gs pos="0">
                <a:srgbClr val="060B17"/>
              </a:gs>
              <a:gs pos="100000">
                <a:srgbClr val="0E1C3A"/>
              </a:gs>
            </a:gsLst>
            <a:lin scaled="0" ang="18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71000" y="76200"/>
            <a:ext cx="2540000" cy="2540000"/>
          </a:xfrm>
          <a:prstGeom prst="ellipse">
            <a:avLst/>
          </a:prstGeom>
          <a:solidFill>
            <a:srgbClr val="0F62FE">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33000" y="457200"/>
            <a:ext cx="1397000" cy="1397000"/>
          </a:xfrm>
          <a:prstGeom prst="ellipse">
            <a:avLst/>
          </a:prstGeom>
          <a:solidFill>
            <a:srgbClr val="33B1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393700"/>
            <a:ext cx="50800" cy="1651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368300"/>
            <a:ext cx="6375400" cy="228600"/>
          </a:xfrm>
          <a:prstGeom prst="rect">
            <a:avLst/>
          </a:prstGeom>
          <a:noFill/>
        </p:spPr>
        <p:txBody>
          <a:bodyPr wrap="square" lIns="0" rIns="0" tIns="0" bIns="0" anchor="t">
            <a:spAutoFit/>
          </a:bodyPr>
          <a:lstStyle/>
          <a:p>
            <a:pPr algn="l">
              <a:lnSpc>
                <a:spcPts val="1403"/>
              </a:lnSpc>
            </a:pPr>
            <a:r>
              <a:rPr sz="1150" b="1">
                <a:solidFill>
                  <a:srgbClr val="33B1FF"/>
                </a:solidFill>
                <a:latin typeface="Arial"/>
              </a:rPr>
              <a:t>INNOVATION, IMPACT &amp; SCALABILITY</a:t>
            </a:r>
          </a:p>
        </p:txBody>
      </p:sp>
      <p:sp>
        <p:nvSpPr>
          <p:cNvPr id="7" name="TextBox 6"/>
          <p:cNvSpPr txBox="1"/>
          <p:nvPr/>
        </p:nvSpPr>
        <p:spPr>
          <a:xfrm>
            <a:off x="508000" y="660400"/>
            <a:ext cx="11201400" cy="939800"/>
          </a:xfrm>
          <a:prstGeom prst="rect">
            <a:avLst/>
          </a:prstGeom>
          <a:noFill/>
        </p:spPr>
        <p:txBody>
          <a:bodyPr wrap="square" lIns="0" rIns="0" tIns="0" bIns="0" anchor="t">
            <a:spAutoFit/>
          </a:bodyPr>
          <a:lstStyle/>
          <a:p>
            <a:pPr algn="l">
              <a:lnSpc>
                <a:spcPts val="3247"/>
              </a:lnSpc>
            </a:pPr>
            <a:r>
              <a:rPr sz="2800" b="1">
                <a:solidFill>
                  <a:srgbClr val="FFFFFF"/>
                </a:solidFill>
                <a:latin typeface="Arial"/>
              </a:rPr>
              <a:t>What is proven, and what comes next</a:t>
            </a:r>
          </a:p>
        </p:txBody>
      </p:sp>
      <p:cxnSp>
        <p:nvCxnSpPr>
          <p:cNvPr id="8" name="Connector 7"/>
          <p:cNvCxnSpPr/>
          <p:nvPr/>
        </p:nvCxnSpPr>
        <p:spPr>
          <a:xfrm>
            <a:off x="508000" y="6451600"/>
            <a:ext cx="11176000" cy="0"/>
          </a:xfrm>
          <a:prstGeom prst="line">
            <a:avLst/>
          </a:prstGeom>
          <a:ln w="8890">
            <a:solidFill>
              <a:srgbClr val="2A4A86">
                <a:alpha val="70000"/>
              </a:srgbClr>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6527800"/>
            <a:ext cx="6375400" cy="177800"/>
          </a:xfrm>
          <a:prstGeom prst="rect">
            <a:avLst/>
          </a:prstGeom>
          <a:noFill/>
        </p:spPr>
        <p:txBody>
          <a:bodyPr wrap="square" lIns="0" rIns="0" tIns="0" bIns="0" anchor="t">
            <a:spAutoFit/>
          </a:bodyPr>
          <a:lstStyle/>
          <a:p>
            <a:pPr algn="l">
              <a:lnSpc>
                <a:spcPts val="1037"/>
              </a:lnSpc>
            </a:pPr>
            <a:r>
              <a:rPr sz="850" b="0">
                <a:solidFill>
                  <a:srgbClr val="7C8FB5"/>
                </a:solidFill>
                <a:latin typeface="Arial"/>
              </a:rPr>
              <a:t>MedRelay  |  IBM Z Datathon 2026  |  synthetic data only, decision support for qualified human review</a:t>
            </a:r>
          </a:p>
        </p:txBody>
      </p:sp>
      <p:sp>
        <p:nvSpPr>
          <p:cNvPr id="10" name="TextBox 9"/>
          <p:cNvSpPr txBox="1"/>
          <p:nvPr/>
        </p:nvSpPr>
        <p:spPr>
          <a:xfrm>
            <a:off x="10668000" y="6527800"/>
            <a:ext cx="1041400" cy="177800"/>
          </a:xfrm>
          <a:prstGeom prst="rect">
            <a:avLst/>
          </a:prstGeom>
          <a:noFill/>
        </p:spPr>
        <p:txBody>
          <a:bodyPr wrap="square" lIns="0" rIns="0" tIns="0" bIns="0" anchor="t">
            <a:spAutoFit/>
          </a:bodyPr>
          <a:lstStyle/>
          <a:p>
            <a:pPr algn="r">
              <a:lnSpc>
                <a:spcPts val="1098"/>
              </a:lnSpc>
            </a:pPr>
            <a:r>
              <a:rPr sz="900" b="0">
                <a:solidFill>
                  <a:srgbClr val="7C8FB5"/>
                </a:solidFill>
                <a:latin typeface="Arial"/>
              </a:rPr>
              <a:t>9 / 10</a:t>
            </a:r>
          </a:p>
        </p:txBody>
      </p:sp>
      <p:sp>
        <p:nvSpPr>
          <p:cNvPr id="11" name="Rounded Rectangle 10"/>
          <p:cNvSpPr/>
          <p:nvPr/>
        </p:nvSpPr>
        <p:spPr>
          <a:xfrm>
            <a:off x="508000" y="1422400"/>
            <a:ext cx="5461000" cy="3810000"/>
          </a:xfrm>
          <a:prstGeom prst="roundRect">
            <a:avLst>
              <a:gd name="adj" fmla="val 3000"/>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1422400"/>
            <a:ext cx="558800" cy="38100"/>
          </a:xfrm>
          <a:prstGeom prst="roundRect">
            <a:avLst>
              <a:gd name="adj" fmla="val 50000"/>
            </a:avLst>
          </a:prstGeom>
          <a:solidFill>
            <a:srgbClr val="42BE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1200" y="1574800"/>
            <a:ext cx="5105400" cy="203200"/>
          </a:xfrm>
          <a:prstGeom prst="rect">
            <a:avLst/>
          </a:prstGeom>
          <a:noFill/>
        </p:spPr>
        <p:txBody>
          <a:bodyPr wrap="square" lIns="0" rIns="0" tIns="0" bIns="0" anchor="t">
            <a:spAutoFit/>
          </a:bodyPr>
          <a:lstStyle/>
          <a:p>
            <a:pPr algn="l">
              <a:lnSpc>
                <a:spcPts val="1281"/>
              </a:lnSpc>
            </a:pPr>
            <a:r>
              <a:rPr sz="1050" b="1">
                <a:solidFill>
                  <a:srgbClr val="42BE65"/>
                </a:solidFill>
                <a:latin typeface="Arial"/>
              </a:rPr>
              <a:t>MEASURED (FULL-MODE RUN ON LINUXONE)</a:t>
            </a:r>
          </a:p>
        </p:txBody>
      </p:sp>
      <p:sp>
        <p:nvSpPr>
          <p:cNvPr id="14" name="TextBox 13"/>
          <p:cNvSpPr txBox="1"/>
          <p:nvPr/>
        </p:nvSpPr>
        <p:spPr>
          <a:xfrm>
            <a:off x="711200" y="1879600"/>
            <a:ext cx="1549400" cy="381000"/>
          </a:xfrm>
          <a:prstGeom prst="rect">
            <a:avLst/>
          </a:prstGeom>
          <a:noFill/>
        </p:spPr>
        <p:txBody>
          <a:bodyPr wrap="square" lIns="0" rIns="0" tIns="0" bIns="0" anchor="t">
            <a:spAutoFit/>
          </a:bodyPr>
          <a:lstStyle/>
          <a:p>
            <a:pPr algn="l">
              <a:lnSpc>
                <a:spcPts val="1785"/>
              </a:lnSpc>
            </a:pPr>
            <a:r>
              <a:rPr sz="1700" b="1">
                <a:solidFill>
                  <a:srgbClr val="33B1FF"/>
                </a:solidFill>
                <a:latin typeface="Arial"/>
              </a:rPr>
              <a:t>0 of 716</a:t>
            </a:r>
          </a:p>
        </p:txBody>
      </p:sp>
      <p:sp>
        <p:nvSpPr>
          <p:cNvPr id="15" name="TextBox 14"/>
          <p:cNvSpPr txBox="1"/>
          <p:nvPr/>
        </p:nvSpPr>
        <p:spPr>
          <a:xfrm>
            <a:off x="2260600" y="1892300"/>
            <a:ext cx="3530600" cy="5588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undocumented-but-done tasks confirmed overdue (naive rule: all)</a:t>
            </a:r>
          </a:p>
        </p:txBody>
      </p:sp>
      <p:sp>
        <p:nvSpPr>
          <p:cNvPr id="16" name="TextBox 15"/>
          <p:cNvSpPr txBox="1"/>
          <p:nvPr/>
        </p:nvSpPr>
        <p:spPr>
          <a:xfrm>
            <a:off x="711200" y="2514600"/>
            <a:ext cx="1549400" cy="381000"/>
          </a:xfrm>
          <a:prstGeom prst="rect">
            <a:avLst/>
          </a:prstGeom>
          <a:noFill/>
        </p:spPr>
        <p:txBody>
          <a:bodyPr wrap="square" lIns="0" rIns="0" tIns="0" bIns="0" anchor="t">
            <a:spAutoFit/>
          </a:bodyPr>
          <a:lstStyle/>
          <a:p>
            <a:pPr algn="l">
              <a:lnSpc>
                <a:spcPts val="1785"/>
              </a:lnSpc>
            </a:pPr>
            <a:r>
              <a:rPr sz="1700" b="1">
                <a:solidFill>
                  <a:srgbClr val="33B1FF"/>
                </a:solidFill>
                <a:latin typeface="Arial"/>
              </a:rPr>
              <a:t>4,895</a:t>
            </a:r>
          </a:p>
        </p:txBody>
      </p:sp>
      <p:sp>
        <p:nvSpPr>
          <p:cNvPr id="17" name="TextBox 16"/>
          <p:cNvSpPr txBox="1"/>
          <p:nvPr/>
        </p:nvSpPr>
        <p:spPr>
          <a:xfrm>
            <a:off x="2260600" y="2527300"/>
            <a:ext cx="3530600" cy="5588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duplicate deliveries ignored; final states identical to a clean run (100%)</a:t>
            </a:r>
          </a:p>
        </p:txBody>
      </p:sp>
      <p:sp>
        <p:nvSpPr>
          <p:cNvPr id="18" name="TextBox 17"/>
          <p:cNvSpPr txBox="1"/>
          <p:nvPr/>
        </p:nvSpPr>
        <p:spPr>
          <a:xfrm>
            <a:off x="711200" y="3149600"/>
            <a:ext cx="1549400" cy="381000"/>
          </a:xfrm>
          <a:prstGeom prst="rect">
            <a:avLst/>
          </a:prstGeom>
          <a:noFill/>
        </p:spPr>
        <p:txBody>
          <a:bodyPr wrap="square" lIns="0" rIns="0" tIns="0" bIns="0" anchor="t">
            <a:spAutoFit/>
          </a:bodyPr>
          <a:lstStyle/>
          <a:p>
            <a:pPr algn="l">
              <a:lnSpc>
                <a:spcPts val="1785"/>
              </a:lnSpc>
            </a:pPr>
            <a:r>
              <a:rPr sz="1700" b="1">
                <a:solidFill>
                  <a:srgbClr val="33B1FF"/>
                </a:solidFill>
                <a:latin typeface="Arial"/>
              </a:rPr>
              <a:t>1.000</a:t>
            </a:r>
          </a:p>
        </p:txBody>
      </p:sp>
      <p:sp>
        <p:nvSpPr>
          <p:cNvPr id="19" name="TextBox 18"/>
          <p:cNvSpPr txBox="1"/>
          <p:nvPr/>
        </p:nvSpPr>
        <p:spPr>
          <a:xfrm>
            <a:off x="2260600" y="3162300"/>
            <a:ext cx="3530600" cy="5588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stored states restored identically when rebuilt from the SQLite event log</a:t>
            </a:r>
          </a:p>
        </p:txBody>
      </p:sp>
      <p:sp>
        <p:nvSpPr>
          <p:cNvPr id="20" name="TextBox 19"/>
          <p:cNvSpPr txBox="1"/>
          <p:nvPr/>
        </p:nvSpPr>
        <p:spPr>
          <a:xfrm>
            <a:off x="711200" y="3784600"/>
            <a:ext cx="1549400" cy="381000"/>
          </a:xfrm>
          <a:prstGeom prst="rect">
            <a:avLst/>
          </a:prstGeom>
          <a:noFill/>
        </p:spPr>
        <p:txBody>
          <a:bodyPr wrap="square" lIns="0" rIns="0" tIns="0" bIns="0" anchor="t">
            <a:spAutoFit/>
          </a:bodyPr>
          <a:lstStyle/>
          <a:p>
            <a:pPr algn="l">
              <a:lnSpc>
                <a:spcPts val="1491"/>
              </a:lnSpc>
            </a:pPr>
            <a:r>
              <a:rPr sz="1420" b="1">
                <a:solidFill>
                  <a:srgbClr val="33B1FF"/>
                </a:solidFill>
                <a:latin typeface="Arial"/>
              </a:rPr>
              <a:t>11.3% vs 18.8%</a:t>
            </a:r>
          </a:p>
        </p:txBody>
      </p:sp>
      <p:sp>
        <p:nvSpPr>
          <p:cNvPr id="21" name="TextBox 20"/>
          <p:cNvSpPr txBox="1"/>
          <p:nvPr/>
        </p:nvSpPr>
        <p:spPr>
          <a:xfrm>
            <a:off x="2260600" y="3797300"/>
            <a:ext cx="3530600" cy="5588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false-alert rate, graph model vs deadline-only rule, alerts &gt;= 24 h ahead</a:t>
            </a:r>
          </a:p>
        </p:txBody>
      </p:sp>
      <p:sp>
        <p:nvSpPr>
          <p:cNvPr id="22" name="TextBox 21"/>
          <p:cNvSpPr txBox="1"/>
          <p:nvPr/>
        </p:nvSpPr>
        <p:spPr>
          <a:xfrm>
            <a:off x="711200" y="4419600"/>
            <a:ext cx="1549400" cy="381000"/>
          </a:xfrm>
          <a:prstGeom prst="rect">
            <a:avLst/>
          </a:prstGeom>
          <a:noFill/>
        </p:spPr>
        <p:txBody>
          <a:bodyPr wrap="square" lIns="0" rIns="0" tIns="0" bIns="0" anchor="t">
            <a:spAutoFit/>
          </a:bodyPr>
          <a:lstStyle/>
          <a:p>
            <a:pPr algn="l">
              <a:lnSpc>
                <a:spcPts val="1785"/>
              </a:lnSpc>
            </a:pPr>
            <a:r>
              <a:rPr sz="1700" b="1">
                <a:solidFill>
                  <a:srgbClr val="33B1FF"/>
                </a:solidFill>
                <a:latin typeface="Arial"/>
              </a:rPr>
              <a:t>56 / 56</a:t>
            </a:r>
          </a:p>
        </p:txBody>
      </p:sp>
      <p:sp>
        <p:nvSpPr>
          <p:cNvPr id="23" name="TextBox 22"/>
          <p:cNvSpPr txBox="1"/>
          <p:nvPr/>
        </p:nvSpPr>
        <p:spPr>
          <a:xfrm>
            <a:off x="2260600" y="4432300"/>
            <a:ext cx="3530600" cy="5588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notebook code cells executed without error in a clean kernel (4 h 11 min)</a:t>
            </a:r>
          </a:p>
        </p:txBody>
      </p:sp>
      <p:sp>
        <p:nvSpPr>
          <p:cNvPr id="24" name="Rounded Rectangle 23"/>
          <p:cNvSpPr/>
          <p:nvPr/>
        </p:nvSpPr>
        <p:spPr>
          <a:xfrm>
            <a:off x="6223000" y="1422400"/>
            <a:ext cx="5461000" cy="3810000"/>
          </a:xfrm>
          <a:prstGeom prst="roundRect">
            <a:avLst>
              <a:gd name="adj" fmla="val 3000"/>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0800" y="1422400"/>
            <a:ext cx="558800" cy="38100"/>
          </a:xfrm>
          <a:prstGeom prst="roundRect">
            <a:avLst>
              <a:gd name="adj" fmla="val 50000"/>
            </a:avLst>
          </a:prstGeom>
          <a:solidFill>
            <a:srgbClr val="F1C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6200" y="1574800"/>
            <a:ext cx="5105400" cy="203200"/>
          </a:xfrm>
          <a:prstGeom prst="rect">
            <a:avLst/>
          </a:prstGeom>
          <a:noFill/>
        </p:spPr>
        <p:txBody>
          <a:bodyPr wrap="square" lIns="0" rIns="0" tIns="0" bIns="0" anchor="t">
            <a:spAutoFit/>
          </a:bodyPr>
          <a:lstStyle/>
          <a:p>
            <a:pPr algn="l">
              <a:lnSpc>
                <a:spcPts val="1281"/>
              </a:lnSpc>
            </a:pPr>
            <a:r>
              <a:rPr sz="1050" b="1">
                <a:solidFill>
                  <a:srgbClr val="F1C21B"/>
                </a:solidFill>
                <a:latin typeface="Arial"/>
              </a:rPr>
              <a:t>ANTICIPATED (NOT YET MEASURED)</a:t>
            </a:r>
          </a:p>
        </p:txBody>
      </p:sp>
      <p:sp>
        <p:nvSpPr>
          <p:cNvPr id="27" name="TextBox 26"/>
          <p:cNvSpPr txBox="1"/>
          <p:nvPr/>
        </p:nvSpPr>
        <p:spPr>
          <a:xfrm>
            <a:off x="6426200" y="1879600"/>
            <a:ext cx="1168400" cy="203200"/>
          </a:xfrm>
          <a:prstGeom prst="rect">
            <a:avLst/>
          </a:prstGeom>
          <a:noFill/>
        </p:spPr>
        <p:txBody>
          <a:bodyPr wrap="square" lIns="0" rIns="0" tIns="0" bIns="0" anchor="t">
            <a:spAutoFit/>
          </a:bodyPr>
          <a:lstStyle/>
          <a:p>
            <a:pPr algn="l">
              <a:lnSpc>
                <a:spcPts val="1403"/>
              </a:lnSpc>
            </a:pPr>
            <a:r>
              <a:rPr sz="1150" b="1">
                <a:solidFill>
                  <a:srgbClr val="FFFFFF"/>
                </a:solidFill>
                <a:latin typeface="Arial"/>
              </a:rPr>
              <a:t>Deployment</a:t>
            </a:r>
          </a:p>
        </p:txBody>
      </p:sp>
      <p:sp>
        <p:nvSpPr>
          <p:cNvPr id="28" name="TextBox 27"/>
          <p:cNvSpPr txBox="1"/>
          <p:nvPr/>
        </p:nvSpPr>
        <p:spPr>
          <a:xfrm>
            <a:off x="7620000" y="1879600"/>
            <a:ext cx="3937000" cy="7366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discharge follow-up monitoring fed by EHR event streams, with a human review queue</a:t>
            </a:r>
          </a:p>
        </p:txBody>
      </p:sp>
      <p:sp>
        <p:nvSpPr>
          <p:cNvPr id="29" name="TextBox 28"/>
          <p:cNvSpPr txBox="1"/>
          <p:nvPr/>
        </p:nvSpPr>
        <p:spPr>
          <a:xfrm>
            <a:off x="6426200" y="2667000"/>
            <a:ext cx="1168400" cy="203200"/>
          </a:xfrm>
          <a:prstGeom prst="rect">
            <a:avLst/>
          </a:prstGeom>
          <a:noFill/>
        </p:spPr>
        <p:txBody>
          <a:bodyPr wrap="square" lIns="0" rIns="0" tIns="0" bIns="0" anchor="t">
            <a:spAutoFit/>
          </a:bodyPr>
          <a:lstStyle/>
          <a:p>
            <a:pPr algn="l">
              <a:lnSpc>
                <a:spcPts val="1403"/>
              </a:lnSpc>
            </a:pPr>
            <a:r>
              <a:rPr sz="1150" b="1">
                <a:solidFill>
                  <a:srgbClr val="FFFFFF"/>
                </a:solidFill>
                <a:latin typeface="Arial"/>
              </a:rPr>
              <a:t>Scale-out</a:t>
            </a:r>
          </a:p>
        </p:txBody>
      </p:sp>
      <p:sp>
        <p:nvSpPr>
          <p:cNvPr id="30" name="TextBox 29"/>
          <p:cNvSpPr txBox="1"/>
          <p:nvPr/>
        </p:nvSpPr>
        <p:spPr>
          <a:xfrm>
            <a:off x="7620000" y="2667000"/>
            <a:ext cx="3937000" cy="7366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larger LinuxONE partitions for more patients; NNPA for neural components (current models are tree and linear)</a:t>
            </a:r>
          </a:p>
        </p:txBody>
      </p:sp>
      <p:sp>
        <p:nvSpPr>
          <p:cNvPr id="31" name="TextBox 30"/>
          <p:cNvSpPr txBox="1"/>
          <p:nvPr/>
        </p:nvSpPr>
        <p:spPr>
          <a:xfrm>
            <a:off x="6426200" y="3454400"/>
            <a:ext cx="1168400" cy="203200"/>
          </a:xfrm>
          <a:prstGeom prst="rect">
            <a:avLst/>
          </a:prstGeom>
          <a:noFill/>
        </p:spPr>
        <p:txBody>
          <a:bodyPr wrap="square" lIns="0" rIns="0" tIns="0" bIns="0" anchor="t">
            <a:spAutoFit/>
          </a:bodyPr>
          <a:lstStyle/>
          <a:p>
            <a:pPr algn="l">
              <a:lnSpc>
                <a:spcPts val="1403"/>
              </a:lnSpc>
            </a:pPr>
            <a:r>
              <a:rPr sz="1150" b="1">
                <a:solidFill>
                  <a:srgbClr val="FFFFFF"/>
                </a:solidFill>
                <a:latin typeface="Arial"/>
              </a:rPr>
              <a:t>Validation</a:t>
            </a:r>
          </a:p>
        </p:txBody>
      </p:sp>
      <p:sp>
        <p:nvSpPr>
          <p:cNvPr id="32" name="TextBox 31"/>
          <p:cNvSpPr txBox="1"/>
          <p:nvPr/>
        </p:nvSpPr>
        <p:spPr>
          <a:xfrm>
            <a:off x="7620000" y="3454400"/>
            <a:ext cx="3937000" cy="7366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de-identified real records and clinician-reviewed labels (there are 0 gold labels today)</a:t>
            </a:r>
          </a:p>
        </p:txBody>
      </p:sp>
      <p:sp>
        <p:nvSpPr>
          <p:cNvPr id="33" name="TextBox 32"/>
          <p:cNvSpPr txBox="1"/>
          <p:nvPr/>
        </p:nvSpPr>
        <p:spPr>
          <a:xfrm>
            <a:off x="6426200" y="4241800"/>
            <a:ext cx="1168400" cy="203200"/>
          </a:xfrm>
          <a:prstGeom prst="rect">
            <a:avLst/>
          </a:prstGeom>
          <a:noFill/>
        </p:spPr>
        <p:txBody>
          <a:bodyPr wrap="square" lIns="0" rIns="0" tIns="0" bIns="0" anchor="t">
            <a:spAutoFit/>
          </a:bodyPr>
          <a:lstStyle/>
          <a:p>
            <a:pPr algn="l">
              <a:lnSpc>
                <a:spcPts val="1403"/>
              </a:lnSpc>
            </a:pPr>
            <a:r>
              <a:rPr sz="1150" b="1">
                <a:solidFill>
                  <a:srgbClr val="FFFFFF"/>
                </a:solidFill>
                <a:latin typeface="Arial"/>
              </a:rPr>
              <a:t>Privacy</a:t>
            </a:r>
          </a:p>
        </p:txBody>
      </p:sp>
      <p:sp>
        <p:nvSpPr>
          <p:cNvPr id="34" name="TextBox 33"/>
          <p:cNvSpPr txBox="1"/>
          <p:nvPr/>
        </p:nvSpPr>
        <p:spPr>
          <a:xfrm>
            <a:off x="7620000" y="4241800"/>
            <a:ext cx="3937000" cy="736600"/>
          </a:xfrm>
          <a:prstGeom prst="rect">
            <a:avLst/>
          </a:prstGeom>
          <a:noFill/>
        </p:spPr>
        <p:txBody>
          <a:bodyPr wrap="square" lIns="0" rIns="0" tIns="0" bIns="0" anchor="t">
            <a:spAutoFit/>
          </a:bodyPr>
          <a:lstStyle/>
          <a:p>
            <a:pPr algn="l">
              <a:lnSpc>
                <a:spcPts val="1317"/>
              </a:lnSpc>
            </a:pPr>
            <a:r>
              <a:rPr sz="1080" b="0">
                <a:solidFill>
                  <a:srgbClr val="B4C2DE"/>
                </a:solidFill>
                <a:latin typeface="Arial"/>
              </a:rPr>
              <a:t>on-premises inference keeps notes on the server; a formal security evaluation is future work</a:t>
            </a:r>
          </a:p>
        </p:txBody>
      </p:sp>
      <p:sp>
        <p:nvSpPr>
          <p:cNvPr id="35" name="Rounded Rectangle 34"/>
          <p:cNvSpPr/>
          <p:nvPr/>
        </p:nvSpPr>
        <p:spPr>
          <a:xfrm>
            <a:off x="508000" y="5384800"/>
            <a:ext cx="3556000" cy="838200"/>
          </a:xfrm>
          <a:prstGeom prst="roundRect">
            <a:avLst>
              <a:gd name="adj" fmla="val 12121"/>
            </a:avLst>
          </a:prstGeom>
          <a:solidFill>
            <a:srgbClr val="0F62FE">
              <a:alpha val="15000"/>
            </a:srgbClr>
          </a:solidFill>
          <a:ln w="10160">
            <a:solidFill>
              <a:srgbClr val="4589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0400" y="5486400"/>
            <a:ext cx="3302000" cy="228600"/>
          </a:xfrm>
          <a:prstGeom prst="rect">
            <a:avLst/>
          </a:prstGeom>
          <a:noFill/>
        </p:spPr>
        <p:txBody>
          <a:bodyPr wrap="square" lIns="0" rIns="0" tIns="0" bIns="0" anchor="t">
            <a:spAutoFit/>
          </a:bodyPr>
          <a:lstStyle/>
          <a:p>
            <a:pPr algn="l">
              <a:lnSpc>
                <a:spcPts val="1525"/>
              </a:lnSpc>
            </a:pPr>
            <a:r>
              <a:rPr sz="1250" b="1">
                <a:solidFill>
                  <a:srgbClr val="FFFFFF"/>
                </a:solidFill>
                <a:latin typeface="Arial"/>
              </a:rPr>
              <a:t>vs reminder systems</a:t>
            </a:r>
          </a:p>
        </p:txBody>
      </p:sp>
      <p:sp>
        <p:nvSpPr>
          <p:cNvPr id="37" name="TextBox 36"/>
          <p:cNvSpPr txBox="1"/>
          <p:nvPr/>
        </p:nvSpPr>
        <p:spPr>
          <a:xfrm>
            <a:off x="660400" y="5765800"/>
            <a:ext cx="3302000" cy="431800"/>
          </a:xfrm>
          <a:prstGeom prst="rect">
            <a:avLst/>
          </a:prstGeom>
          <a:noFill/>
        </p:spPr>
        <p:txBody>
          <a:bodyPr wrap="square" lIns="0" rIns="0" tIns="0" bIns="0" anchor="t">
            <a:spAutoFit/>
          </a:bodyPr>
          <a:lstStyle/>
          <a:p>
            <a:pPr algn="l">
              <a:lnSpc>
                <a:spcPts val="1272"/>
              </a:lnSpc>
            </a:pPr>
            <a:r>
              <a:rPr sz="1060" b="0">
                <a:solidFill>
                  <a:srgbClr val="B4C2DE"/>
                </a:solidFill>
                <a:latin typeface="Arial"/>
              </a:rPr>
              <a:t>evidence-aware: absence is unverified, not failed</a:t>
            </a:r>
          </a:p>
        </p:txBody>
      </p:sp>
      <p:sp>
        <p:nvSpPr>
          <p:cNvPr id="38" name="Rounded Rectangle 37"/>
          <p:cNvSpPr/>
          <p:nvPr/>
        </p:nvSpPr>
        <p:spPr>
          <a:xfrm>
            <a:off x="4318000" y="5384800"/>
            <a:ext cx="3556000" cy="838200"/>
          </a:xfrm>
          <a:prstGeom prst="roundRect">
            <a:avLst>
              <a:gd name="adj" fmla="val 12121"/>
            </a:avLst>
          </a:prstGeom>
          <a:solidFill>
            <a:srgbClr val="0F62FE">
              <a:alpha val="15000"/>
            </a:srgbClr>
          </a:solidFill>
          <a:ln w="10160">
            <a:solidFill>
              <a:srgbClr val="4589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70400" y="5486400"/>
            <a:ext cx="3302000" cy="228600"/>
          </a:xfrm>
          <a:prstGeom prst="rect">
            <a:avLst/>
          </a:prstGeom>
          <a:noFill/>
        </p:spPr>
        <p:txBody>
          <a:bodyPr wrap="square" lIns="0" rIns="0" tIns="0" bIns="0" anchor="t">
            <a:spAutoFit/>
          </a:bodyPr>
          <a:lstStyle/>
          <a:p>
            <a:pPr algn="l">
              <a:lnSpc>
                <a:spcPts val="1525"/>
              </a:lnSpc>
            </a:pPr>
            <a:r>
              <a:rPr sz="1250" b="1">
                <a:solidFill>
                  <a:srgbClr val="FFFFFF"/>
                </a:solidFill>
                <a:latin typeface="Arial"/>
              </a:rPr>
              <a:t>vs LLM-only pipelines</a:t>
            </a:r>
          </a:p>
        </p:txBody>
      </p:sp>
      <p:sp>
        <p:nvSpPr>
          <p:cNvPr id="40" name="TextBox 39"/>
          <p:cNvSpPr txBox="1"/>
          <p:nvPr/>
        </p:nvSpPr>
        <p:spPr>
          <a:xfrm>
            <a:off x="4470400" y="5765800"/>
            <a:ext cx="3302000" cy="431800"/>
          </a:xfrm>
          <a:prstGeom prst="rect">
            <a:avLst/>
          </a:prstGeom>
          <a:noFill/>
        </p:spPr>
        <p:txBody>
          <a:bodyPr wrap="square" lIns="0" rIns="0" tIns="0" bIns="0" anchor="t">
            <a:spAutoFit/>
          </a:bodyPr>
          <a:lstStyle/>
          <a:p>
            <a:pPr algn="l">
              <a:lnSpc>
                <a:spcPts val="1272"/>
              </a:lnSpc>
            </a:pPr>
            <a:r>
              <a:rPr sz="1060" b="0">
                <a:solidFill>
                  <a:srgbClr val="B4C2DE"/>
                </a:solidFill>
                <a:latin typeface="Arial"/>
              </a:rPr>
              <a:t>validated, grounded fields; deterministic states</a:t>
            </a:r>
          </a:p>
        </p:txBody>
      </p:sp>
      <p:sp>
        <p:nvSpPr>
          <p:cNvPr id="41" name="Rounded Rectangle 40"/>
          <p:cNvSpPr/>
          <p:nvPr/>
        </p:nvSpPr>
        <p:spPr>
          <a:xfrm>
            <a:off x="8128000" y="5384800"/>
            <a:ext cx="3556000" cy="838200"/>
          </a:xfrm>
          <a:prstGeom prst="roundRect">
            <a:avLst>
              <a:gd name="adj" fmla="val 12121"/>
            </a:avLst>
          </a:prstGeom>
          <a:solidFill>
            <a:srgbClr val="0F62FE">
              <a:alpha val="15000"/>
            </a:srgbClr>
          </a:solidFill>
          <a:ln w="10160">
            <a:solidFill>
              <a:srgbClr val="4589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80400" y="5486400"/>
            <a:ext cx="3302000" cy="228600"/>
          </a:xfrm>
          <a:prstGeom prst="rect">
            <a:avLst/>
          </a:prstGeom>
          <a:noFill/>
        </p:spPr>
        <p:txBody>
          <a:bodyPr wrap="square" lIns="0" rIns="0" tIns="0" bIns="0" anchor="t">
            <a:spAutoFit/>
          </a:bodyPr>
          <a:lstStyle/>
          <a:p>
            <a:pPr algn="l">
              <a:lnSpc>
                <a:spcPts val="1525"/>
              </a:lnSpc>
            </a:pPr>
            <a:r>
              <a:rPr sz="1250" b="1">
                <a:solidFill>
                  <a:srgbClr val="FFFFFF"/>
                </a:solidFill>
                <a:latin typeface="Arial"/>
              </a:rPr>
              <a:t>vs risk scores alone</a:t>
            </a:r>
          </a:p>
        </p:txBody>
      </p:sp>
      <p:sp>
        <p:nvSpPr>
          <p:cNvPr id="43" name="TextBox 42"/>
          <p:cNvSpPr txBox="1"/>
          <p:nvPr/>
        </p:nvSpPr>
        <p:spPr>
          <a:xfrm>
            <a:off x="8280400" y="5765800"/>
            <a:ext cx="3302000" cy="431800"/>
          </a:xfrm>
          <a:prstGeom prst="rect">
            <a:avLst/>
          </a:prstGeom>
          <a:noFill/>
        </p:spPr>
        <p:txBody>
          <a:bodyPr wrap="square" lIns="0" rIns="0" tIns="0" bIns="0" anchor="t">
            <a:spAutoFit/>
          </a:bodyPr>
          <a:lstStyle/>
          <a:p>
            <a:pPr algn="l">
              <a:lnSpc>
                <a:spcPts val="1272"/>
              </a:lnSpc>
            </a:pPr>
            <a:r>
              <a:rPr sz="1060" b="0">
                <a:solidFill>
                  <a:srgbClr val="B4C2DE"/>
                </a:solidFill>
                <a:latin typeface="Arial"/>
              </a:rPr>
              <a:t>dependency and time aware, with an audit trail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2000" cy="6858000"/>
          </a:xfrm>
          <a:prstGeom prst="rect">
            <a:avLst/>
          </a:prstGeom>
          <a:gradFill rotWithShape="1">
            <a:gsLst>
              <a:gs pos="0">
                <a:srgbClr val="060B17"/>
              </a:gs>
              <a:gs pos="100000">
                <a:srgbClr val="0E1C3A"/>
              </a:gs>
            </a:gsLst>
            <a:lin scaled="0" ang="18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71000" y="76200"/>
            <a:ext cx="2540000" cy="2540000"/>
          </a:xfrm>
          <a:prstGeom prst="ellipse">
            <a:avLst/>
          </a:prstGeom>
          <a:solidFill>
            <a:srgbClr val="0F62FE">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33000" y="457200"/>
            <a:ext cx="1397000" cy="1397000"/>
          </a:xfrm>
          <a:prstGeom prst="ellipse">
            <a:avLst/>
          </a:prstGeom>
          <a:solidFill>
            <a:srgbClr val="33B1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393700"/>
            <a:ext cx="50800" cy="165100"/>
          </a:xfrm>
          <a:prstGeom prst="rect">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368300"/>
            <a:ext cx="6375400" cy="228600"/>
          </a:xfrm>
          <a:prstGeom prst="rect">
            <a:avLst/>
          </a:prstGeom>
          <a:noFill/>
        </p:spPr>
        <p:txBody>
          <a:bodyPr wrap="square" lIns="0" rIns="0" tIns="0" bIns="0" anchor="t">
            <a:spAutoFit/>
          </a:bodyPr>
          <a:lstStyle/>
          <a:p>
            <a:pPr algn="l">
              <a:lnSpc>
                <a:spcPts val="1403"/>
              </a:lnSpc>
            </a:pPr>
            <a:r>
              <a:rPr sz="1150" b="1">
                <a:solidFill>
                  <a:srgbClr val="33B1FF"/>
                </a:solidFill>
                <a:latin typeface="Arial"/>
              </a:rPr>
              <a:t>CONCLUSION</a:t>
            </a:r>
          </a:p>
        </p:txBody>
      </p:sp>
      <p:sp>
        <p:nvSpPr>
          <p:cNvPr id="7" name="TextBox 6"/>
          <p:cNvSpPr txBox="1"/>
          <p:nvPr/>
        </p:nvSpPr>
        <p:spPr>
          <a:xfrm>
            <a:off x="508000" y="660400"/>
            <a:ext cx="11201400" cy="939800"/>
          </a:xfrm>
          <a:prstGeom prst="rect">
            <a:avLst/>
          </a:prstGeom>
          <a:noFill/>
        </p:spPr>
        <p:txBody>
          <a:bodyPr wrap="square" lIns="0" rIns="0" tIns="0" bIns="0" anchor="t">
            <a:spAutoFit/>
          </a:bodyPr>
          <a:lstStyle/>
          <a:p>
            <a:pPr algn="l">
              <a:lnSpc>
                <a:spcPts val="3944"/>
              </a:lnSpc>
            </a:pPr>
            <a:r>
              <a:rPr sz="3400" b="1">
                <a:solidFill>
                  <a:srgbClr val="FFFFFF"/>
                </a:solidFill>
                <a:latin typeface="Arial"/>
              </a:rPr>
              <a:t>No follow-up left behind</a:t>
            </a:r>
          </a:p>
        </p:txBody>
      </p:sp>
      <p:cxnSp>
        <p:nvCxnSpPr>
          <p:cNvPr id="8" name="Connector 7"/>
          <p:cNvCxnSpPr/>
          <p:nvPr/>
        </p:nvCxnSpPr>
        <p:spPr>
          <a:xfrm>
            <a:off x="508000" y="6451600"/>
            <a:ext cx="11176000" cy="0"/>
          </a:xfrm>
          <a:prstGeom prst="line">
            <a:avLst/>
          </a:prstGeom>
          <a:ln w="8890">
            <a:solidFill>
              <a:srgbClr val="2A4A86">
                <a:alpha val="70000"/>
              </a:srgbClr>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8000" y="6527800"/>
            <a:ext cx="6375400" cy="177800"/>
          </a:xfrm>
          <a:prstGeom prst="rect">
            <a:avLst/>
          </a:prstGeom>
          <a:noFill/>
        </p:spPr>
        <p:txBody>
          <a:bodyPr wrap="square" lIns="0" rIns="0" tIns="0" bIns="0" anchor="t">
            <a:spAutoFit/>
          </a:bodyPr>
          <a:lstStyle/>
          <a:p>
            <a:pPr algn="l">
              <a:lnSpc>
                <a:spcPts val="1037"/>
              </a:lnSpc>
            </a:pPr>
            <a:r>
              <a:rPr sz="850" b="0">
                <a:solidFill>
                  <a:srgbClr val="7C8FB5"/>
                </a:solidFill>
                <a:latin typeface="Arial"/>
              </a:rPr>
              <a:t>MedRelay  |  IBM Z Datathon 2026  |  synthetic data only, decision support for qualified human review</a:t>
            </a:r>
          </a:p>
        </p:txBody>
      </p:sp>
      <p:sp>
        <p:nvSpPr>
          <p:cNvPr id="10" name="TextBox 9"/>
          <p:cNvSpPr txBox="1"/>
          <p:nvPr/>
        </p:nvSpPr>
        <p:spPr>
          <a:xfrm>
            <a:off x="10668000" y="6527800"/>
            <a:ext cx="1041400" cy="177800"/>
          </a:xfrm>
          <a:prstGeom prst="rect">
            <a:avLst/>
          </a:prstGeom>
          <a:noFill/>
        </p:spPr>
        <p:txBody>
          <a:bodyPr wrap="square" lIns="0" rIns="0" tIns="0" bIns="0" anchor="t">
            <a:spAutoFit/>
          </a:bodyPr>
          <a:lstStyle/>
          <a:p>
            <a:pPr algn="r">
              <a:lnSpc>
                <a:spcPts val="1098"/>
              </a:lnSpc>
            </a:pPr>
            <a:r>
              <a:rPr sz="900" b="0">
                <a:solidFill>
                  <a:srgbClr val="7C8FB5"/>
                </a:solidFill>
                <a:latin typeface="Arial"/>
              </a:rPr>
              <a:t>10 / 10</a:t>
            </a:r>
          </a:p>
        </p:txBody>
      </p:sp>
      <p:sp>
        <p:nvSpPr>
          <p:cNvPr id="11" name="Rounded Rectangle 10"/>
          <p:cNvSpPr/>
          <p:nvPr/>
        </p:nvSpPr>
        <p:spPr>
          <a:xfrm>
            <a:off x="508000" y="1371600"/>
            <a:ext cx="3556000" cy="1803400"/>
          </a:xfrm>
          <a:prstGeom prst="roundRect">
            <a:avLst>
              <a:gd name="adj" fmla="val 6338"/>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1371600"/>
            <a:ext cx="558800" cy="38100"/>
          </a:xfrm>
          <a:prstGeom prst="roundRect">
            <a:avLst>
              <a:gd name="adj" fmla="val 50000"/>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1200" y="1524000"/>
            <a:ext cx="3200400" cy="558800"/>
          </a:xfrm>
          <a:prstGeom prst="rect">
            <a:avLst/>
          </a:prstGeom>
          <a:noFill/>
        </p:spPr>
        <p:txBody>
          <a:bodyPr wrap="square" lIns="0" rIns="0" tIns="0" bIns="0" anchor="t">
            <a:spAutoFit/>
          </a:bodyPr>
          <a:lstStyle/>
          <a:p>
            <a:pPr algn="l">
              <a:lnSpc>
                <a:spcPts val="3360"/>
              </a:lnSpc>
            </a:pPr>
            <a:r>
              <a:rPr sz="3200" b="1">
                <a:solidFill>
                  <a:srgbClr val="33B1FF"/>
                </a:solidFill>
                <a:latin typeface="Arial"/>
              </a:rPr>
              <a:t>0 / 716</a:t>
            </a:r>
          </a:p>
        </p:txBody>
      </p:sp>
      <p:sp>
        <p:nvSpPr>
          <p:cNvPr id="14" name="TextBox 13"/>
          <p:cNvSpPr txBox="1"/>
          <p:nvPr/>
        </p:nvSpPr>
        <p:spPr>
          <a:xfrm>
            <a:off x="711200" y="2032000"/>
            <a:ext cx="3200400" cy="203200"/>
          </a:xfrm>
          <a:prstGeom prst="rect">
            <a:avLst/>
          </a:prstGeom>
          <a:noFill/>
        </p:spPr>
        <p:txBody>
          <a:bodyPr wrap="square" lIns="0" rIns="0" tIns="0" bIns="0" anchor="t">
            <a:spAutoFit/>
          </a:bodyPr>
          <a:lstStyle/>
          <a:p>
            <a:pPr algn="l">
              <a:lnSpc>
                <a:spcPts val="1403"/>
              </a:lnSpc>
            </a:pPr>
            <a:r>
              <a:rPr sz="1150" b="1">
                <a:solidFill>
                  <a:srgbClr val="FFFFFF"/>
                </a:solidFill>
                <a:latin typeface="Arial"/>
              </a:rPr>
              <a:t>false failures</a:t>
            </a:r>
          </a:p>
        </p:txBody>
      </p:sp>
      <p:sp>
        <p:nvSpPr>
          <p:cNvPr id="15" name="TextBox 14"/>
          <p:cNvSpPr txBox="1"/>
          <p:nvPr/>
        </p:nvSpPr>
        <p:spPr>
          <a:xfrm>
            <a:off x="711200" y="2286000"/>
            <a:ext cx="3225800" cy="863600"/>
          </a:xfrm>
          <a:prstGeom prst="rect">
            <a:avLst/>
          </a:prstGeom>
          <a:noFill/>
        </p:spPr>
        <p:txBody>
          <a:bodyPr wrap="square" lIns="0" rIns="0" tIns="0" bIns="0" anchor="t">
            <a:spAutoFit/>
          </a:bodyPr>
          <a:lstStyle/>
          <a:p>
            <a:pPr algn="l">
              <a:lnSpc>
                <a:spcPts val="1339"/>
              </a:lnSpc>
            </a:pPr>
            <a:r>
              <a:rPr sz="1080" b="0">
                <a:solidFill>
                  <a:srgbClr val="B4C2DE"/>
                </a:solidFill>
                <a:latin typeface="Arial"/>
              </a:rPr>
              <a:t>Evidence-aware states never call undocumented work “failed”; the naive rule did, every time.</a:t>
            </a:r>
          </a:p>
        </p:txBody>
      </p:sp>
      <p:sp>
        <p:nvSpPr>
          <p:cNvPr id="16" name="Rounded Rectangle 15"/>
          <p:cNvSpPr/>
          <p:nvPr/>
        </p:nvSpPr>
        <p:spPr>
          <a:xfrm>
            <a:off x="4318000" y="1371600"/>
            <a:ext cx="3556000" cy="1803400"/>
          </a:xfrm>
          <a:prstGeom prst="roundRect">
            <a:avLst>
              <a:gd name="adj" fmla="val 6338"/>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95800" y="1371600"/>
            <a:ext cx="558800" cy="38100"/>
          </a:xfrm>
          <a:prstGeom prst="roundRect">
            <a:avLst>
              <a:gd name="adj" fmla="val 50000"/>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1200" y="1524000"/>
            <a:ext cx="3200400" cy="558800"/>
          </a:xfrm>
          <a:prstGeom prst="rect">
            <a:avLst/>
          </a:prstGeom>
          <a:noFill/>
        </p:spPr>
        <p:txBody>
          <a:bodyPr wrap="square" lIns="0" rIns="0" tIns="0" bIns="0" anchor="t">
            <a:spAutoFit/>
          </a:bodyPr>
          <a:lstStyle/>
          <a:p>
            <a:pPr algn="l">
              <a:lnSpc>
                <a:spcPts val="3360"/>
              </a:lnSpc>
            </a:pPr>
            <a:r>
              <a:rPr sz="3200" b="1">
                <a:solidFill>
                  <a:srgbClr val="33B1FF"/>
                </a:solidFill>
                <a:latin typeface="Arial"/>
              </a:rPr>
              <a:t>11.3%</a:t>
            </a:r>
          </a:p>
        </p:txBody>
      </p:sp>
      <p:sp>
        <p:nvSpPr>
          <p:cNvPr id="19" name="TextBox 18"/>
          <p:cNvSpPr txBox="1"/>
          <p:nvPr/>
        </p:nvSpPr>
        <p:spPr>
          <a:xfrm>
            <a:off x="4521200" y="2032000"/>
            <a:ext cx="3200400" cy="203200"/>
          </a:xfrm>
          <a:prstGeom prst="rect">
            <a:avLst/>
          </a:prstGeom>
          <a:noFill/>
        </p:spPr>
        <p:txBody>
          <a:bodyPr wrap="square" lIns="0" rIns="0" tIns="0" bIns="0" anchor="t">
            <a:spAutoFit/>
          </a:bodyPr>
          <a:lstStyle/>
          <a:p>
            <a:pPr algn="l">
              <a:lnSpc>
                <a:spcPts val="1403"/>
              </a:lnSpc>
            </a:pPr>
            <a:r>
              <a:rPr sz="1150" b="1">
                <a:solidFill>
                  <a:srgbClr val="FFFFFF"/>
                </a:solidFill>
                <a:latin typeface="Arial"/>
              </a:rPr>
              <a:t>false-alert rate</a:t>
            </a:r>
          </a:p>
        </p:txBody>
      </p:sp>
      <p:sp>
        <p:nvSpPr>
          <p:cNvPr id="20" name="TextBox 19"/>
          <p:cNvSpPr txBox="1"/>
          <p:nvPr/>
        </p:nvSpPr>
        <p:spPr>
          <a:xfrm>
            <a:off x="4521200" y="2286000"/>
            <a:ext cx="3225800" cy="863600"/>
          </a:xfrm>
          <a:prstGeom prst="rect">
            <a:avLst/>
          </a:prstGeom>
          <a:noFill/>
        </p:spPr>
        <p:txBody>
          <a:bodyPr wrap="square" lIns="0" rIns="0" tIns="0" bIns="0" anchor="t">
            <a:spAutoFit/>
          </a:bodyPr>
          <a:lstStyle/>
          <a:p>
            <a:pPr algn="l">
              <a:lnSpc>
                <a:spcPts val="1339"/>
              </a:lnSpc>
            </a:pPr>
            <a:r>
              <a:rPr sz="1080" b="0">
                <a:solidFill>
                  <a:srgbClr val="B4C2DE"/>
                </a:solidFill>
                <a:latin typeface="Arial"/>
              </a:rPr>
              <a:t>Graph forecasting warns 72 h ahead with fewer false alerts than a deadline-only rule (18.8%).</a:t>
            </a:r>
          </a:p>
        </p:txBody>
      </p:sp>
      <p:sp>
        <p:nvSpPr>
          <p:cNvPr id="21" name="Rounded Rectangle 20"/>
          <p:cNvSpPr/>
          <p:nvPr/>
        </p:nvSpPr>
        <p:spPr>
          <a:xfrm>
            <a:off x="8128000" y="1371600"/>
            <a:ext cx="3556000" cy="1803400"/>
          </a:xfrm>
          <a:prstGeom prst="roundRect">
            <a:avLst>
              <a:gd name="adj" fmla="val 6338"/>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05800" y="1371600"/>
            <a:ext cx="558800" cy="38100"/>
          </a:xfrm>
          <a:prstGeom prst="roundRect">
            <a:avLst>
              <a:gd name="adj" fmla="val 50000"/>
            </a:avLst>
          </a:prstGeom>
          <a:solidFill>
            <a:srgbClr val="33B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1200" y="1524000"/>
            <a:ext cx="3200400" cy="558800"/>
          </a:xfrm>
          <a:prstGeom prst="rect">
            <a:avLst/>
          </a:prstGeom>
          <a:noFill/>
        </p:spPr>
        <p:txBody>
          <a:bodyPr wrap="square" lIns="0" rIns="0" tIns="0" bIns="0" anchor="t">
            <a:spAutoFit/>
          </a:bodyPr>
          <a:lstStyle/>
          <a:p>
            <a:pPr algn="l">
              <a:lnSpc>
                <a:spcPts val="3360"/>
              </a:lnSpc>
            </a:pPr>
            <a:r>
              <a:rPr sz="3200" b="1">
                <a:solidFill>
                  <a:srgbClr val="33B1FF"/>
                </a:solidFill>
                <a:latin typeface="Arial"/>
              </a:rPr>
              <a:t>s390x</a:t>
            </a:r>
          </a:p>
        </p:txBody>
      </p:sp>
      <p:sp>
        <p:nvSpPr>
          <p:cNvPr id="24" name="TextBox 23"/>
          <p:cNvSpPr txBox="1"/>
          <p:nvPr/>
        </p:nvSpPr>
        <p:spPr>
          <a:xfrm>
            <a:off x="8331200" y="2032000"/>
            <a:ext cx="3200400" cy="203200"/>
          </a:xfrm>
          <a:prstGeom prst="rect">
            <a:avLst/>
          </a:prstGeom>
          <a:noFill/>
        </p:spPr>
        <p:txBody>
          <a:bodyPr wrap="square" lIns="0" rIns="0" tIns="0" bIns="0" anchor="t">
            <a:spAutoFit/>
          </a:bodyPr>
          <a:lstStyle/>
          <a:p>
            <a:pPr algn="l">
              <a:lnSpc>
                <a:spcPts val="1403"/>
              </a:lnSpc>
            </a:pPr>
            <a:r>
              <a:rPr sz="1150" b="1">
                <a:solidFill>
                  <a:srgbClr val="FFFFFF"/>
                </a:solidFill>
                <a:latin typeface="Arial"/>
              </a:rPr>
              <a:t>end to end</a:t>
            </a:r>
          </a:p>
        </p:txBody>
      </p:sp>
      <p:sp>
        <p:nvSpPr>
          <p:cNvPr id="25" name="TextBox 24"/>
          <p:cNvSpPr txBox="1"/>
          <p:nvPr/>
        </p:nvSpPr>
        <p:spPr>
          <a:xfrm>
            <a:off x="8331200" y="2286000"/>
            <a:ext cx="3225800" cy="863600"/>
          </a:xfrm>
          <a:prstGeom prst="rect">
            <a:avLst/>
          </a:prstGeom>
          <a:noFill/>
        </p:spPr>
        <p:txBody>
          <a:bodyPr wrap="square" lIns="0" rIns="0" tIns="0" bIns="0" anchor="t">
            <a:spAutoFit/>
          </a:bodyPr>
          <a:lstStyle/>
          <a:p>
            <a:pPr algn="l">
              <a:lnSpc>
                <a:spcPts val="1339"/>
              </a:lnSpc>
            </a:pPr>
            <a:r>
              <a:rPr sz="1080" b="0">
                <a:solidFill>
                  <a:srgbClr val="B4C2DE"/>
                </a:solidFill>
                <a:latin typeface="Arial"/>
              </a:rPr>
              <a:t>Local Granite LLM, streaming engine and ML, plus a verified NNPA device test, all on one LinuxONE VM.</a:t>
            </a:r>
          </a:p>
        </p:txBody>
      </p:sp>
      <p:sp>
        <p:nvSpPr>
          <p:cNvPr id="26" name="Rounded Rectangle 25"/>
          <p:cNvSpPr/>
          <p:nvPr/>
        </p:nvSpPr>
        <p:spPr>
          <a:xfrm>
            <a:off x="508000" y="3327400"/>
            <a:ext cx="5461000" cy="1778000"/>
          </a:xfrm>
          <a:prstGeom prst="roundRect">
            <a:avLst>
              <a:gd name="adj" fmla="val 6428"/>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200" y="3454400"/>
            <a:ext cx="5105400" cy="177800"/>
          </a:xfrm>
          <a:prstGeom prst="rect">
            <a:avLst/>
          </a:prstGeom>
          <a:noFill/>
        </p:spPr>
        <p:txBody>
          <a:bodyPr wrap="square" lIns="0" rIns="0" tIns="0" bIns="0" anchor="t">
            <a:spAutoFit/>
          </a:bodyPr>
          <a:lstStyle/>
          <a:p>
            <a:pPr algn="l">
              <a:lnSpc>
                <a:spcPts val="1220"/>
              </a:lnSpc>
            </a:pPr>
            <a:r>
              <a:rPr sz="1000" b="1">
                <a:solidFill>
                  <a:srgbClr val="33B1FF"/>
                </a:solidFill>
                <a:latin typeface="Arial"/>
              </a:rPr>
              <a:t>WHY LINUXONE MATTERS HERE</a:t>
            </a:r>
          </a:p>
        </p:txBody>
      </p:sp>
      <p:sp>
        <p:nvSpPr>
          <p:cNvPr id="28" name="TextBox 27"/>
          <p:cNvSpPr txBox="1"/>
          <p:nvPr/>
        </p:nvSpPr>
        <p:spPr>
          <a:xfrm>
            <a:off x="711200" y="3708400"/>
            <a:ext cx="5156200" cy="1371600"/>
          </a:xfrm>
          <a:prstGeom prst="rect">
            <a:avLst/>
          </a:prstGeom>
          <a:noFill/>
        </p:spPr>
        <p:txBody>
          <a:bodyPr wrap="square" lIns="0" rIns="0" tIns="0" bIns="0" anchor="t">
            <a:spAutoFit/>
          </a:bodyPr>
          <a:lstStyle/>
          <a:p>
            <a:pPr algn="l">
              <a:lnSpc>
                <a:spcPts val="1364"/>
              </a:lnSpc>
              <a:spcAft>
                <a:spcPts val="400"/>
              </a:spcAft>
            </a:pPr>
            <a:r>
              <a:rPr sz="1100" b="0">
                <a:solidFill>
                  <a:srgbClr val="B4C2DE"/>
                </a:solidFill>
                <a:latin typeface="Arial"/>
              </a:rPr>
              <a:t>Sensitive notes are processed by a local model on the server that holds the data.</a:t>
            </a:r>
          </a:p>
          <a:p>
            <a:pPr algn="l">
              <a:lnSpc>
                <a:spcPts val="1364"/>
              </a:lnSpc>
              <a:spcAft>
                <a:spcPts val="400"/>
              </a:spcAft>
            </a:pPr>
            <a:r>
              <a:rPr sz="1100" b="0">
                <a:solidFill>
                  <a:srgbClr val="B4C2DE"/>
                </a:solidFill>
                <a:latin typeface="Arial"/>
              </a:rPr>
              <a:t>The same VM runs extraction, graph, ML and the stream engine, with recoverable state.</a:t>
            </a:r>
          </a:p>
          <a:p>
            <a:pPr algn="l">
              <a:lnSpc>
                <a:spcPts val="1364"/>
              </a:lnSpc>
            </a:pPr>
            <a:r>
              <a:rPr sz="1100" b="0">
                <a:solidFill>
                  <a:srgbClr val="B4C2DE"/>
                </a:solidFill>
                <a:latin typeface="Arial"/>
              </a:rPr>
              <a:t>NNPA execution is verified, a path for future neural models.</a:t>
            </a:r>
          </a:p>
        </p:txBody>
      </p:sp>
      <p:sp>
        <p:nvSpPr>
          <p:cNvPr id="29" name="Rounded Rectangle 28"/>
          <p:cNvSpPr/>
          <p:nvPr/>
        </p:nvSpPr>
        <p:spPr>
          <a:xfrm>
            <a:off x="6223000" y="3327400"/>
            <a:ext cx="5461000" cy="1778000"/>
          </a:xfrm>
          <a:prstGeom prst="roundRect">
            <a:avLst>
              <a:gd name="adj" fmla="val 6428"/>
            </a:avLst>
          </a:prstGeom>
          <a:solidFill>
            <a:srgbClr val="10203F">
              <a:alpha val="95000"/>
            </a:srgbClr>
          </a:solidFill>
          <a:ln w="10160">
            <a:solidFill>
              <a:srgbClr val="2A4A86">
                <a:alpha val="7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6200" y="3454400"/>
            <a:ext cx="5105400" cy="177800"/>
          </a:xfrm>
          <a:prstGeom prst="rect">
            <a:avLst/>
          </a:prstGeom>
          <a:noFill/>
        </p:spPr>
        <p:txBody>
          <a:bodyPr wrap="square" lIns="0" rIns="0" tIns="0" bIns="0" anchor="t">
            <a:spAutoFit/>
          </a:bodyPr>
          <a:lstStyle/>
          <a:p>
            <a:pPr algn="l">
              <a:lnSpc>
                <a:spcPts val="1220"/>
              </a:lnSpc>
            </a:pPr>
            <a:r>
              <a:rPr sz="1000" b="1">
                <a:solidFill>
                  <a:srgbClr val="F1C21B"/>
                </a:solidFill>
                <a:latin typeface="Arial"/>
              </a:rPr>
              <a:t>NEXT STEPS</a:t>
            </a:r>
          </a:p>
        </p:txBody>
      </p:sp>
      <p:sp>
        <p:nvSpPr>
          <p:cNvPr id="31" name="TextBox 30"/>
          <p:cNvSpPr txBox="1"/>
          <p:nvPr/>
        </p:nvSpPr>
        <p:spPr>
          <a:xfrm>
            <a:off x="6426200" y="3708400"/>
            <a:ext cx="5156200" cy="1371600"/>
          </a:xfrm>
          <a:prstGeom prst="rect">
            <a:avLst/>
          </a:prstGeom>
          <a:noFill/>
        </p:spPr>
        <p:txBody>
          <a:bodyPr wrap="square" lIns="0" rIns="0" tIns="0" bIns="0" anchor="t">
            <a:spAutoFit/>
          </a:bodyPr>
          <a:lstStyle/>
          <a:p>
            <a:pPr algn="l">
              <a:lnSpc>
                <a:spcPts val="1364"/>
              </a:lnSpc>
              <a:spcAft>
                <a:spcPts val="400"/>
              </a:spcAft>
            </a:pPr>
            <a:r>
              <a:rPr sz="1100" b="0">
                <a:solidFill>
                  <a:srgbClr val="B4C2DE"/>
                </a:solidFill>
                <a:latin typeface="Arial"/>
              </a:rPr>
              <a:t>Clinician-reviewed labels to replace weak and simulated ones.</a:t>
            </a:r>
          </a:p>
          <a:p>
            <a:pPr algn="l">
              <a:lnSpc>
                <a:spcPts val="1364"/>
              </a:lnSpc>
              <a:spcAft>
                <a:spcPts val="400"/>
              </a:spcAft>
            </a:pPr>
            <a:r>
              <a:rPr sz="1100" b="0">
                <a:solidFill>
                  <a:srgbClr val="B4C2DE"/>
                </a:solidFill>
                <a:latin typeface="Arial"/>
              </a:rPr>
              <a:t>Validate on de-identified real records under governance.</a:t>
            </a:r>
          </a:p>
          <a:p>
            <a:pPr algn="l">
              <a:lnSpc>
                <a:spcPts val="1364"/>
              </a:lnSpc>
            </a:pPr>
            <a:r>
              <a:rPr sz="1100" b="0">
                <a:solidFill>
                  <a:srgbClr val="B4C2DE"/>
                </a:solidFill>
                <a:latin typeface="Arial"/>
              </a:rPr>
              <a:t>Add neural components that can use the NNPA, and test at larger scale.</a:t>
            </a:r>
          </a:p>
        </p:txBody>
      </p:sp>
      <p:sp>
        <p:nvSpPr>
          <p:cNvPr id="32" name="TextBox 31"/>
          <p:cNvSpPr txBox="1"/>
          <p:nvPr/>
        </p:nvSpPr>
        <p:spPr>
          <a:xfrm>
            <a:off x="508000" y="5257800"/>
            <a:ext cx="11201400" cy="508000"/>
          </a:xfrm>
          <a:prstGeom prst="rect">
            <a:avLst/>
          </a:prstGeom>
          <a:noFill/>
        </p:spPr>
        <p:txBody>
          <a:bodyPr wrap="square" lIns="0" rIns="0" tIns="0" bIns="0" anchor="t">
            <a:spAutoFit/>
          </a:bodyPr>
          <a:lstStyle/>
          <a:p>
            <a:pPr algn="l">
              <a:lnSpc>
                <a:spcPts val="2640"/>
              </a:lnSpc>
            </a:pPr>
            <a:r>
              <a:rPr sz="2200" b="1">
                <a:solidFill>
                  <a:srgbClr val="33B1FF"/>
                </a:solidFill>
                <a:latin typeface="Arial"/>
              </a:rPr>
              <a:t>Detect. Decide. Respond.</a:t>
            </a:r>
            <a:r>
              <a:rPr sz="2200" b="1">
                <a:solidFill>
                  <a:srgbClr val="FFFFFF"/>
                </a:solidFill>
                <a:latin typeface="Arial"/>
              </a:rPr>
              <a:t>  And never mistake silence for failure.</a:t>
            </a:r>
          </a:p>
        </p:txBody>
      </p:sp>
      <p:sp>
        <p:nvSpPr>
          <p:cNvPr id="33" name="TextBox 32"/>
          <p:cNvSpPr txBox="1"/>
          <p:nvPr/>
        </p:nvSpPr>
        <p:spPr>
          <a:xfrm>
            <a:off x="508000" y="5753100"/>
            <a:ext cx="7137400" cy="203200"/>
          </a:xfrm>
          <a:prstGeom prst="rect">
            <a:avLst/>
          </a:prstGeom>
          <a:noFill/>
        </p:spPr>
        <p:txBody>
          <a:bodyPr wrap="square" lIns="0" rIns="0" tIns="0" bIns="0" anchor="t">
            <a:spAutoFit/>
          </a:bodyPr>
          <a:lstStyle/>
          <a:p>
            <a:pPr algn="l">
              <a:lnSpc>
                <a:spcPts val="1403"/>
              </a:lnSpc>
            </a:pPr>
            <a:r>
              <a:rPr sz="1150" b="1">
                <a:solidFill>
                  <a:srgbClr val="33B1FF"/>
                </a:solidFill>
                <a:latin typeface="Arial"/>
              </a:rPr>
              <a:t>Code and notebook: github.com/hamim-87/MedRelay</a:t>
            </a:r>
          </a:p>
        </p:txBody>
      </p:sp>
      <p:sp>
        <p:nvSpPr>
          <p:cNvPr id="34" name="TextBox 33"/>
          <p:cNvSpPr txBox="1"/>
          <p:nvPr/>
        </p:nvSpPr>
        <p:spPr>
          <a:xfrm>
            <a:off x="508000" y="5981700"/>
            <a:ext cx="11201400" cy="203200"/>
          </a:xfrm>
          <a:prstGeom prst="rect">
            <a:avLst/>
          </a:prstGeom>
          <a:noFill/>
        </p:spPr>
        <p:txBody>
          <a:bodyPr wrap="square" lIns="0" rIns="0" tIns="0" bIns="0" anchor="t">
            <a:spAutoFit/>
          </a:bodyPr>
          <a:lstStyle/>
          <a:p>
            <a:pPr algn="l">
              <a:lnSpc>
                <a:spcPts val="1342"/>
              </a:lnSpc>
            </a:pPr>
            <a:r>
              <a:rPr sz="1100" b="1">
                <a:solidFill>
                  <a:srgbClr val="FFFFFF"/>
                </a:solidFill>
                <a:latin typeface="Arial"/>
              </a:rPr>
              <a:t>Team 4ier: Imdadul Hasan Hamim (Leader), Dibbo Chowdhury, Md Junaid Ahmmad, Siam Ahamed, Al Shahriar Alif</a:t>
            </a:r>
          </a:p>
        </p:txBody>
      </p:sp>
      <p:sp>
        <p:nvSpPr>
          <p:cNvPr id="35" name="TextBox 34"/>
          <p:cNvSpPr txBox="1"/>
          <p:nvPr/>
        </p:nvSpPr>
        <p:spPr>
          <a:xfrm>
            <a:off x="508000" y="6197600"/>
            <a:ext cx="11201400" cy="177800"/>
          </a:xfrm>
          <a:prstGeom prst="rect">
            <a:avLst/>
          </a:prstGeom>
          <a:noFill/>
        </p:spPr>
        <p:txBody>
          <a:bodyPr wrap="square" lIns="0" rIns="0" tIns="0" bIns="0" anchor="t">
            <a:spAutoFit/>
          </a:bodyPr>
          <a:lstStyle/>
          <a:p>
            <a:pPr algn="l">
              <a:lnSpc>
                <a:spcPts val="1159"/>
              </a:lnSpc>
            </a:pPr>
            <a:r>
              <a:rPr sz="950" b="0">
                <a:solidFill>
                  <a:srgbClr val="7C8FB5"/>
                </a:solidFill>
                <a:latin typeface="Arial"/>
              </a:rPr>
              <a:t>Prototype on synthetic data. Alerts are decision support for qualified human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